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0" r:id="rId22"/>
    <p:sldId id="281" r:id="rId23"/>
    <p:sldId id="282" r:id="rId24"/>
  </p:sldIdLst>
  <p:sldSz cx="9144000" cy="5143500" type="screen16x9"/>
  <p:notesSz cx="6858000" cy="9144000"/>
  <p:embeddedFontLst>
    <p:embeddedFont>
      <p:font typeface="Catamaran" panose="020B0604020202020204" charset="0"/>
      <p:regular r:id="rId26"/>
      <p:bold r:id="rId27"/>
    </p:embeddedFont>
    <p:embeddedFont>
      <p:font typeface="Quicksand" panose="020B0604020202020204" charset="0"/>
      <p:regular r:id="rId28"/>
      <p:bold r:id="rId29"/>
    </p:embeddedFont>
    <p:embeddedFont>
      <p:font typeface="Sarabun" panose="020B0604020202020204" charset="-34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25495ab6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25495ab6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5846792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25846792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258467928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258467928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258467928e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258467928e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258467928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258467928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58467928e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258467928e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26335a02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26335a02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3a7e32d8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3a7e32d8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3a7e32d88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3a7e32d88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258467928e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258467928e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58467928e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258467928e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25527f9ab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25527f9ab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225527f9ab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225527f9ab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258467928e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258467928e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258467928e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258467928e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258467928e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258467928e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258467928e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258467928e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225527f9a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225527f9a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25527f9ab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25527f9ab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225527f9ab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225527f9ab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258467928e_1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258467928e_1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258467928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258467928e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Chapter 2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110746">
            <a:off x="7318964" y="3011321"/>
            <a:ext cx="1416273" cy="1841583"/>
          </a:xfrm>
          <a:prstGeom prst="rect">
            <a:avLst/>
          </a:prstGeom>
          <a:noFill/>
          <a:ln w="19050" cap="flat" cmpd="sng">
            <a:solidFill>
              <a:srgbClr val="1F426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Specification-based 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testing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741850" y="4629900"/>
            <a:ext cx="366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https://www.effective-software-testing.com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4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What are the top-3 keywords (max 2 terms each) that best sum up the content of the chapter?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What is Chapter 2 about?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91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Specification-based testing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Focus on the specification, not on the code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Breaking down the specification into parts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Analyze inputs and outputs, their domain, and how they can change the output of the program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Boundary testing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Between partitions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On and off points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Specification-based testing in practice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Iterative, not sequential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How far should we go?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Vary the inputs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Go for the simplest input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Pick reasonable inputs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Works at any level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6734488" y="2859875"/>
            <a:ext cx="1622700" cy="807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Reason about the output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688763" y="2859875"/>
            <a:ext cx="1622700" cy="807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Reason about domain-specific rules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2643038" y="2859875"/>
            <a:ext cx="1622700" cy="807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Reason about how they interact with each other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450" y="691150"/>
            <a:ext cx="5382425" cy="13080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6"/>
          <p:cNvCxnSpPr/>
          <p:nvPr/>
        </p:nvCxnSpPr>
        <p:spPr>
          <a:xfrm rot="10800000" flipH="1">
            <a:off x="3944400" y="1327125"/>
            <a:ext cx="712200" cy="1316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" name="Google Shape;78;p16"/>
          <p:cNvSpPr/>
          <p:nvPr/>
        </p:nvSpPr>
        <p:spPr>
          <a:xfrm>
            <a:off x="662675" y="2859875"/>
            <a:ext cx="1622700" cy="807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Reason about each input separately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cxnSp>
        <p:nvCxnSpPr>
          <p:cNvPr id="79" name="Google Shape;79;p16"/>
          <p:cNvCxnSpPr>
            <a:stCxn id="78" idx="3"/>
            <a:endCxn id="75" idx="1"/>
          </p:cNvCxnSpPr>
          <p:nvPr/>
        </p:nvCxnSpPr>
        <p:spPr>
          <a:xfrm>
            <a:off x="2285375" y="3263375"/>
            <a:ext cx="35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" name="Google Shape;80;p16"/>
          <p:cNvCxnSpPr>
            <a:endCxn id="74" idx="1"/>
          </p:cNvCxnSpPr>
          <p:nvPr/>
        </p:nvCxnSpPr>
        <p:spPr>
          <a:xfrm>
            <a:off x="4265763" y="3263375"/>
            <a:ext cx="423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" name="Google Shape;81;p16"/>
          <p:cNvCxnSpPr>
            <a:stCxn id="74" idx="3"/>
            <a:endCxn id="73" idx="1"/>
          </p:cNvCxnSpPr>
          <p:nvPr/>
        </p:nvCxnSpPr>
        <p:spPr>
          <a:xfrm>
            <a:off x="6311463" y="3263375"/>
            <a:ext cx="423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" name="Google Shape;82;p16"/>
          <p:cNvSpPr/>
          <p:nvPr/>
        </p:nvSpPr>
        <p:spPr>
          <a:xfrm rot="-5400000">
            <a:off x="4388425" y="-108550"/>
            <a:ext cx="284100" cy="8231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414775" y="4240175"/>
            <a:ext cx="823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All of it with the requirements in mind, of course!!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Let's practice!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147400" cy="38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Method: intersection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51435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This method </a:t>
            </a:r>
            <a:r>
              <a:rPr lang="en" b="1">
                <a:latin typeface="Sarabun"/>
                <a:ea typeface="Sarabun"/>
                <a:cs typeface="Sarabun"/>
                <a:sym typeface="Sarabun"/>
              </a:rPr>
              <a:t>returns</a:t>
            </a:r>
            <a:r>
              <a:rPr lang="en">
                <a:latin typeface="Sarabun"/>
                <a:ea typeface="Sarabun"/>
                <a:cs typeface="Sarabun"/>
                <a:sym typeface="Sarabun"/>
              </a:rPr>
              <a:t> a new list containing all elements that are contained in </a:t>
            </a:r>
            <a:r>
              <a:rPr lang="en" b="1">
                <a:latin typeface="Sarabun"/>
                <a:ea typeface="Sarabun"/>
                <a:cs typeface="Sarabun"/>
                <a:sym typeface="Sarabun"/>
              </a:rPr>
              <a:t>both</a:t>
            </a:r>
            <a:r>
              <a:rPr lang="en">
                <a:latin typeface="Sarabun"/>
                <a:ea typeface="Sarabun"/>
                <a:cs typeface="Sarabun"/>
                <a:sym typeface="Sarabun"/>
              </a:rPr>
              <a:t> given lists.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Inputs: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List1, a list of integers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List2, a list of integers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Outputs: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A new list.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5630675" y="3232250"/>
            <a:ext cx="3366600" cy="17670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arabun"/>
              <a:buChar char="●"/>
            </a:pPr>
            <a:r>
              <a:rPr lang="en" sz="1600">
                <a:latin typeface="Sarabun"/>
                <a:ea typeface="Sarabun"/>
                <a:cs typeface="Sarabun"/>
                <a:sym typeface="Sarabun"/>
              </a:rPr>
              <a:t>In groups of 3, identify the partitions.</a:t>
            </a:r>
            <a:endParaRPr sz="1600"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Sarabun"/>
              <a:buChar char="○"/>
            </a:pPr>
            <a:r>
              <a:rPr lang="en" sz="1200">
                <a:latin typeface="Sarabun"/>
                <a:ea typeface="Sarabun"/>
                <a:cs typeface="Sarabun"/>
                <a:sym typeface="Sarabun"/>
              </a:rPr>
              <a:t>Time: 5 minutes</a:t>
            </a:r>
            <a:endParaRPr sz="1200"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Sarabun"/>
              <a:buChar char="●"/>
            </a:pPr>
            <a:r>
              <a:rPr lang="en" sz="1600">
                <a:latin typeface="Sarabun"/>
                <a:ea typeface="Sarabun"/>
                <a:cs typeface="Sarabun"/>
                <a:sym typeface="Sarabun"/>
              </a:rPr>
              <a:t>Afterwards, we will collect all partitions.</a:t>
            </a:r>
            <a:endParaRPr sz="1200"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One possible way to reason about it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First, each input in isolation: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List1 and List2 are both lists. A few straightforward test cases: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■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Null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■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0 elements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■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1 element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■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Multiple elements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The requirements don't mention any specific constraints (e.g., max size of the list, range of the numbers in the list, etc), so we continue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How inputs interact: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The requirement is all about items in both sets, therefore: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■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List1 and List2 have elements in common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1 element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182880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More than 1 element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■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List1 and List2 don't have elements in common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424"/>
            <a:ext cx="7125673" cy="365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4876" y="3636026"/>
            <a:ext cx="5633823" cy="150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213575" y="4647950"/>
            <a:ext cx="286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From Kaner et al. "Domain testing workbook"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800" y="1547175"/>
            <a:ext cx="2824050" cy="28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5143475" y="1762325"/>
            <a:ext cx="23721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Bugs tend to happen on the boundaries!</a:t>
            </a:r>
            <a:endParaRPr sz="25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2418050" y="2259250"/>
            <a:ext cx="2725389" cy="727511"/>
          </a:xfrm>
          <a:custGeom>
            <a:avLst/>
            <a:gdLst/>
            <a:ahLst/>
            <a:cxnLst/>
            <a:rect l="l" t="t" r="r" b="b"/>
            <a:pathLst>
              <a:path w="84837" h="32377" extrusionOk="0">
                <a:moveTo>
                  <a:pt x="84837" y="0"/>
                </a:moveTo>
                <a:cubicBezTo>
                  <a:pt x="82344" y="786"/>
                  <a:pt x="72884" y="1673"/>
                  <a:pt x="69878" y="4713"/>
                </a:cubicBezTo>
                <a:cubicBezTo>
                  <a:pt x="66873" y="7753"/>
                  <a:pt x="78450" y="13627"/>
                  <a:pt x="66804" y="18238"/>
                </a:cubicBezTo>
                <a:cubicBezTo>
                  <a:pt x="55158" y="22849"/>
                  <a:pt x="11134" y="30021"/>
                  <a:pt x="0" y="32377"/>
                </a:cubicBez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Google Shape;125;p22"/>
          <p:cNvSpPr txBox="1"/>
          <p:nvPr/>
        </p:nvSpPr>
        <p:spPr>
          <a:xfrm>
            <a:off x="6542750" y="4774200"/>
            <a:ext cx="253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Effective Software Testing, chapter 2</a:t>
            </a:r>
            <a:endParaRPr sz="12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</a:t>
            </a:r>
            <a:endParaRPr/>
          </a:p>
        </p:txBody>
      </p:sp>
      <p:sp>
        <p:nvSpPr>
          <p:cNvPr id="131" name="Google Shape;131;p23"/>
          <p:cNvSpPr txBox="1"/>
          <p:nvPr/>
        </p:nvSpPr>
        <p:spPr>
          <a:xfrm>
            <a:off x="691600" y="1454925"/>
            <a:ext cx="3084000" cy="1908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98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Quicksand"/>
                <a:ea typeface="Quicksand"/>
                <a:cs typeface="Quicksand"/>
                <a:sym typeface="Quicksand"/>
              </a:rPr>
              <a:t>n = random(); // [0,10]</a:t>
            </a:r>
            <a:endParaRPr sz="16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Quicksand"/>
                <a:ea typeface="Quicksand"/>
                <a:cs typeface="Quicksand"/>
                <a:sym typeface="Quicksand"/>
              </a:rPr>
              <a:t>if n &gt; 5 eat </a:t>
            </a:r>
            <a:endParaRPr sz="16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Quicksand"/>
                <a:ea typeface="Quicksand"/>
                <a:cs typeface="Quicksand"/>
                <a:sym typeface="Quicksand"/>
              </a:rPr>
              <a:t>else eat </a:t>
            </a:r>
            <a:endParaRPr sz="16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725" y="2571750"/>
            <a:ext cx="728824" cy="62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5353550" y="1644475"/>
            <a:ext cx="89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n = 4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4225" y="1578937"/>
            <a:ext cx="728824" cy="62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5353550" y="2529475"/>
            <a:ext cx="89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n = 5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4225" y="2463937"/>
            <a:ext cx="728824" cy="62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5353550" y="3429075"/>
            <a:ext cx="891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n = 6</a:t>
            </a:r>
            <a:endParaRPr sz="2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4225" y="3492125"/>
            <a:ext cx="728825" cy="547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9188" y="1887325"/>
            <a:ext cx="728825" cy="5478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23"/>
          <p:cNvCxnSpPr/>
          <p:nvPr/>
        </p:nvCxnSpPr>
        <p:spPr>
          <a:xfrm>
            <a:off x="4677300" y="3258225"/>
            <a:ext cx="34887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lgDashDot"/>
            <a:round/>
            <a:headEnd type="none" w="med" len="med"/>
            <a:tailEnd type="none" w="med" len="med"/>
          </a:ln>
        </p:spPr>
      </p:cxnSp>
      <p:sp>
        <p:nvSpPr>
          <p:cNvPr id="141" name="Google Shape;141;p23"/>
          <p:cNvSpPr txBox="1"/>
          <p:nvPr/>
        </p:nvSpPr>
        <p:spPr>
          <a:xfrm>
            <a:off x="7699875" y="2720300"/>
            <a:ext cx="922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Catamaran"/>
                <a:ea typeface="Catamaran"/>
                <a:cs typeface="Catamaran"/>
                <a:sym typeface="Catamaran"/>
              </a:rPr>
              <a:t>boundary</a:t>
            </a:r>
            <a:endParaRPr>
              <a:solidFill>
                <a:srgbClr val="38761D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2577600" y="4822925"/>
            <a:ext cx="679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Jeng, B., &amp; Weyuker, E. J. (1994). A simplified domain-testing strategy. </a:t>
            </a:r>
            <a:r>
              <a:rPr lang="en" sz="800" i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ACM Transactions on Software Engineering and Methodology (TOSEM)</a:t>
            </a:r>
            <a:r>
              <a:rPr lang="en" sz="8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</a:t>
            </a:r>
            <a:r>
              <a:rPr lang="en" sz="800" i="1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3</a:t>
            </a:r>
            <a:r>
              <a:rPr lang="en" sz="8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(3), 254-270.</a:t>
            </a:r>
            <a:endParaRPr sz="8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870275" y="3921675"/>
            <a:ext cx="348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93C47D"/>
                </a:solidFill>
                <a:latin typeface="Catamaran"/>
                <a:ea typeface="Catamaran"/>
                <a:cs typeface="Catamaran"/>
                <a:sym typeface="Catamaran"/>
              </a:rPr>
              <a:t>This is what you should test!</a:t>
            </a:r>
            <a:endParaRPr sz="2200">
              <a:solidFill>
                <a:srgbClr val="93C47D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144" name="Google Shape;144;p23"/>
          <p:cNvSpPr/>
          <p:nvPr/>
        </p:nvSpPr>
        <p:spPr>
          <a:xfrm rot="588650">
            <a:off x="4197549" y="3363524"/>
            <a:ext cx="326583" cy="757194"/>
          </a:xfrm>
          <a:custGeom>
            <a:avLst/>
            <a:gdLst/>
            <a:ahLst/>
            <a:cxnLst/>
            <a:rect l="l" t="t" r="r" b="b"/>
            <a:pathLst>
              <a:path w="13063" h="30287" extrusionOk="0">
                <a:moveTo>
                  <a:pt x="6507" y="30287"/>
                </a:moveTo>
                <a:cubicBezTo>
                  <a:pt x="7493" y="29707"/>
                  <a:pt x="11613" y="28720"/>
                  <a:pt x="12425" y="26805"/>
                </a:cubicBezTo>
                <a:cubicBezTo>
                  <a:pt x="13237" y="24890"/>
                  <a:pt x="13354" y="21003"/>
                  <a:pt x="11381" y="18798"/>
                </a:cubicBezTo>
                <a:cubicBezTo>
                  <a:pt x="9408" y="16593"/>
                  <a:pt x="2098" y="15956"/>
                  <a:pt x="589" y="13577"/>
                </a:cubicBezTo>
                <a:cubicBezTo>
                  <a:pt x="-919" y="11198"/>
                  <a:pt x="880" y="6788"/>
                  <a:pt x="2330" y="4525"/>
                </a:cubicBezTo>
                <a:cubicBezTo>
                  <a:pt x="3781" y="2262"/>
                  <a:pt x="8132" y="754"/>
                  <a:pt x="9292" y="0"/>
                </a:cubicBezTo>
              </a:path>
            </a:pathLst>
          </a:custGeom>
          <a:noFill/>
          <a:ln w="28575" cap="flat" cmpd="sng">
            <a:solidFill>
              <a:srgbClr val="D9EAD3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question 1</a:t>
            </a:r>
            <a:endParaRPr/>
          </a:p>
        </p:txBody>
      </p:sp>
      <p:sp>
        <p:nvSpPr>
          <p:cNvPr id="150" name="Google Shape;150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Condition: value &gt; 100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on and off points?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Time: 2 minutes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question 1</a:t>
            </a:r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Condition: value &gt; 100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on and off points?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On point = 100</a:t>
            </a:r>
            <a:r>
              <a:rPr lang="en"/>
              <a:t> (always the value in the condition)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on-point makes the condition </a:t>
            </a:r>
            <a:r>
              <a:rPr lang="en" b="1"/>
              <a:t>false</a:t>
            </a:r>
            <a:r>
              <a:rPr lang="en"/>
              <a:t> ((100 &gt; 100) == false), therefore the off-point should make the condition </a:t>
            </a:r>
            <a:r>
              <a:rPr lang="en" b="1"/>
              <a:t>true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Off point = 101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question 2</a:t>
            </a:r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Condition: value &gt;= 101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on and off points?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Time: 2 minutes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question 2</a:t>
            </a:r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Condition: value &gt;= 101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on and off points?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On point = 101</a:t>
            </a:r>
            <a:r>
              <a:rPr lang="en"/>
              <a:t> (always the value in the condition)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on-point makes the condition </a:t>
            </a:r>
            <a:r>
              <a:rPr lang="en" b="1"/>
              <a:t>true</a:t>
            </a:r>
            <a:r>
              <a:rPr lang="en"/>
              <a:t> ((101 &gt;= 101) == true), therefore the off-point should make the condition </a:t>
            </a:r>
            <a:r>
              <a:rPr lang="en" b="1"/>
              <a:t>false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Off point = 100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question 3</a:t>
            </a:r>
            <a:endParaRPr/>
          </a:p>
        </p:txBody>
      </p:sp>
      <p:sp>
        <p:nvSpPr>
          <p:cNvPr id="174" name="Google Shape;17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Condition: value == 100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on and off points?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Time: 2 minutes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question 3</a:t>
            </a:r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Condition: value == 100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on and off points?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On point = 100</a:t>
            </a:r>
            <a:r>
              <a:rPr lang="en"/>
              <a:t> (always the value in the condition)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on-point makes the condition true.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off-points!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Off point = 101 and 99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question 4</a:t>
            </a:r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Condition: value &gt; n + 1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on and off points?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Time: 2 minutes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question 4</a:t>
            </a:r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Condition: value &gt; n + 1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on and off points?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On point = n + 1</a:t>
            </a:r>
            <a:r>
              <a:rPr lang="en"/>
              <a:t> (always the value in the condition)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on-point makes the condition false (n + 1 &gt; n + 1 == false).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off-point should make the condition true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Off point = (n + 1) + 1</a:t>
            </a:r>
            <a:endParaRPr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 is an input parameter, then, you would pick any "n" and then "n+1".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floating-point numbers</a:t>
            </a:r>
            <a:endParaRPr/>
          </a:p>
        </p:txBody>
      </p:sp>
      <p:sp>
        <p:nvSpPr>
          <p:cNvPr id="198" name="Google Shape;198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Condition: value &lt;= 2.0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on and off points?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Time: 2 minutes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floating-point numbers</a:t>
            </a:r>
            <a:endParaRPr/>
          </a:p>
        </p:txBody>
      </p:sp>
      <p:sp>
        <p:nvSpPr>
          <p:cNvPr id="204" name="Google Shape;20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Condition: value &lt;= 2.0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on and off points?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floating-point precision errors.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depends on the context!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073" y="262325"/>
            <a:ext cx="4218924" cy="429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4"/>
          <p:cNvSpPr txBox="1">
            <a:spLocks noGrp="1"/>
          </p:cNvSpPr>
          <p:nvPr>
            <p:ph type="title"/>
          </p:nvPr>
        </p:nvSpPr>
        <p:spPr>
          <a:xfrm>
            <a:off x="311700" y="96875"/>
            <a:ext cx="66024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Boundary testing: floating-point numbers</a:t>
            </a:r>
            <a:endParaRPr/>
          </a:p>
        </p:txBody>
      </p:sp>
      <p:sp>
        <p:nvSpPr>
          <p:cNvPr id="211" name="Google Shape;211;p34"/>
          <p:cNvSpPr txBox="1">
            <a:spLocks noGrp="1"/>
          </p:cNvSpPr>
          <p:nvPr>
            <p:ph type="body" idx="1"/>
          </p:nvPr>
        </p:nvSpPr>
        <p:spPr>
          <a:xfrm>
            <a:off x="311700" y="1096150"/>
            <a:ext cx="4763400" cy="3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Example context from a programming course: </a:t>
            </a:r>
            <a:br>
              <a:rPr lang="en" sz="1700"/>
            </a:br>
            <a:r>
              <a:rPr lang="en" sz="1700"/>
              <a:t>“In this assignment, you will create a few classes representing 2D objects. They will have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contains</a:t>
            </a:r>
            <a:r>
              <a:rPr lang="en" sz="1700"/>
              <a:t> methods that indicate whether one shape completely contains another shape. If we say "A contains B", we mean that the shape B is completely contained within A. In other words, it means that B is inside A. (This includes the edges. So if A is a rectangle with its lower left at (0.0, 0.0) and B is a point at (0.0, 0.0), we consider A to contain B.)”</a:t>
            </a:r>
            <a:endParaRPr sz="2600"/>
          </a:p>
        </p:txBody>
      </p:sp>
      <p:sp>
        <p:nvSpPr>
          <p:cNvPr id="212" name="Google Shape;212;p34"/>
          <p:cNvSpPr txBox="1"/>
          <p:nvPr/>
        </p:nvSpPr>
        <p:spPr>
          <a:xfrm>
            <a:off x="5134125" y="4309675"/>
            <a:ext cx="387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Does the circle contain the rectangle?</a:t>
            </a:r>
            <a:endParaRPr sz="16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4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Time for Q&amp;A!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</p:txBody>
      </p:sp>
      <p:sp>
        <p:nvSpPr>
          <p:cNvPr id="240" name="Google Shape;24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The slides are licensed under CC-BY-NC-SA 2.0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arabun"/>
              <a:buChar char="○"/>
            </a:pPr>
            <a:r>
              <a:rPr lang="en" u="sng">
                <a:solidFill>
                  <a:schemeClr val="hlink"/>
                </a:solidFill>
                <a:latin typeface="Sarabun"/>
                <a:ea typeface="Sarabun"/>
                <a:cs typeface="Sarabun"/>
                <a:sym typeface="Sarabun"/>
                <a:hlinkClick r:id="rId3"/>
              </a:rPr>
              <a:t>https://creativecommons.org/licenses/by-nc-sa/4.0/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If you use this deck of slides in any way (as is or derived), please add a reference to the book and to its website (effective-software-testing.com)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The photos come from various artists in Unsplash.</a:t>
            </a:r>
            <a:endParaRPr>
              <a:latin typeface="Sarabun"/>
              <a:ea typeface="Sarabun"/>
              <a:cs typeface="Sarabun"/>
              <a:sym typeface="Sarabu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Sarabun"/>
              <a:buChar char="●"/>
            </a:pPr>
            <a:r>
              <a:rPr lang="en">
                <a:latin typeface="Sarabun"/>
                <a:ea typeface="Sarabun"/>
                <a:cs typeface="Sarabun"/>
                <a:sym typeface="Sarabun"/>
              </a:rPr>
              <a:t>The icons come from iconfinder.com.</a:t>
            </a:r>
            <a:endParaRPr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241" name="Google Shape;24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8175" y="4194300"/>
            <a:ext cx="2034474" cy="71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4D3D-8F72-A62D-1117-C45BBEFD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Lab-1 Submission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236FA-D52B-E3FC-7A5F-EC510E14E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Email the TA and CC me. Use the subject line:</a:t>
            </a:r>
            <a:br>
              <a:rPr lang="en-US" dirty="0"/>
            </a:br>
            <a:r>
              <a:rPr lang="en-US" i="1" dirty="0"/>
              <a:t>“LSU-CSC-4332-Lab-1 &lt;Your Name&gt; &lt;LSU ID&gt;”.</a:t>
            </a:r>
            <a:endParaRPr lang="en-US" dirty="0"/>
          </a:p>
          <a:p>
            <a:r>
              <a:rPr lang="en-US" b="1" dirty="0"/>
              <a:t>Attach</a:t>
            </a:r>
            <a:r>
              <a:rPr lang="en-US" dirty="0"/>
              <a:t> a screenshot of your IDE showing that the code ran successfully, and your </a:t>
            </a:r>
            <a:r>
              <a:rPr lang="en-US" dirty="0" err="1"/>
              <a:t>testfile</a:t>
            </a:r>
            <a:r>
              <a:rPr lang="en-US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4536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1035</Words>
  <Application>Microsoft Office PowerPoint</Application>
  <PresentationFormat>On-screen Show (16:9)</PresentationFormat>
  <Paragraphs>141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Catamaran</vt:lpstr>
      <vt:lpstr>Sarabun</vt:lpstr>
      <vt:lpstr>Courier New</vt:lpstr>
      <vt:lpstr>Quicksand</vt:lpstr>
      <vt:lpstr>Arial</vt:lpstr>
      <vt:lpstr>Simple Light</vt:lpstr>
      <vt:lpstr>Specification-based  testing</vt:lpstr>
      <vt:lpstr>What are the top-3 keywords (max 2 terms each) that best sum up the content of the chapter?</vt:lpstr>
      <vt:lpstr>What is Chapter 2 about?</vt:lpstr>
      <vt:lpstr>PowerPoint Presentation</vt:lpstr>
      <vt:lpstr>Let's practice!</vt:lpstr>
      <vt:lpstr>One possible way to reason about it</vt:lpstr>
      <vt:lpstr>PowerPoint Presentation</vt:lpstr>
      <vt:lpstr>Boundary testing</vt:lpstr>
      <vt:lpstr>Boundary testing</vt:lpstr>
      <vt:lpstr>Boundary testing: question 1</vt:lpstr>
      <vt:lpstr>Boundary testing: question 1</vt:lpstr>
      <vt:lpstr>Boundary testing: question 2</vt:lpstr>
      <vt:lpstr>Boundary testing: question 2</vt:lpstr>
      <vt:lpstr>Boundary testing: question 3</vt:lpstr>
      <vt:lpstr>Boundary testing: question 3</vt:lpstr>
      <vt:lpstr>Boundary testing: question 4</vt:lpstr>
      <vt:lpstr>Boundary testing: question 4</vt:lpstr>
      <vt:lpstr>Boundary testing: floating-point numbers</vt:lpstr>
      <vt:lpstr>Boundary testing: floating-point numbers</vt:lpstr>
      <vt:lpstr>Boundary testing: floating-point numbers</vt:lpstr>
      <vt:lpstr>Time for Q&amp;A!</vt:lpstr>
      <vt:lpstr>License</vt:lpstr>
      <vt:lpstr>Lab-1 Submission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Abdus Satter</cp:lastModifiedBy>
  <cp:revision>3</cp:revision>
  <dcterms:modified xsi:type="dcterms:W3CDTF">2026-01-20T02:01:23Z</dcterms:modified>
</cp:coreProperties>
</file>