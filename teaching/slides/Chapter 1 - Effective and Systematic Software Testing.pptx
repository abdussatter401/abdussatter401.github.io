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Sarabun" panose="020B0604020202020204" charset="-34"/>
      <p:regular r:id="rId19"/>
      <p:bold r:id="rId20"/>
      <p:italic r:id="rId21"/>
      <p:boldItalic r:id="rId22"/>
    </p:embeddedFont>
    <p:embeddedFont>
      <p:font typeface="Sarabun SemiBold" panose="020B0604020202020204" charset="-34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5352c7dd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5352c7dd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5352c7d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5352c7d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5352c7dd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5352c7dd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5352c7dd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5352c7dd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2548fe71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2548fe71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5352c7dd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25352c7dd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5352c7d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25352c7d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5352c7dd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5352c7dd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25352c7dd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25352c7dd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25352c7dd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25352c7dd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5352c7dd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5352c7dd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3a563d03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3a563d03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5352c7dd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25352c7dd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25352c7dd1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25352c7dd1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Effective and Systematic Software Testing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Chapter 1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10746">
            <a:off x="7318964" y="3011321"/>
            <a:ext cx="1416273" cy="1841583"/>
          </a:xfrm>
          <a:prstGeom prst="rect">
            <a:avLst/>
          </a:prstGeom>
          <a:noFill/>
          <a:ln w="19050" cap="flat" cmpd="sng">
            <a:solidFill>
              <a:srgbClr val="1F426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7" name="Google Shape;57;p13"/>
          <p:cNvSpPr txBox="1"/>
          <p:nvPr/>
        </p:nvSpPr>
        <p:spPr>
          <a:xfrm>
            <a:off x="2741850" y="4629900"/>
            <a:ext cx="366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https://www.effective-software-testing.com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are the top-3 keywords (max 2 terms each) that best sum up the content of the chapter?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is Chapter 1 about?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Effective and systematic testing vs gut feeling testing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John vs Eleanor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Testing principles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Exhaustive testing is impossible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Knowing when to stop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Variability is important (the pesticide paradox)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Bugs happen in some places more than others (defect clusters)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Testing will never be perfect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Context is king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Verification is not validation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Testing pyramid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Unit, integration, and system testing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testing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Gut-feeling tests: what characterizes John's behavior?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makes Eleanor's behavior more systematic?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Discuss in groups of 3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Our goal is to come up with one sentence that explains what gut feeling testing is, and another one explaining what systematic testing is.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You have 7 minutes.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5505275" y="461400"/>
            <a:ext cx="31353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arabun"/>
                <a:ea typeface="Sarabun"/>
                <a:cs typeface="Sarabun"/>
                <a:sym typeface="Sarabun"/>
              </a:rPr>
              <a:t>We observed 13 professional developers testing a piece of code.</a:t>
            </a:r>
            <a:endParaRPr sz="1700"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Sarabun"/>
              <a:buChar char="●"/>
            </a:pPr>
            <a:r>
              <a:rPr lang="en" sz="1700">
                <a:latin typeface="Sarabun"/>
                <a:ea typeface="Sarabun"/>
                <a:cs typeface="Sarabun"/>
                <a:sym typeface="Sarabun"/>
              </a:rPr>
              <a:t>Some developers are more driven by documentation, others by source code.</a:t>
            </a:r>
            <a:endParaRPr sz="1700"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Sarabun"/>
              <a:buChar char="●"/>
            </a:pPr>
            <a:r>
              <a:rPr lang="en" sz="1700">
                <a:latin typeface="Sarabun"/>
                <a:ea typeface="Sarabun"/>
                <a:cs typeface="Sarabun"/>
                <a:sym typeface="Sarabun"/>
              </a:rPr>
              <a:t>Only 1 developer was systematic in the way he tested the code. Others followed their gut feelings.</a:t>
            </a:r>
            <a:endParaRPr sz="1700"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7491">
            <a:off x="288750" y="425026"/>
            <a:ext cx="4680995" cy="4838701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1" name="Google Shape;81;p17"/>
          <p:cNvSpPr txBox="1"/>
          <p:nvPr/>
        </p:nvSpPr>
        <p:spPr>
          <a:xfrm>
            <a:off x="5699625" y="4294475"/>
            <a:ext cx="3135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980000"/>
                </a:solidFill>
                <a:latin typeface="Sarabun"/>
                <a:ea typeface="Sarabun"/>
                <a:cs typeface="Sarabun"/>
                <a:sym typeface="Sarabun"/>
              </a:rPr>
              <a:t>What do we learn from this?</a:t>
            </a:r>
            <a:endParaRPr sz="1700">
              <a:solidFill>
                <a:srgbClr val="980000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4032775" y="3571375"/>
            <a:ext cx="4964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Sarabun"/>
                <a:ea typeface="Sarabun"/>
                <a:cs typeface="Sarabun"/>
                <a:sym typeface="Sarabun"/>
              </a:rPr>
              <a:t>"We can therefore say that the task processes used by a high-productivity programmer for similar tasks are much closer to each other than the task processes used by an average-productivity programmer"</a:t>
            </a:r>
            <a:endParaRPr i="1"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24662">
            <a:off x="362015" y="699874"/>
            <a:ext cx="3109318" cy="3636331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3300" y="299050"/>
            <a:ext cx="2563175" cy="2940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2250" y="299050"/>
            <a:ext cx="2563175" cy="286222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3528675" y="202025"/>
            <a:ext cx="124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stable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6150300" y="94325"/>
            <a:ext cx="14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"all over the place"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principles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Exhaustive testing is impossible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Knowing when to stop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Variability is important (the pesticide paradox)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Bugs happen in some places more than others (defect clusters)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Testing will never be perfect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Context is king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Verification is not validation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In groups of 3, remember what these principles are about.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Each of you is responsible for explaining 2 principles to the others. The missing one, you decide who does it :)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Time: 7 minutes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Exhaustive testing is impossible vs testing shows the presence of bugs but not their absence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Absence-of-errors fallacy vs pesticide paradox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Verification vs validation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Discuss the differences in groups of 3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Time: 5 minutes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compare them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F4263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The testing pyramid</a:t>
            </a:r>
            <a:endParaRPr sz="2800">
              <a:solidFill>
                <a:srgbClr val="1F4263"/>
              </a:solidFill>
              <a:latin typeface="Sarabun SemiBold"/>
              <a:ea typeface="Sarabun SemiBold"/>
              <a:cs typeface="Sarabun SemiBold"/>
              <a:sym typeface="Sarabun SemiBold"/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3400"/>
            <a:ext cx="8839204" cy="353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Can you think of reasons to do </a:t>
            </a:r>
            <a:r>
              <a:rPr lang="en" b="1">
                <a:latin typeface="Sarabun"/>
                <a:ea typeface="Sarabun"/>
                <a:cs typeface="Sarabun"/>
                <a:sym typeface="Sarabun"/>
              </a:rPr>
              <a:t>manual testing</a:t>
            </a:r>
            <a:r>
              <a:rPr lang="en">
                <a:latin typeface="Sarabun"/>
                <a:ea typeface="Sarabun"/>
                <a:cs typeface="Sarabun"/>
                <a:sym typeface="Sarabun"/>
              </a:rPr>
              <a:t>?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The ice-cream cone</a:t>
            </a:r>
            <a:endParaRPr sz="2800">
              <a:solidFill>
                <a:schemeClr val="dk1"/>
              </a:solidFill>
              <a:latin typeface="Sarabun SemiBold"/>
              <a:ea typeface="Sarabun SemiBold"/>
              <a:cs typeface="Sarabun SemiBold"/>
              <a:sym typeface="Sarabun SemiBold"/>
            </a:endParaRPr>
          </a:p>
        </p:txBody>
      </p:sp>
      <p:sp>
        <p:nvSpPr>
          <p:cNvPr id="120" name="Google Shape;120;p23"/>
          <p:cNvSpPr/>
          <p:nvPr/>
        </p:nvSpPr>
        <p:spPr>
          <a:xfrm rot="10800000">
            <a:off x="2705411" y="1342285"/>
            <a:ext cx="3995400" cy="3455400"/>
          </a:xfrm>
          <a:prstGeom prst="triangle">
            <a:avLst>
              <a:gd name="adj" fmla="val 50000"/>
            </a:avLst>
          </a:prstGeom>
          <a:solidFill>
            <a:srgbClr val="D9EAD3"/>
          </a:solidFill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1" name="Google Shape;121;p23"/>
          <p:cNvCxnSpPr/>
          <p:nvPr/>
        </p:nvCxnSpPr>
        <p:spPr>
          <a:xfrm>
            <a:off x="3355600" y="2443300"/>
            <a:ext cx="270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23"/>
          <p:cNvCxnSpPr/>
          <p:nvPr/>
        </p:nvCxnSpPr>
        <p:spPr>
          <a:xfrm>
            <a:off x="4037200" y="3581400"/>
            <a:ext cx="135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23"/>
          <p:cNvSpPr txBox="1"/>
          <p:nvPr/>
        </p:nvSpPr>
        <p:spPr>
          <a:xfrm>
            <a:off x="3885100" y="1667325"/>
            <a:ext cx="165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Sarabun"/>
                <a:ea typeface="Sarabun"/>
                <a:cs typeface="Sarabun"/>
                <a:sym typeface="Sarabun"/>
              </a:rPr>
              <a:t>      system</a:t>
            </a:r>
            <a:endParaRPr sz="2000" dirty="0"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3932650" y="2726675"/>
            <a:ext cx="165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arabun"/>
                <a:ea typeface="Sarabun"/>
                <a:cs typeface="Sarabun"/>
                <a:sym typeface="Sarabun"/>
              </a:rPr>
              <a:t>integration</a:t>
            </a:r>
            <a:endParaRPr sz="2000"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4323300" y="3738975"/>
            <a:ext cx="75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arabun"/>
                <a:ea typeface="Sarabun"/>
                <a:cs typeface="Sarabun"/>
                <a:sym typeface="Sarabun"/>
              </a:rPr>
              <a:t>unit</a:t>
            </a:r>
            <a:endParaRPr sz="2000"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Unit vs integration vs system testing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Deciding the test level isn't that straightforward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How would you do it? 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would you take into account to decide which test level to go for?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Personal taste plays a role?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Are you more of a 'unit testing type of person' or an 'integration testing type of person' 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Discuss about it in groups of 3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Time: 5 minutes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Now share your thoughts with a group nearby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Time: 5 minutes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Fast vs slow tests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Does it matter if it's one or two classes tested altogether?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do we really care about when we do "unit testing"?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Fast tests vs slow tests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matters is: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How fast the test runs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How easy it is to write the test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How good the test feedback is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Time for Q&amp;A!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slides are licensed under CC-BY-NC-SA 2.0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 u="sng">
                <a:solidFill>
                  <a:schemeClr val="hlink"/>
                </a:solidFill>
                <a:latin typeface="Sarabun"/>
                <a:ea typeface="Sarabun"/>
                <a:cs typeface="Sarabun"/>
                <a:sym typeface="Sarabun"/>
                <a:hlinkClick r:id="rId3"/>
              </a:rPr>
              <a:t>https://creativecommons.org/licenses/by-nc-sa/4.0/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If you use this deck of slides in any way (as is or derived), please add a reference to the book and to its website (effective-software-testing.com)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photos come from various artists in Unsplash.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icons come from iconfinder.com.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8175" y="4194300"/>
            <a:ext cx="2034474" cy="7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4D3D-8F72-A62D-1117-C45BBEFD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Lab-0 Submission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236FA-D52B-E3FC-7A5F-EC510E14E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Email the TA and CC me. Use the subject line:</a:t>
            </a:r>
            <a:br>
              <a:rPr lang="en-US" dirty="0"/>
            </a:br>
            <a:r>
              <a:rPr lang="en-US" i="1" dirty="0"/>
              <a:t>“LSU-CSC-4332-Lab-0 &lt;Your Name&gt; &lt;LSU ID&gt;”.</a:t>
            </a:r>
            <a:endParaRPr lang="en-US" dirty="0"/>
          </a:p>
          <a:p>
            <a:r>
              <a:rPr lang="en-US" b="1" dirty="0"/>
              <a:t>Attach</a:t>
            </a:r>
            <a:r>
              <a:rPr lang="en-US" dirty="0"/>
              <a:t> a screenshot of your IDE showing that the code ran successfully, and the file </a:t>
            </a:r>
            <a:r>
              <a:rPr lang="en-US" b="1" dirty="0"/>
              <a:t>DelftCaseUtilitiesTest.java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14536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On-screen Show (16:9)</PresentationFormat>
  <Paragraphs>87</Paragraphs>
  <Slides>16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Sarabun SemiBold</vt:lpstr>
      <vt:lpstr>Arial</vt:lpstr>
      <vt:lpstr>Sarabun</vt:lpstr>
      <vt:lpstr>Simple Light</vt:lpstr>
      <vt:lpstr>Effective and Systematic Software Testing</vt:lpstr>
      <vt:lpstr>What are the top-3 keywords (max 2 terms each) that best sum up the content of the chapter?</vt:lpstr>
      <vt:lpstr>What is Chapter 1 about?</vt:lpstr>
      <vt:lpstr>Effective testing</vt:lpstr>
      <vt:lpstr>PowerPoint Presentation</vt:lpstr>
      <vt:lpstr>PowerPoint Presentation</vt:lpstr>
      <vt:lpstr>Testing principles</vt:lpstr>
      <vt:lpstr>Let's compare them</vt:lpstr>
      <vt:lpstr>PowerPoint Presentation</vt:lpstr>
      <vt:lpstr>Can you think of reasons to do manual testing?</vt:lpstr>
      <vt:lpstr>PowerPoint Presentation</vt:lpstr>
      <vt:lpstr>Unit vs integration vs system testing</vt:lpstr>
      <vt:lpstr>Fast vs slow tests</vt:lpstr>
      <vt:lpstr>Time for Q&amp;A!</vt:lpstr>
      <vt:lpstr>License</vt:lpstr>
      <vt:lpstr>Lab-0 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Abdus Satter</cp:lastModifiedBy>
  <cp:revision>1</cp:revision>
  <dcterms:modified xsi:type="dcterms:W3CDTF">2026-01-15T03:59:24Z</dcterms:modified>
</cp:coreProperties>
</file>