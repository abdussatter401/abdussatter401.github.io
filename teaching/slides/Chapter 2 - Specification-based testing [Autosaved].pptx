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4"/>
  </p:notesMasterIdLst>
  <p:sldIdLst>
    <p:sldId id="256" r:id="rId2"/>
    <p:sldId id="257" r:id="rId3"/>
    <p:sldId id="258" r:id="rId4"/>
    <p:sldId id="259" r:id="rId5"/>
    <p:sldId id="260" r:id="rId6"/>
    <p:sldId id="261"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80" r:id="rId22"/>
    <p:sldId id="283" r:id="rId23"/>
    <p:sldId id="284" r:id="rId24"/>
    <p:sldId id="285" r:id="rId25"/>
    <p:sldId id="286" r:id="rId26"/>
    <p:sldId id="287" r:id="rId27"/>
    <p:sldId id="288" r:id="rId28"/>
    <p:sldId id="289" r:id="rId29"/>
    <p:sldId id="290" r:id="rId30"/>
    <p:sldId id="291" r:id="rId31"/>
    <p:sldId id="292" r:id="rId32"/>
    <p:sldId id="293" r:id="rId33"/>
    <p:sldId id="295" r:id="rId34"/>
    <p:sldId id="294" r:id="rId35"/>
    <p:sldId id="296" r:id="rId36"/>
    <p:sldId id="297" r:id="rId37"/>
    <p:sldId id="298" r:id="rId38"/>
    <p:sldId id="299" r:id="rId39"/>
    <p:sldId id="300" r:id="rId40"/>
    <p:sldId id="301" r:id="rId41"/>
    <p:sldId id="281" r:id="rId42"/>
    <p:sldId id="282" r:id="rId43"/>
  </p:sldIdLst>
  <p:sldSz cx="9144000" cy="5143500" type="screen16x9"/>
  <p:notesSz cx="6858000" cy="9144000"/>
  <p:embeddedFontLst>
    <p:embeddedFont>
      <p:font typeface="Catamaran" panose="020B0604020202020204" charset="0"/>
      <p:regular r:id="rId45"/>
      <p:bold r:id="rId46"/>
    </p:embeddedFont>
    <p:embeddedFont>
      <p:font typeface="Quicksand" panose="020B0604020202020204" charset="0"/>
      <p:regular r:id="rId47"/>
      <p:bold r:id="rId48"/>
    </p:embeddedFont>
    <p:embeddedFont>
      <p:font typeface="Sarabun" panose="020B0604020202020204" charset="-34"/>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87" d="100"/>
          <a:sy n="87" d="100"/>
        </p:scale>
        <p:origin x="704"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25495ab62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25495ab62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1258467928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1258467928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58467928e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58467928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258467928e_1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258467928e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258467928e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258467928e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258467928e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258467928e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26335a026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126335a026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3a7e32d88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3a7e32d88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3a7e32d884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3a7e32d88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258467928e_1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1258467928e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258467928e_1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258467928e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1225527f9ab_2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1225527f9ab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1225527f9ab_2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1225527f9ab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258467928e_1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1258467928e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1258467928e_1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1258467928e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258467928e_1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1258467928e_1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258467928e_1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258467928e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225527f9ab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225527f9ab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225527f9ab_2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225527f9ab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225527f9ab_2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1225527f9ab_2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258467928e_1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258467928e_1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258467928e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1258467928e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latin typeface="Sarabun"/>
                <a:ea typeface="Sarabun"/>
                <a:cs typeface="Sarabun"/>
                <a:sym typeface="Sarabun"/>
              </a:rPr>
              <a:t>Chapter 2</a:t>
            </a:r>
            <a:endParaRPr>
              <a:latin typeface="Sarabun"/>
              <a:ea typeface="Sarabun"/>
              <a:cs typeface="Sarabun"/>
              <a:sym typeface="Sarabun"/>
            </a:endParaRPr>
          </a:p>
        </p:txBody>
      </p:sp>
      <p:pic>
        <p:nvPicPr>
          <p:cNvPr id="55" name="Google Shape;55;p13"/>
          <p:cNvPicPr preferRelativeResize="0"/>
          <p:nvPr/>
        </p:nvPicPr>
        <p:blipFill>
          <a:blip r:embed="rId3">
            <a:alphaModFix/>
          </a:blip>
          <a:stretch>
            <a:fillRect/>
          </a:stretch>
        </p:blipFill>
        <p:spPr>
          <a:xfrm rot="1110746">
            <a:off x="7318964" y="3011321"/>
            <a:ext cx="1416273" cy="1841583"/>
          </a:xfrm>
          <a:prstGeom prst="rect">
            <a:avLst/>
          </a:prstGeom>
          <a:noFill/>
          <a:ln w="19050" cap="flat" cmpd="sng">
            <a:solidFill>
              <a:srgbClr val="1F4263"/>
            </a:solidFill>
            <a:prstDash val="solid"/>
            <a:round/>
            <a:headEnd type="none" w="sm" len="sm"/>
            <a:tailEnd type="none" w="sm" len="sm"/>
          </a:ln>
        </p:spPr>
      </p:pic>
      <p:sp>
        <p:nvSpPr>
          <p:cNvPr id="56" name="Google Shape;56;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latin typeface="Sarabun"/>
                <a:ea typeface="Sarabun"/>
                <a:cs typeface="Sarabun"/>
                <a:sym typeface="Sarabun"/>
              </a:rPr>
              <a:t>Specification-based </a:t>
            </a:r>
            <a:endParaRPr>
              <a:latin typeface="Sarabun"/>
              <a:ea typeface="Sarabun"/>
              <a:cs typeface="Sarabun"/>
              <a:sym typeface="Sarabun"/>
            </a:endParaRPr>
          </a:p>
          <a:p>
            <a:pPr marL="0" lvl="0" indent="0" algn="ctr" rtl="0">
              <a:spcBef>
                <a:spcPts val="0"/>
              </a:spcBef>
              <a:spcAft>
                <a:spcPts val="0"/>
              </a:spcAft>
              <a:buNone/>
            </a:pPr>
            <a:r>
              <a:rPr lang="en">
                <a:latin typeface="Sarabun"/>
                <a:ea typeface="Sarabun"/>
                <a:cs typeface="Sarabun"/>
                <a:sym typeface="Sarabun"/>
              </a:rPr>
              <a:t>testing</a:t>
            </a:r>
            <a:endParaRPr>
              <a:latin typeface="Sarabun"/>
              <a:ea typeface="Sarabun"/>
              <a:cs typeface="Sarabun"/>
              <a:sym typeface="Sarabun"/>
            </a:endParaRPr>
          </a:p>
        </p:txBody>
      </p:sp>
      <p:sp>
        <p:nvSpPr>
          <p:cNvPr id="57" name="Google Shape;57;p13"/>
          <p:cNvSpPr txBox="1"/>
          <p:nvPr/>
        </p:nvSpPr>
        <p:spPr>
          <a:xfrm>
            <a:off x="2741850" y="4629900"/>
            <a:ext cx="366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https://www.effective-software-testing.com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311700" y="445025"/>
            <a:ext cx="8520600" cy="44100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latin typeface="Sarabun"/>
                <a:ea typeface="Sarabun"/>
                <a:cs typeface="Sarabun"/>
                <a:sym typeface="Sarabun"/>
              </a:rPr>
              <a:t>What are the top-3 keywords (max 2 terms each) that best sum up the content of the chapter?</a:t>
            </a:r>
            <a:endParaRPr>
              <a:latin typeface="Sarabun"/>
              <a:ea typeface="Sarabun"/>
              <a:cs typeface="Sarabun"/>
              <a:sym typeface="Sarabu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Sarabun"/>
                <a:ea typeface="Sarabun"/>
                <a:cs typeface="Sarabun"/>
                <a:sym typeface="Sarabun"/>
              </a:rPr>
              <a:t>What is Chapter 2 about?</a:t>
            </a:r>
            <a:endParaRPr>
              <a:latin typeface="Sarabun"/>
              <a:ea typeface="Sarabun"/>
              <a:cs typeface="Sarabun"/>
              <a:sym typeface="Sarabun"/>
            </a:endParaRPr>
          </a:p>
        </p:txBody>
      </p:sp>
      <p:sp>
        <p:nvSpPr>
          <p:cNvPr id="68" name="Google Shape;68;p15"/>
          <p:cNvSpPr txBox="1">
            <a:spLocks noGrp="1"/>
          </p:cNvSpPr>
          <p:nvPr>
            <p:ph type="body" idx="1"/>
          </p:nvPr>
        </p:nvSpPr>
        <p:spPr>
          <a:xfrm>
            <a:off x="311700" y="1152475"/>
            <a:ext cx="8591400" cy="3416400"/>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SzPts val="1800"/>
              <a:buFont typeface="Sarabun"/>
              <a:buChar char="●"/>
            </a:pPr>
            <a:r>
              <a:rPr lang="en">
                <a:latin typeface="Sarabun"/>
                <a:ea typeface="Sarabun"/>
                <a:cs typeface="Sarabun"/>
                <a:sym typeface="Sarabun"/>
              </a:rPr>
              <a:t>Specification-based testing</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Focus on the specification, not on the code</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Breaking down the specification into parts</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Analyze inputs and outputs, their domain, and how they can change the output of the program</a:t>
            </a:r>
            <a:endParaRPr>
              <a:latin typeface="Sarabun"/>
              <a:ea typeface="Sarabun"/>
              <a:cs typeface="Sarabun"/>
              <a:sym typeface="Sarabun"/>
            </a:endParaRPr>
          </a:p>
          <a:p>
            <a:pPr marL="457200" lvl="0" indent="-342900" algn="l" rtl="0">
              <a:spcBef>
                <a:spcPts val="0"/>
              </a:spcBef>
              <a:spcAft>
                <a:spcPts val="0"/>
              </a:spcAft>
              <a:buSzPts val="1800"/>
              <a:buFont typeface="Sarabun"/>
              <a:buChar char="●"/>
            </a:pPr>
            <a:r>
              <a:rPr lang="en">
                <a:latin typeface="Sarabun"/>
                <a:ea typeface="Sarabun"/>
                <a:cs typeface="Sarabun"/>
                <a:sym typeface="Sarabun"/>
              </a:rPr>
              <a:t>Boundary testing</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Between partitions</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On and off points</a:t>
            </a:r>
            <a:endParaRPr>
              <a:latin typeface="Sarabun"/>
              <a:ea typeface="Sarabun"/>
              <a:cs typeface="Sarabun"/>
              <a:sym typeface="Sarabun"/>
            </a:endParaRPr>
          </a:p>
          <a:p>
            <a:pPr marL="457200" lvl="0" indent="-342900" algn="l" rtl="0">
              <a:spcBef>
                <a:spcPts val="0"/>
              </a:spcBef>
              <a:spcAft>
                <a:spcPts val="0"/>
              </a:spcAft>
              <a:buSzPts val="1800"/>
              <a:buFont typeface="Sarabun"/>
              <a:buChar char="●"/>
            </a:pPr>
            <a:r>
              <a:rPr lang="en">
                <a:latin typeface="Sarabun"/>
                <a:ea typeface="Sarabun"/>
                <a:cs typeface="Sarabun"/>
                <a:sym typeface="Sarabun"/>
              </a:rPr>
              <a:t>Specification-based testing in practice</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Iterative, not sequential</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How far should we go?</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Vary the inputs</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Go for the simplest input</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Pick reasonable inputs</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Works at any level</a:t>
            </a:r>
            <a:endParaRPr>
              <a:latin typeface="Sarabun"/>
              <a:ea typeface="Sarabun"/>
              <a:cs typeface="Sarabun"/>
              <a:sym typeface="Sarabu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p:nvPr/>
        </p:nvSpPr>
        <p:spPr>
          <a:xfrm>
            <a:off x="6734488" y="2859875"/>
            <a:ext cx="1622700" cy="807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arabun"/>
                <a:ea typeface="Sarabun"/>
                <a:cs typeface="Sarabun"/>
                <a:sym typeface="Sarabun"/>
              </a:rPr>
              <a:t>Reason about the output</a:t>
            </a:r>
            <a:endParaRPr>
              <a:latin typeface="Sarabun"/>
              <a:ea typeface="Sarabun"/>
              <a:cs typeface="Sarabun"/>
              <a:sym typeface="Sarabun"/>
            </a:endParaRPr>
          </a:p>
        </p:txBody>
      </p:sp>
      <p:sp>
        <p:nvSpPr>
          <p:cNvPr id="74" name="Google Shape;74;p16"/>
          <p:cNvSpPr/>
          <p:nvPr/>
        </p:nvSpPr>
        <p:spPr>
          <a:xfrm>
            <a:off x="4688763" y="2859875"/>
            <a:ext cx="1622700" cy="807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arabun"/>
                <a:ea typeface="Sarabun"/>
                <a:cs typeface="Sarabun"/>
                <a:sym typeface="Sarabun"/>
              </a:rPr>
              <a:t>Reason about domain-specific rules</a:t>
            </a:r>
            <a:endParaRPr>
              <a:latin typeface="Sarabun"/>
              <a:ea typeface="Sarabun"/>
              <a:cs typeface="Sarabun"/>
              <a:sym typeface="Sarabun"/>
            </a:endParaRPr>
          </a:p>
        </p:txBody>
      </p:sp>
      <p:sp>
        <p:nvSpPr>
          <p:cNvPr id="75" name="Google Shape;75;p16"/>
          <p:cNvSpPr/>
          <p:nvPr/>
        </p:nvSpPr>
        <p:spPr>
          <a:xfrm>
            <a:off x="2643038" y="2859875"/>
            <a:ext cx="1622700" cy="807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arabun"/>
                <a:ea typeface="Sarabun"/>
                <a:cs typeface="Sarabun"/>
                <a:sym typeface="Sarabun"/>
              </a:rPr>
              <a:t>Reason about how they interact with each other</a:t>
            </a:r>
            <a:endParaRPr>
              <a:latin typeface="Sarabun"/>
              <a:ea typeface="Sarabun"/>
              <a:cs typeface="Sarabun"/>
              <a:sym typeface="Sarabun"/>
            </a:endParaRPr>
          </a:p>
        </p:txBody>
      </p:sp>
      <p:pic>
        <p:nvPicPr>
          <p:cNvPr id="76" name="Google Shape;76;p16"/>
          <p:cNvPicPr preferRelativeResize="0"/>
          <p:nvPr/>
        </p:nvPicPr>
        <p:blipFill>
          <a:blip r:embed="rId3">
            <a:alphaModFix/>
          </a:blip>
          <a:stretch>
            <a:fillRect/>
          </a:stretch>
        </p:blipFill>
        <p:spPr>
          <a:xfrm>
            <a:off x="1493450" y="691150"/>
            <a:ext cx="5382425" cy="1308092"/>
          </a:xfrm>
          <a:prstGeom prst="rect">
            <a:avLst/>
          </a:prstGeom>
          <a:noFill/>
          <a:ln>
            <a:noFill/>
          </a:ln>
        </p:spPr>
      </p:pic>
      <p:cxnSp>
        <p:nvCxnSpPr>
          <p:cNvPr id="77" name="Google Shape;77;p16"/>
          <p:cNvCxnSpPr/>
          <p:nvPr/>
        </p:nvCxnSpPr>
        <p:spPr>
          <a:xfrm rot="10800000" flipH="1">
            <a:off x="3944400" y="1327125"/>
            <a:ext cx="712200" cy="1316400"/>
          </a:xfrm>
          <a:prstGeom prst="straightConnector1">
            <a:avLst/>
          </a:prstGeom>
          <a:noFill/>
          <a:ln w="38100" cap="flat" cmpd="sng">
            <a:solidFill>
              <a:schemeClr val="dk2"/>
            </a:solidFill>
            <a:prstDash val="solid"/>
            <a:round/>
            <a:headEnd type="none" w="med" len="med"/>
            <a:tailEnd type="triangle" w="med" len="med"/>
          </a:ln>
        </p:spPr>
      </p:cxnSp>
      <p:sp>
        <p:nvSpPr>
          <p:cNvPr id="78" name="Google Shape;78;p16"/>
          <p:cNvSpPr/>
          <p:nvPr/>
        </p:nvSpPr>
        <p:spPr>
          <a:xfrm>
            <a:off x="662675" y="2859875"/>
            <a:ext cx="1622700" cy="807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arabun"/>
                <a:ea typeface="Sarabun"/>
                <a:cs typeface="Sarabun"/>
                <a:sym typeface="Sarabun"/>
              </a:rPr>
              <a:t>Reason about each input separately</a:t>
            </a:r>
            <a:endParaRPr>
              <a:latin typeface="Sarabun"/>
              <a:ea typeface="Sarabun"/>
              <a:cs typeface="Sarabun"/>
              <a:sym typeface="Sarabun"/>
            </a:endParaRPr>
          </a:p>
        </p:txBody>
      </p:sp>
      <p:cxnSp>
        <p:nvCxnSpPr>
          <p:cNvPr id="79" name="Google Shape;79;p16"/>
          <p:cNvCxnSpPr>
            <a:stCxn id="78" idx="3"/>
            <a:endCxn id="75" idx="1"/>
          </p:cNvCxnSpPr>
          <p:nvPr/>
        </p:nvCxnSpPr>
        <p:spPr>
          <a:xfrm>
            <a:off x="2285375" y="3263375"/>
            <a:ext cx="357600" cy="0"/>
          </a:xfrm>
          <a:prstGeom prst="straightConnector1">
            <a:avLst/>
          </a:prstGeom>
          <a:noFill/>
          <a:ln w="9525" cap="flat" cmpd="sng">
            <a:solidFill>
              <a:schemeClr val="dk2"/>
            </a:solidFill>
            <a:prstDash val="solid"/>
            <a:round/>
            <a:headEnd type="none" w="med" len="med"/>
            <a:tailEnd type="triangle" w="med" len="med"/>
          </a:ln>
        </p:spPr>
      </p:cxnSp>
      <p:cxnSp>
        <p:nvCxnSpPr>
          <p:cNvPr id="80" name="Google Shape;80;p16"/>
          <p:cNvCxnSpPr>
            <a:endCxn id="74" idx="1"/>
          </p:cNvCxnSpPr>
          <p:nvPr/>
        </p:nvCxnSpPr>
        <p:spPr>
          <a:xfrm>
            <a:off x="4265763" y="3263375"/>
            <a:ext cx="423000" cy="0"/>
          </a:xfrm>
          <a:prstGeom prst="straightConnector1">
            <a:avLst/>
          </a:prstGeom>
          <a:noFill/>
          <a:ln w="9525" cap="flat" cmpd="sng">
            <a:solidFill>
              <a:schemeClr val="dk2"/>
            </a:solidFill>
            <a:prstDash val="solid"/>
            <a:round/>
            <a:headEnd type="none" w="med" len="med"/>
            <a:tailEnd type="triangle" w="med" len="med"/>
          </a:ln>
        </p:spPr>
      </p:cxnSp>
      <p:cxnSp>
        <p:nvCxnSpPr>
          <p:cNvPr id="81" name="Google Shape;81;p16"/>
          <p:cNvCxnSpPr>
            <a:stCxn id="74" idx="3"/>
            <a:endCxn id="73" idx="1"/>
          </p:cNvCxnSpPr>
          <p:nvPr/>
        </p:nvCxnSpPr>
        <p:spPr>
          <a:xfrm>
            <a:off x="6311463" y="3263375"/>
            <a:ext cx="423000" cy="0"/>
          </a:xfrm>
          <a:prstGeom prst="straightConnector1">
            <a:avLst/>
          </a:prstGeom>
          <a:noFill/>
          <a:ln w="9525" cap="flat" cmpd="sng">
            <a:solidFill>
              <a:schemeClr val="dk2"/>
            </a:solidFill>
            <a:prstDash val="solid"/>
            <a:round/>
            <a:headEnd type="none" w="med" len="med"/>
            <a:tailEnd type="triangle" w="med" len="med"/>
          </a:ln>
        </p:spPr>
      </p:cxnSp>
      <p:sp>
        <p:nvSpPr>
          <p:cNvPr id="82" name="Google Shape;82;p16"/>
          <p:cNvSpPr/>
          <p:nvPr/>
        </p:nvSpPr>
        <p:spPr>
          <a:xfrm rot="-5400000">
            <a:off x="4388425" y="-108550"/>
            <a:ext cx="284100" cy="82314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6"/>
          <p:cNvSpPr txBox="1"/>
          <p:nvPr/>
        </p:nvSpPr>
        <p:spPr>
          <a:xfrm>
            <a:off x="414775" y="4240175"/>
            <a:ext cx="8231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Sarabun"/>
                <a:ea typeface="Sarabun"/>
                <a:cs typeface="Sarabun"/>
                <a:sym typeface="Sarabun"/>
              </a:rPr>
              <a:t>All of it with the requirements in mind, of course!!</a:t>
            </a:r>
            <a:endParaRPr>
              <a:latin typeface="Sarabun"/>
              <a:ea typeface="Sarabun"/>
              <a:cs typeface="Sarabun"/>
              <a:sym typeface="Sarabu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Sarabun"/>
                <a:ea typeface="Sarabun"/>
                <a:cs typeface="Sarabun"/>
                <a:sym typeface="Sarabun"/>
              </a:rPr>
              <a:t>Let's practice!</a:t>
            </a:r>
            <a:endParaRPr>
              <a:latin typeface="Sarabun"/>
              <a:ea typeface="Sarabun"/>
              <a:cs typeface="Sarabun"/>
              <a:sym typeface="Sarabun"/>
            </a:endParaRPr>
          </a:p>
        </p:txBody>
      </p:sp>
      <p:sp>
        <p:nvSpPr>
          <p:cNvPr id="89" name="Google Shape;89;p17"/>
          <p:cNvSpPr txBox="1">
            <a:spLocks noGrp="1"/>
          </p:cNvSpPr>
          <p:nvPr>
            <p:ph type="body" idx="1"/>
          </p:nvPr>
        </p:nvSpPr>
        <p:spPr>
          <a:xfrm>
            <a:off x="311700" y="1152475"/>
            <a:ext cx="5147400" cy="3846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Sarabun"/>
                <a:ea typeface="Sarabun"/>
                <a:cs typeface="Sarabun"/>
                <a:sym typeface="Sarabun"/>
              </a:rPr>
              <a:t>Method: intersection</a:t>
            </a:r>
            <a:endParaRPr>
              <a:latin typeface="Sarabun"/>
              <a:ea typeface="Sarabun"/>
              <a:cs typeface="Sarabun"/>
              <a:sym typeface="Sarabun"/>
            </a:endParaRPr>
          </a:p>
          <a:p>
            <a:pPr marL="514350" lvl="0" indent="0" algn="l" rtl="0">
              <a:spcBef>
                <a:spcPts val="1200"/>
              </a:spcBef>
              <a:spcAft>
                <a:spcPts val="0"/>
              </a:spcAft>
              <a:buNone/>
            </a:pPr>
            <a:r>
              <a:rPr lang="en">
                <a:latin typeface="Sarabun"/>
                <a:ea typeface="Sarabun"/>
                <a:cs typeface="Sarabun"/>
                <a:sym typeface="Sarabun"/>
              </a:rPr>
              <a:t>This method </a:t>
            </a:r>
            <a:r>
              <a:rPr lang="en" b="1">
                <a:latin typeface="Sarabun"/>
                <a:ea typeface="Sarabun"/>
                <a:cs typeface="Sarabun"/>
                <a:sym typeface="Sarabun"/>
              </a:rPr>
              <a:t>returns</a:t>
            </a:r>
            <a:r>
              <a:rPr lang="en">
                <a:latin typeface="Sarabun"/>
                <a:ea typeface="Sarabun"/>
                <a:cs typeface="Sarabun"/>
                <a:sym typeface="Sarabun"/>
              </a:rPr>
              <a:t> a new list containing all elements that are contained in </a:t>
            </a:r>
            <a:r>
              <a:rPr lang="en" b="1">
                <a:latin typeface="Sarabun"/>
                <a:ea typeface="Sarabun"/>
                <a:cs typeface="Sarabun"/>
                <a:sym typeface="Sarabun"/>
              </a:rPr>
              <a:t>both</a:t>
            </a:r>
            <a:r>
              <a:rPr lang="en">
                <a:latin typeface="Sarabun"/>
                <a:ea typeface="Sarabun"/>
                <a:cs typeface="Sarabun"/>
                <a:sym typeface="Sarabun"/>
              </a:rPr>
              <a:t> given lists.</a:t>
            </a:r>
            <a:endParaRPr>
              <a:latin typeface="Sarabun"/>
              <a:ea typeface="Sarabun"/>
              <a:cs typeface="Sarabun"/>
              <a:sym typeface="Sarabun"/>
            </a:endParaRPr>
          </a:p>
          <a:p>
            <a:pPr marL="0" lvl="0" indent="0" algn="l" rtl="0">
              <a:spcBef>
                <a:spcPts val="1200"/>
              </a:spcBef>
              <a:spcAft>
                <a:spcPts val="0"/>
              </a:spcAft>
              <a:buNone/>
            </a:pPr>
            <a:r>
              <a:rPr lang="en">
                <a:latin typeface="Sarabun"/>
                <a:ea typeface="Sarabun"/>
                <a:cs typeface="Sarabun"/>
                <a:sym typeface="Sarabun"/>
              </a:rPr>
              <a:t>Inputs:</a:t>
            </a:r>
            <a:endParaRPr>
              <a:latin typeface="Sarabun"/>
              <a:ea typeface="Sarabun"/>
              <a:cs typeface="Sarabun"/>
              <a:sym typeface="Sarabun"/>
            </a:endParaRPr>
          </a:p>
          <a:p>
            <a:pPr marL="457200" lvl="0" indent="-342900" algn="l" rtl="0">
              <a:spcBef>
                <a:spcPts val="1200"/>
              </a:spcBef>
              <a:spcAft>
                <a:spcPts val="0"/>
              </a:spcAft>
              <a:buSzPts val="1800"/>
              <a:buFont typeface="Sarabun"/>
              <a:buChar char="●"/>
            </a:pPr>
            <a:r>
              <a:rPr lang="en">
                <a:latin typeface="Sarabun"/>
                <a:ea typeface="Sarabun"/>
                <a:cs typeface="Sarabun"/>
                <a:sym typeface="Sarabun"/>
              </a:rPr>
              <a:t>List1, a list of integers</a:t>
            </a:r>
            <a:endParaRPr>
              <a:latin typeface="Sarabun"/>
              <a:ea typeface="Sarabun"/>
              <a:cs typeface="Sarabun"/>
              <a:sym typeface="Sarabun"/>
            </a:endParaRPr>
          </a:p>
          <a:p>
            <a:pPr marL="457200" lvl="0" indent="-342900" algn="l" rtl="0">
              <a:spcBef>
                <a:spcPts val="0"/>
              </a:spcBef>
              <a:spcAft>
                <a:spcPts val="0"/>
              </a:spcAft>
              <a:buSzPts val="1800"/>
              <a:buFont typeface="Sarabun"/>
              <a:buChar char="●"/>
            </a:pPr>
            <a:r>
              <a:rPr lang="en">
                <a:latin typeface="Sarabun"/>
                <a:ea typeface="Sarabun"/>
                <a:cs typeface="Sarabun"/>
                <a:sym typeface="Sarabun"/>
              </a:rPr>
              <a:t>List2, a list of integers</a:t>
            </a:r>
            <a:endParaRPr>
              <a:latin typeface="Sarabun"/>
              <a:ea typeface="Sarabun"/>
              <a:cs typeface="Sarabun"/>
              <a:sym typeface="Sarabun"/>
            </a:endParaRPr>
          </a:p>
          <a:p>
            <a:pPr marL="0" lvl="0" indent="0" algn="l" rtl="0">
              <a:spcBef>
                <a:spcPts val="1200"/>
              </a:spcBef>
              <a:spcAft>
                <a:spcPts val="0"/>
              </a:spcAft>
              <a:buNone/>
            </a:pPr>
            <a:r>
              <a:rPr lang="en">
                <a:latin typeface="Sarabun"/>
                <a:ea typeface="Sarabun"/>
                <a:cs typeface="Sarabun"/>
                <a:sym typeface="Sarabun"/>
              </a:rPr>
              <a:t>Outputs:</a:t>
            </a:r>
            <a:endParaRPr>
              <a:latin typeface="Sarabun"/>
              <a:ea typeface="Sarabun"/>
              <a:cs typeface="Sarabun"/>
              <a:sym typeface="Sarabun"/>
            </a:endParaRPr>
          </a:p>
          <a:p>
            <a:pPr marL="457200" lvl="0" indent="-342900" algn="l" rtl="0">
              <a:spcBef>
                <a:spcPts val="1200"/>
              </a:spcBef>
              <a:spcAft>
                <a:spcPts val="0"/>
              </a:spcAft>
              <a:buSzPts val="1800"/>
              <a:buFont typeface="Sarabun"/>
              <a:buChar char="●"/>
            </a:pPr>
            <a:r>
              <a:rPr lang="en">
                <a:latin typeface="Sarabun"/>
                <a:ea typeface="Sarabun"/>
                <a:cs typeface="Sarabun"/>
                <a:sym typeface="Sarabun"/>
              </a:rPr>
              <a:t>A new list.</a:t>
            </a:r>
            <a:endParaRPr>
              <a:latin typeface="Sarabun"/>
              <a:ea typeface="Sarabun"/>
              <a:cs typeface="Sarabun"/>
              <a:sym typeface="Sarabun"/>
            </a:endParaRPr>
          </a:p>
        </p:txBody>
      </p:sp>
      <p:sp>
        <p:nvSpPr>
          <p:cNvPr id="90" name="Google Shape;90;p17"/>
          <p:cNvSpPr txBox="1">
            <a:spLocks noGrp="1"/>
          </p:cNvSpPr>
          <p:nvPr>
            <p:ph type="body" idx="1"/>
          </p:nvPr>
        </p:nvSpPr>
        <p:spPr>
          <a:xfrm>
            <a:off x="5630675" y="3232250"/>
            <a:ext cx="3366600" cy="17670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457200" lvl="0" indent="-330200" algn="l" rtl="0">
              <a:spcBef>
                <a:spcPts val="0"/>
              </a:spcBef>
              <a:spcAft>
                <a:spcPts val="0"/>
              </a:spcAft>
              <a:buSzPts val="1600"/>
              <a:buFont typeface="Sarabun"/>
              <a:buChar char="●"/>
            </a:pPr>
            <a:r>
              <a:rPr lang="en" sz="1600">
                <a:latin typeface="Sarabun"/>
                <a:ea typeface="Sarabun"/>
                <a:cs typeface="Sarabun"/>
                <a:sym typeface="Sarabun"/>
              </a:rPr>
              <a:t>In groups of 3, identify the partitions.</a:t>
            </a:r>
            <a:endParaRPr sz="1600">
              <a:latin typeface="Sarabun"/>
              <a:ea typeface="Sarabun"/>
              <a:cs typeface="Sarabun"/>
              <a:sym typeface="Sarabun"/>
            </a:endParaRPr>
          </a:p>
          <a:p>
            <a:pPr marL="914400" lvl="1" indent="-304800" algn="l" rtl="0">
              <a:spcBef>
                <a:spcPts val="0"/>
              </a:spcBef>
              <a:spcAft>
                <a:spcPts val="0"/>
              </a:spcAft>
              <a:buSzPts val="1200"/>
              <a:buFont typeface="Sarabun"/>
              <a:buChar char="○"/>
            </a:pPr>
            <a:r>
              <a:rPr lang="en" sz="1200">
                <a:latin typeface="Sarabun"/>
                <a:ea typeface="Sarabun"/>
                <a:cs typeface="Sarabun"/>
                <a:sym typeface="Sarabun"/>
              </a:rPr>
              <a:t>Time: 5 minutes</a:t>
            </a:r>
            <a:endParaRPr sz="1200">
              <a:latin typeface="Sarabun"/>
              <a:ea typeface="Sarabun"/>
              <a:cs typeface="Sarabun"/>
              <a:sym typeface="Sarabun"/>
            </a:endParaRPr>
          </a:p>
          <a:p>
            <a:pPr marL="457200" lvl="0" indent="-330200" algn="l" rtl="0">
              <a:spcBef>
                <a:spcPts val="0"/>
              </a:spcBef>
              <a:spcAft>
                <a:spcPts val="0"/>
              </a:spcAft>
              <a:buSzPts val="1600"/>
              <a:buFont typeface="Sarabun"/>
              <a:buChar char="●"/>
            </a:pPr>
            <a:r>
              <a:rPr lang="en" sz="1600">
                <a:latin typeface="Sarabun"/>
                <a:ea typeface="Sarabun"/>
                <a:cs typeface="Sarabun"/>
                <a:sym typeface="Sarabun"/>
              </a:rPr>
              <a:t>Afterwards, we will collect all partitions.</a:t>
            </a:r>
            <a:endParaRPr sz="1200">
              <a:latin typeface="Sarabun"/>
              <a:ea typeface="Sarabun"/>
              <a:cs typeface="Sarabun"/>
              <a:sym typeface="Sarabu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Sarabun"/>
                <a:ea typeface="Sarabun"/>
                <a:cs typeface="Sarabun"/>
                <a:sym typeface="Sarabun"/>
              </a:rPr>
              <a:t>One possible way to reason about it</a:t>
            </a:r>
            <a:endParaRPr>
              <a:latin typeface="Sarabun"/>
              <a:ea typeface="Sarabun"/>
              <a:cs typeface="Sarabun"/>
              <a:sym typeface="Sarabun"/>
            </a:endParaRPr>
          </a:p>
        </p:txBody>
      </p:sp>
      <p:sp>
        <p:nvSpPr>
          <p:cNvPr id="96" name="Google Shape;96;p18"/>
          <p:cNvSpPr txBox="1">
            <a:spLocks noGrp="1"/>
          </p:cNvSpPr>
          <p:nvPr>
            <p:ph type="body" idx="1"/>
          </p:nvPr>
        </p:nvSpPr>
        <p:spPr>
          <a:xfrm>
            <a:off x="311700" y="1152475"/>
            <a:ext cx="8520600" cy="3873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Font typeface="Sarabun"/>
              <a:buChar char="●"/>
            </a:pPr>
            <a:r>
              <a:rPr lang="en">
                <a:latin typeface="Sarabun"/>
                <a:ea typeface="Sarabun"/>
                <a:cs typeface="Sarabun"/>
                <a:sym typeface="Sarabun"/>
              </a:rPr>
              <a:t>First, each input in isolation:</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List1 and List2 are both lists. A few straightforward test cases:</a:t>
            </a:r>
            <a:endParaRPr>
              <a:latin typeface="Sarabun"/>
              <a:ea typeface="Sarabun"/>
              <a:cs typeface="Sarabun"/>
              <a:sym typeface="Sarabun"/>
            </a:endParaRPr>
          </a:p>
          <a:p>
            <a:pPr marL="1371600" lvl="2" indent="-317500" algn="l" rtl="0">
              <a:spcBef>
                <a:spcPts val="0"/>
              </a:spcBef>
              <a:spcAft>
                <a:spcPts val="0"/>
              </a:spcAft>
              <a:buSzPts val="1400"/>
              <a:buFont typeface="Sarabun"/>
              <a:buChar char="■"/>
            </a:pPr>
            <a:r>
              <a:rPr lang="en">
                <a:latin typeface="Sarabun"/>
                <a:ea typeface="Sarabun"/>
                <a:cs typeface="Sarabun"/>
                <a:sym typeface="Sarabun"/>
              </a:rPr>
              <a:t>Null</a:t>
            </a:r>
            <a:endParaRPr>
              <a:latin typeface="Sarabun"/>
              <a:ea typeface="Sarabun"/>
              <a:cs typeface="Sarabun"/>
              <a:sym typeface="Sarabun"/>
            </a:endParaRPr>
          </a:p>
          <a:p>
            <a:pPr marL="1371600" lvl="2" indent="-317500" algn="l" rtl="0">
              <a:spcBef>
                <a:spcPts val="0"/>
              </a:spcBef>
              <a:spcAft>
                <a:spcPts val="0"/>
              </a:spcAft>
              <a:buSzPts val="1400"/>
              <a:buFont typeface="Sarabun"/>
              <a:buChar char="■"/>
            </a:pPr>
            <a:r>
              <a:rPr lang="en">
                <a:latin typeface="Sarabun"/>
                <a:ea typeface="Sarabun"/>
                <a:cs typeface="Sarabun"/>
                <a:sym typeface="Sarabun"/>
              </a:rPr>
              <a:t>0 elements</a:t>
            </a:r>
            <a:endParaRPr>
              <a:latin typeface="Sarabun"/>
              <a:ea typeface="Sarabun"/>
              <a:cs typeface="Sarabun"/>
              <a:sym typeface="Sarabun"/>
            </a:endParaRPr>
          </a:p>
          <a:p>
            <a:pPr marL="1371600" lvl="2" indent="-317500" algn="l" rtl="0">
              <a:spcBef>
                <a:spcPts val="0"/>
              </a:spcBef>
              <a:spcAft>
                <a:spcPts val="0"/>
              </a:spcAft>
              <a:buSzPts val="1400"/>
              <a:buFont typeface="Sarabun"/>
              <a:buChar char="■"/>
            </a:pPr>
            <a:r>
              <a:rPr lang="en">
                <a:latin typeface="Sarabun"/>
                <a:ea typeface="Sarabun"/>
                <a:cs typeface="Sarabun"/>
                <a:sym typeface="Sarabun"/>
              </a:rPr>
              <a:t>1 element</a:t>
            </a:r>
            <a:endParaRPr>
              <a:latin typeface="Sarabun"/>
              <a:ea typeface="Sarabun"/>
              <a:cs typeface="Sarabun"/>
              <a:sym typeface="Sarabun"/>
            </a:endParaRPr>
          </a:p>
          <a:p>
            <a:pPr marL="1371600" lvl="2" indent="-317500" algn="l" rtl="0">
              <a:spcBef>
                <a:spcPts val="0"/>
              </a:spcBef>
              <a:spcAft>
                <a:spcPts val="0"/>
              </a:spcAft>
              <a:buSzPts val="1400"/>
              <a:buFont typeface="Sarabun"/>
              <a:buChar char="■"/>
            </a:pPr>
            <a:r>
              <a:rPr lang="en">
                <a:latin typeface="Sarabun"/>
                <a:ea typeface="Sarabun"/>
                <a:cs typeface="Sarabun"/>
                <a:sym typeface="Sarabun"/>
              </a:rPr>
              <a:t>Multiple elements</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The requirements don't mention any specific constraints (e.g., max size of the list, range of the numbers in the list, etc), so we continue</a:t>
            </a:r>
            <a:endParaRPr>
              <a:latin typeface="Sarabun"/>
              <a:ea typeface="Sarabun"/>
              <a:cs typeface="Sarabun"/>
              <a:sym typeface="Sarabun"/>
            </a:endParaRPr>
          </a:p>
          <a:p>
            <a:pPr marL="457200" lvl="0" indent="-342900" algn="l" rtl="0">
              <a:spcBef>
                <a:spcPts val="0"/>
              </a:spcBef>
              <a:spcAft>
                <a:spcPts val="0"/>
              </a:spcAft>
              <a:buSzPts val="1800"/>
              <a:buFont typeface="Sarabun"/>
              <a:buChar char="●"/>
            </a:pPr>
            <a:r>
              <a:rPr lang="en">
                <a:latin typeface="Sarabun"/>
                <a:ea typeface="Sarabun"/>
                <a:cs typeface="Sarabun"/>
                <a:sym typeface="Sarabun"/>
              </a:rPr>
              <a:t>How inputs interact:</a:t>
            </a:r>
            <a:endParaRPr>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a:latin typeface="Sarabun"/>
                <a:ea typeface="Sarabun"/>
                <a:cs typeface="Sarabun"/>
                <a:sym typeface="Sarabun"/>
              </a:rPr>
              <a:t>The requirement is all about items in both sets, therefore:</a:t>
            </a:r>
            <a:endParaRPr>
              <a:latin typeface="Sarabun"/>
              <a:ea typeface="Sarabun"/>
              <a:cs typeface="Sarabun"/>
              <a:sym typeface="Sarabun"/>
            </a:endParaRPr>
          </a:p>
          <a:p>
            <a:pPr marL="1371600" lvl="2" indent="-317500" algn="l" rtl="0">
              <a:spcBef>
                <a:spcPts val="0"/>
              </a:spcBef>
              <a:spcAft>
                <a:spcPts val="0"/>
              </a:spcAft>
              <a:buSzPts val="1400"/>
              <a:buFont typeface="Sarabun"/>
              <a:buChar char="■"/>
            </a:pPr>
            <a:r>
              <a:rPr lang="en">
                <a:latin typeface="Sarabun"/>
                <a:ea typeface="Sarabun"/>
                <a:cs typeface="Sarabun"/>
                <a:sym typeface="Sarabun"/>
              </a:rPr>
              <a:t>List1 and List2 have elements in common</a:t>
            </a:r>
            <a:endParaRPr>
              <a:latin typeface="Sarabun"/>
              <a:ea typeface="Sarabun"/>
              <a:cs typeface="Sarabun"/>
              <a:sym typeface="Sarabun"/>
            </a:endParaRPr>
          </a:p>
          <a:p>
            <a:pPr marL="1828800" lvl="3" indent="-317500" algn="l" rtl="0">
              <a:spcBef>
                <a:spcPts val="0"/>
              </a:spcBef>
              <a:spcAft>
                <a:spcPts val="0"/>
              </a:spcAft>
              <a:buSzPts val="1400"/>
              <a:buFont typeface="Sarabun"/>
              <a:buChar char="●"/>
            </a:pPr>
            <a:r>
              <a:rPr lang="en">
                <a:latin typeface="Sarabun"/>
                <a:ea typeface="Sarabun"/>
                <a:cs typeface="Sarabun"/>
                <a:sym typeface="Sarabun"/>
              </a:rPr>
              <a:t>1 element</a:t>
            </a:r>
            <a:endParaRPr>
              <a:latin typeface="Sarabun"/>
              <a:ea typeface="Sarabun"/>
              <a:cs typeface="Sarabun"/>
              <a:sym typeface="Sarabun"/>
            </a:endParaRPr>
          </a:p>
          <a:p>
            <a:pPr marL="1828800" lvl="3" indent="-317500" algn="l" rtl="0">
              <a:spcBef>
                <a:spcPts val="0"/>
              </a:spcBef>
              <a:spcAft>
                <a:spcPts val="0"/>
              </a:spcAft>
              <a:buSzPts val="1400"/>
              <a:buFont typeface="Sarabun"/>
              <a:buChar char="●"/>
            </a:pPr>
            <a:r>
              <a:rPr lang="en">
                <a:latin typeface="Sarabun"/>
                <a:ea typeface="Sarabun"/>
                <a:cs typeface="Sarabun"/>
                <a:sym typeface="Sarabun"/>
              </a:rPr>
              <a:t>More than 1 element</a:t>
            </a:r>
            <a:endParaRPr>
              <a:latin typeface="Sarabun"/>
              <a:ea typeface="Sarabun"/>
              <a:cs typeface="Sarabun"/>
              <a:sym typeface="Sarabun"/>
            </a:endParaRPr>
          </a:p>
          <a:p>
            <a:pPr marL="1371600" lvl="2" indent="-317500" algn="l" rtl="0">
              <a:spcBef>
                <a:spcPts val="0"/>
              </a:spcBef>
              <a:spcAft>
                <a:spcPts val="0"/>
              </a:spcAft>
              <a:buSzPts val="1400"/>
              <a:buFont typeface="Sarabun"/>
              <a:buChar char="■"/>
            </a:pPr>
            <a:r>
              <a:rPr lang="en">
                <a:latin typeface="Sarabun"/>
                <a:ea typeface="Sarabun"/>
                <a:cs typeface="Sarabun"/>
                <a:sym typeface="Sarabun"/>
              </a:rPr>
              <a:t>List1 and List2 don't have elements in common</a:t>
            </a:r>
            <a:endParaRPr>
              <a:latin typeface="Sarabun"/>
              <a:ea typeface="Sarabun"/>
              <a:cs typeface="Sarabun"/>
              <a:sym typeface="Sarabu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21"/>
          <p:cNvPicPr preferRelativeResize="0"/>
          <p:nvPr/>
        </p:nvPicPr>
        <p:blipFill>
          <a:blip r:embed="rId3">
            <a:alphaModFix/>
          </a:blip>
          <a:stretch>
            <a:fillRect/>
          </a:stretch>
        </p:blipFill>
        <p:spPr>
          <a:xfrm>
            <a:off x="152400" y="174424"/>
            <a:ext cx="7125673" cy="3653299"/>
          </a:xfrm>
          <a:prstGeom prst="rect">
            <a:avLst/>
          </a:prstGeom>
          <a:noFill/>
          <a:ln>
            <a:noFill/>
          </a:ln>
        </p:spPr>
      </p:pic>
      <p:pic>
        <p:nvPicPr>
          <p:cNvPr id="115" name="Google Shape;115;p21"/>
          <p:cNvPicPr preferRelativeResize="0"/>
          <p:nvPr/>
        </p:nvPicPr>
        <p:blipFill>
          <a:blip r:embed="rId4">
            <a:alphaModFix/>
          </a:blip>
          <a:stretch>
            <a:fillRect/>
          </a:stretch>
        </p:blipFill>
        <p:spPr>
          <a:xfrm>
            <a:off x="3374876" y="3636026"/>
            <a:ext cx="5633823" cy="1507475"/>
          </a:xfrm>
          <a:prstGeom prst="rect">
            <a:avLst/>
          </a:prstGeom>
          <a:noFill/>
          <a:ln>
            <a:noFill/>
          </a:ln>
        </p:spPr>
      </p:pic>
      <p:sp>
        <p:nvSpPr>
          <p:cNvPr id="116" name="Google Shape;116;p21"/>
          <p:cNvSpPr txBox="1"/>
          <p:nvPr/>
        </p:nvSpPr>
        <p:spPr>
          <a:xfrm>
            <a:off x="213575" y="4647950"/>
            <a:ext cx="2862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From Kaner et al. "Domain testing workbook"</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a:t>
            </a:r>
            <a:endParaRPr/>
          </a:p>
        </p:txBody>
      </p:sp>
      <p:pic>
        <p:nvPicPr>
          <p:cNvPr id="122" name="Google Shape;122;p22"/>
          <p:cNvPicPr preferRelativeResize="0"/>
          <p:nvPr/>
        </p:nvPicPr>
        <p:blipFill>
          <a:blip r:embed="rId3">
            <a:alphaModFix/>
          </a:blip>
          <a:stretch>
            <a:fillRect/>
          </a:stretch>
        </p:blipFill>
        <p:spPr>
          <a:xfrm>
            <a:off x="1084800" y="1547175"/>
            <a:ext cx="2824050" cy="2824050"/>
          </a:xfrm>
          <a:prstGeom prst="rect">
            <a:avLst/>
          </a:prstGeom>
          <a:noFill/>
          <a:ln>
            <a:noFill/>
          </a:ln>
        </p:spPr>
      </p:pic>
      <p:sp>
        <p:nvSpPr>
          <p:cNvPr id="123" name="Google Shape;123;p22"/>
          <p:cNvSpPr txBox="1"/>
          <p:nvPr/>
        </p:nvSpPr>
        <p:spPr>
          <a:xfrm>
            <a:off x="5143475" y="1762325"/>
            <a:ext cx="2372100" cy="1339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a:solidFill>
                  <a:schemeClr val="dk1"/>
                </a:solidFill>
                <a:latin typeface="Catamaran"/>
                <a:ea typeface="Catamaran"/>
                <a:cs typeface="Catamaran"/>
                <a:sym typeface="Catamaran"/>
              </a:rPr>
              <a:t>Bugs tend to happen on the boundaries!</a:t>
            </a:r>
            <a:endParaRPr sz="2500">
              <a:solidFill>
                <a:schemeClr val="dk1"/>
              </a:solidFill>
              <a:latin typeface="Catamaran"/>
              <a:ea typeface="Catamaran"/>
              <a:cs typeface="Catamaran"/>
              <a:sym typeface="Catamaran"/>
            </a:endParaRPr>
          </a:p>
        </p:txBody>
      </p:sp>
      <p:sp>
        <p:nvSpPr>
          <p:cNvPr id="124" name="Google Shape;124;p22"/>
          <p:cNvSpPr/>
          <p:nvPr/>
        </p:nvSpPr>
        <p:spPr>
          <a:xfrm>
            <a:off x="2418050" y="2259250"/>
            <a:ext cx="2725389" cy="727511"/>
          </a:xfrm>
          <a:custGeom>
            <a:avLst/>
            <a:gdLst/>
            <a:ahLst/>
            <a:cxnLst/>
            <a:rect l="l" t="t" r="r" b="b"/>
            <a:pathLst>
              <a:path w="84837" h="32377" extrusionOk="0">
                <a:moveTo>
                  <a:pt x="84837" y="0"/>
                </a:moveTo>
                <a:cubicBezTo>
                  <a:pt x="82344" y="786"/>
                  <a:pt x="72884" y="1673"/>
                  <a:pt x="69878" y="4713"/>
                </a:cubicBezTo>
                <a:cubicBezTo>
                  <a:pt x="66873" y="7753"/>
                  <a:pt x="78450" y="13627"/>
                  <a:pt x="66804" y="18238"/>
                </a:cubicBezTo>
                <a:cubicBezTo>
                  <a:pt x="55158" y="22849"/>
                  <a:pt x="11134" y="30021"/>
                  <a:pt x="0" y="32377"/>
                </a:cubicBezTo>
              </a:path>
            </a:pathLst>
          </a:custGeom>
          <a:noFill/>
          <a:ln w="38100" cap="flat" cmpd="sng">
            <a:solidFill>
              <a:schemeClr val="dk1"/>
            </a:solidFill>
            <a:prstDash val="solid"/>
            <a:round/>
            <a:headEnd type="none" w="med" len="med"/>
            <a:tailEnd type="triangle" w="med" len="med"/>
          </a:ln>
        </p:spPr>
        <p:txBody>
          <a:bodyPr/>
          <a:lstStyle/>
          <a:p>
            <a:endParaRPr lang="en-US"/>
          </a:p>
        </p:txBody>
      </p:sp>
      <p:sp>
        <p:nvSpPr>
          <p:cNvPr id="125" name="Google Shape;125;p22"/>
          <p:cNvSpPr txBox="1"/>
          <p:nvPr/>
        </p:nvSpPr>
        <p:spPr>
          <a:xfrm>
            <a:off x="6542750" y="4774200"/>
            <a:ext cx="2537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Catamaran"/>
                <a:ea typeface="Catamaran"/>
                <a:cs typeface="Catamaran"/>
                <a:sym typeface="Catamaran"/>
              </a:rPr>
              <a:t>Effective Software Testing, chapter 2</a:t>
            </a:r>
            <a:endParaRPr sz="1200">
              <a:solidFill>
                <a:schemeClr val="dk1"/>
              </a:solidFill>
              <a:latin typeface="Catamaran"/>
              <a:ea typeface="Catamaran"/>
              <a:cs typeface="Catamaran"/>
              <a:sym typeface="Catamar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a:t>
            </a:r>
            <a:endParaRPr/>
          </a:p>
        </p:txBody>
      </p:sp>
      <p:sp>
        <p:nvSpPr>
          <p:cNvPr id="131" name="Google Shape;131;p23"/>
          <p:cNvSpPr txBox="1"/>
          <p:nvPr/>
        </p:nvSpPr>
        <p:spPr>
          <a:xfrm>
            <a:off x="691600" y="1454925"/>
            <a:ext cx="3084000" cy="1908600"/>
          </a:xfrm>
          <a:prstGeom prst="rect">
            <a:avLst/>
          </a:prstGeom>
          <a:solidFill>
            <a:schemeClr val="lt1"/>
          </a:solidFill>
          <a:ln w="38100" cap="flat" cmpd="sng">
            <a:solidFill>
              <a:srgbClr val="980000"/>
            </a:solidFill>
            <a:prstDash val="dash"/>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600">
                <a:latin typeface="Quicksand"/>
                <a:ea typeface="Quicksand"/>
                <a:cs typeface="Quicksand"/>
                <a:sym typeface="Quicksand"/>
              </a:rPr>
              <a:t>n = random(); // [0,10]</a:t>
            </a:r>
            <a:endParaRPr sz="1600">
              <a:latin typeface="Quicksand"/>
              <a:ea typeface="Quicksand"/>
              <a:cs typeface="Quicksand"/>
              <a:sym typeface="Quicksand"/>
            </a:endParaRPr>
          </a:p>
          <a:p>
            <a:pPr marL="0" lvl="0" indent="0" algn="l" rtl="0">
              <a:spcBef>
                <a:spcPts val="0"/>
              </a:spcBef>
              <a:spcAft>
                <a:spcPts val="0"/>
              </a:spcAft>
              <a:buNone/>
            </a:pPr>
            <a:endParaRPr sz="1600">
              <a:latin typeface="Quicksand"/>
              <a:ea typeface="Quicksand"/>
              <a:cs typeface="Quicksand"/>
              <a:sym typeface="Quicksand"/>
            </a:endParaRPr>
          </a:p>
          <a:p>
            <a:pPr marL="0" lvl="0" indent="0" algn="l" rtl="0">
              <a:spcBef>
                <a:spcPts val="0"/>
              </a:spcBef>
              <a:spcAft>
                <a:spcPts val="0"/>
              </a:spcAft>
              <a:buNone/>
            </a:pPr>
            <a:r>
              <a:rPr lang="en" sz="1600">
                <a:latin typeface="Quicksand"/>
                <a:ea typeface="Quicksand"/>
                <a:cs typeface="Quicksand"/>
                <a:sym typeface="Quicksand"/>
              </a:rPr>
              <a:t>if n &gt; 5 eat </a:t>
            </a:r>
            <a:endParaRPr sz="1600">
              <a:latin typeface="Quicksand"/>
              <a:ea typeface="Quicksand"/>
              <a:cs typeface="Quicksand"/>
              <a:sym typeface="Quicksand"/>
            </a:endParaRPr>
          </a:p>
          <a:p>
            <a:pPr marL="0" lvl="0" indent="0" algn="l" rtl="0">
              <a:spcBef>
                <a:spcPts val="0"/>
              </a:spcBef>
              <a:spcAft>
                <a:spcPts val="0"/>
              </a:spcAft>
              <a:buNone/>
            </a:pPr>
            <a:endParaRPr sz="1600">
              <a:latin typeface="Quicksand"/>
              <a:ea typeface="Quicksand"/>
              <a:cs typeface="Quicksand"/>
              <a:sym typeface="Quicksand"/>
            </a:endParaRPr>
          </a:p>
          <a:p>
            <a:pPr marL="0" lvl="0" indent="0" algn="l" rtl="0">
              <a:spcBef>
                <a:spcPts val="0"/>
              </a:spcBef>
              <a:spcAft>
                <a:spcPts val="0"/>
              </a:spcAft>
              <a:buNone/>
            </a:pPr>
            <a:endParaRPr sz="1600">
              <a:latin typeface="Quicksand"/>
              <a:ea typeface="Quicksand"/>
              <a:cs typeface="Quicksand"/>
              <a:sym typeface="Quicksand"/>
            </a:endParaRPr>
          </a:p>
          <a:p>
            <a:pPr marL="0" lvl="0" indent="0" algn="l" rtl="0">
              <a:spcBef>
                <a:spcPts val="0"/>
              </a:spcBef>
              <a:spcAft>
                <a:spcPts val="0"/>
              </a:spcAft>
              <a:buNone/>
            </a:pPr>
            <a:r>
              <a:rPr lang="en" sz="1600">
                <a:latin typeface="Quicksand"/>
                <a:ea typeface="Quicksand"/>
                <a:cs typeface="Quicksand"/>
                <a:sym typeface="Quicksand"/>
              </a:rPr>
              <a:t>else eat </a:t>
            </a:r>
            <a:endParaRPr sz="1600">
              <a:latin typeface="Quicksand"/>
              <a:ea typeface="Quicksand"/>
              <a:cs typeface="Quicksand"/>
              <a:sym typeface="Quicksand"/>
            </a:endParaRPr>
          </a:p>
          <a:p>
            <a:pPr marL="0" lvl="0" indent="0" algn="l" rtl="0">
              <a:spcBef>
                <a:spcPts val="0"/>
              </a:spcBef>
              <a:spcAft>
                <a:spcPts val="0"/>
              </a:spcAft>
              <a:buNone/>
            </a:pPr>
            <a:endParaRPr sz="1600">
              <a:latin typeface="Quicksand"/>
              <a:ea typeface="Quicksand"/>
              <a:cs typeface="Quicksand"/>
              <a:sym typeface="Quicksand"/>
            </a:endParaRPr>
          </a:p>
        </p:txBody>
      </p:sp>
      <p:pic>
        <p:nvPicPr>
          <p:cNvPr id="132" name="Google Shape;132;p23"/>
          <p:cNvPicPr preferRelativeResize="0"/>
          <p:nvPr/>
        </p:nvPicPr>
        <p:blipFill>
          <a:blip r:embed="rId3">
            <a:alphaModFix/>
          </a:blip>
          <a:stretch>
            <a:fillRect/>
          </a:stretch>
        </p:blipFill>
        <p:spPr>
          <a:xfrm>
            <a:off x="1668725" y="2571750"/>
            <a:ext cx="728824" cy="623675"/>
          </a:xfrm>
          <a:prstGeom prst="rect">
            <a:avLst/>
          </a:prstGeom>
          <a:noFill/>
          <a:ln>
            <a:noFill/>
          </a:ln>
        </p:spPr>
      </p:pic>
      <p:sp>
        <p:nvSpPr>
          <p:cNvPr id="133" name="Google Shape;133;p23"/>
          <p:cNvSpPr txBox="1"/>
          <p:nvPr/>
        </p:nvSpPr>
        <p:spPr>
          <a:xfrm>
            <a:off x="5353550" y="1644475"/>
            <a:ext cx="891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Catamaran"/>
                <a:ea typeface="Catamaran"/>
                <a:cs typeface="Catamaran"/>
                <a:sym typeface="Catamaran"/>
              </a:rPr>
              <a:t>n = 4</a:t>
            </a:r>
            <a:endParaRPr sz="2000">
              <a:solidFill>
                <a:schemeClr val="dk1"/>
              </a:solidFill>
              <a:latin typeface="Catamaran"/>
              <a:ea typeface="Catamaran"/>
              <a:cs typeface="Catamaran"/>
              <a:sym typeface="Catamaran"/>
            </a:endParaRPr>
          </a:p>
        </p:txBody>
      </p:sp>
      <p:pic>
        <p:nvPicPr>
          <p:cNvPr id="134" name="Google Shape;134;p23"/>
          <p:cNvPicPr preferRelativeResize="0"/>
          <p:nvPr/>
        </p:nvPicPr>
        <p:blipFill>
          <a:blip r:embed="rId3">
            <a:alphaModFix/>
          </a:blip>
          <a:stretch>
            <a:fillRect/>
          </a:stretch>
        </p:blipFill>
        <p:spPr>
          <a:xfrm>
            <a:off x="6114225" y="1578937"/>
            <a:ext cx="728824" cy="623675"/>
          </a:xfrm>
          <a:prstGeom prst="rect">
            <a:avLst/>
          </a:prstGeom>
          <a:noFill/>
          <a:ln>
            <a:noFill/>
          </a:ln>
        </p:spPr>
      </p:pic>
      <p:sp>
        <p:nvSpPr>
          <p:cNvPr id="135" name="Google Shape;135;p23"/>
          <p:cNvSpPr txBox="1"/>
          <p:nvPr/>
        </p:nvSpPr>
        <p:spPr>
          <a:xfrm>
            <a:off x="5353550" y="2529475"/>
            <a:ext cx="891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Catamaran"/>
                <a:ea typeface="Catamaran"/>
                <a:cs typeface="Catamaran"/>
                <a:sym typeface="Catamaran"/>
              </a:rPr>
              <a:t>n = 5</a:t>
            </a:r>
            <a:endParaRPr sz="2000">
              <a:solidFill>
                <a:schemeClr val="dk1"/>
              </a:solidFill>
              <a:latin typeface="Catamaran"/>
              <a:ea typeface="Catamaran"/>
              <a:cs typeface="Catamaran"/>
              <a:sym typeface="Catamaran"/>
            </a:endParaRPr>
          </a:p>
        </p:txBody>
      </p:sp>
      <p:pic>
        <p:nvPicPr>
          <p:cNvPr id="136" name="Google Shape;136;p23"/>
          <p:cNvPicPr preferRelativeResize="0"/>
          <p:nvPr/>
        </p:nvPicPr>
        <p:blipFill>
          <a:blip r:embed="rId3">
            <a:alphaModFix/>
          </a:blip>
          <a:stretch>
            <a:fillRect/>
          </a:stretch>
        </p:blipFill>
        <p:spPr>
          <a:xfrm>
            <a:off x="6114225" y="2463937"/>
            <a:ext cx="728824" cy="623675"/>
          </a:xfrm>
          <a:prstGeom prst="rect">
            <a:avLst/>
          </a:prstGeom>
          <a:noFill/>
          <a:ln>
            <a:noFill/>
          </a:ln>
        </p:spPr>
      </p:pic>
      <p:sp>
        <p:nvSpPr>
          <p:cNvPr id="137" name="Google Shape;137;p23"/>
          <p:cNvSpPr txBox="1"/>
          <p:nvPr/>
        </p:nvSpPr>
        <p:spPr>
          <a:xfrm>
            <a:off x="5353550" y="3429075"/>
            <a:ext cx="891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Catamaran"/>
                <a:ea typeface="Catamaran"/>
                <a:cs typeface="Catamaran"/>
                <a:sym typeface="Catamaran"/>
              </a:rPr>
              <a:t>n = 6</a:t>
            </a:r>
            <a:endParaRPr sz="2000">
              <a:solidFill>
                <a:schemeClr val="dk1"/>
              </a:solidFill>
              <a:latin typeface="Catamaran"/>
              <a:ea typeface="Catamaran"/>
              <a:cs typeface="Catamaran"/>
              <a:sym typeface="Catamaran"/>
            </a:endParaRPr>
          </a:p>
        </p:txBody>
      </p:sp>
      <p:pic>
        <p:nvPicPr>
          <p:cNvPr id="138" name="Google Shape;138;p23"/>
          <p:cNvPicPr preferRelativeResize="0"/>
          <p:nvPr/>
        </p:nvPicPr>
        <p:blipFill>
          <a:blip r:embed="rId4">
            <a:alphaModFix/>
          </a:blip>
          <a:stretch>
            <a:fillRect/>
          </a:stretch>
        </p:blipFill>
        <p:spPr>
          <a:xfrm>
            <a:off x="6114225" y="3492125"/>
            <a:ext cx="728825" cy="547888"/>
          </a:xfrm>
          <a:prstGeom prst="rect">
            <a:avLst/>
          </a:prstGeom>
          <a:noFill/>
          <a:ln>
            <a:noFill/>
          </a:ln>
        </p:spPr>
      </p:pic>
      <p:pic>
        <p:nvPicPr>
          <p:cNvPr id="139" name="Google Shape;139;p23"/>
          <p:cNvPicPr preferRelativeResize="0"/>
          <p:nvPr/>
        </p:nvPicPr>
        <p:blipFill>
          <a:blip r:embed="rId4">
            <a:alphaModFix/>
          </a:blip>
          <a:stretch>
            <a:fillRect/>
          </a:stretch>
        </p:blipFill>
        <p:spPr>
          <a:xfrm>
            <a:off x="1869188" y="1887325"/>
            <a:ext cx="728825" cy="547888"/>
          </a:xfrm>
          <a:prstGeom prst="rect">
            <a:avLst/>
          </a:prstGeom>
          <a:noFill/>
          <a:ln>
            <a:noFill/>
          </a:ln>
        </p:spPr>
      </p:pic>
      <p:cxnSp>
        <p:nvCxnSpPr>
          <p:cNvPr id="140" name="Google Shape;140;p23"/>
          <p:cNvCxnSpPr/>
          <p:nvPr/>
        </p:nvCxnSpPr>
        <p:spPr>
          <a:xfrm>
            <a:off x="4677300" y="3258225"/>
            <a:ext cx="3488700" cy="0"/>
          </a:xfrm>
          <a:prstGeom prst="straightConnector1">
            <a:avLst/>
          </a:prstGeom>
          <a:noFill/>
          <a:ln w="38100" cap="flat" cmpd="sng">
            <a:solidFill>
              <a:schemeClr val="dk1"/>
            </a:solidFill>
            <a:prstDash val="lgDashDot"/>
            <a:round/>
            <a:headEnd type="none" w="med" len="med"/>
            <a:tailEnd type="none" w="med" len="med"/>
          </a:ln>
        </p:spPr>
      </p:cxnSp>
      <p:sp>
        <p:nvSpPr>
          <p:cNvPr id="141" name="Google Shape;141;p23"/>
          <p:cNvSpPr txBox="1"/>
          <p:nvPr/>
        </p:nvSpPr>
        <p:spPr>
          <a:xfrm>
            <a:off x="7699875" y="2720300"/>
            <a:ext cx="922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38761D"/>
                </a:solidFill>
                <a:latin typeface="Catamaran"/>
                <a:ea typeface="Catamaran"/>
                <a:cs typeface="Catamaran"/>
                <a:sym typeface="Catamaran"/>
              </a:rPr>
              <a:t>boundary</a:t>
            </a:r>
            <a:endParaRPr>
              <a:solidFill>
                <a:srgbClr val="38761D"/>
              </a:solidFill>
              <a:latin typeface="Catamaran"/>
              <a:ea typeface="Catamaran"/>
              <a:cs typeface="Catamaran"/>
              <a:sym typeface="Catamaran"/>
            </a:endParaRPr>
          </a:p>
        </p:txBody>
      </p:sp>
      <p:sp>
        <p:nvSpPr>
          <p:cNvPr id="142" name="Google Shape;142;p23"/>
          <p:cNvSpPr txBox="1"/>
          <p:nvPr/>
        </p:nvSpPr>
        <p:spPr>
          <a:xfrm>
            <a:off x="2577600" y="4822925"/>
            <a:ext cx="6795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chemeClr val="dk1"/>
                </a:solidFill>
                <a:latin typeface="Catamaran"/>
                <a:ea typeface="Catamaran"/>
                <a:cs typeface="Catamaran"/>
                <a:sym typeface="Catamaran"/>
              </a:rPr>
              <a:t>Jeng, B., &amp; Weyuker, E. J. (1994). A simplified domain-testing strategy. </a:t>
            </a:r>
            <a:r>
              <a:rPr lang="en" sz="800" i="1">
                <a:solidFill>
                  <a:schemeClr val="dk1"/>
                </a:solidFill>
                <a:latin typeface="Catamaran"/>
                <a:ea typeface="Catamaran"/>
                <a:cs typeface="Catamaran"/>
                <a:sym typeface="Catamaran"/>
              </a:rPr>
              <a:t>ACM Transactions on Software Engineering and Methodology (TOSEM)</a:t>
            </a:r>
            <a:r>
              <a:rPr lang="en" sz="800">
                <a:solidFill>
                  <a:schemeClr val="dk1"/>
                </a:solidFill>
                <a:latin typeface="Catamaran"/>
                <a:ea typeface="Catamaran"/>
                <a:cs typeface="Catamaran"/>
                <a:sym typeface="Catamaran"/>
              </a:rPr>
              <a:t>, </a:t>
            </a:r>
            <a:r>
              <a:rPr lang="en" sz="800" i="1">
                <a:solidFill>
                  <a:schemeClr val="dk1"/>
                </a:solidFill>
                <a:latin typeface="Catamaran"/>
                <a:ea typeface="Catamaran"/>
                <a:cs typeface="Catamaran"/>
                <a:sym typeface="Catamaran"/>
              </a:rPr>
              <a:t>3</a:t>
            </a:r>
            <a:r>
              <a:rPr lang="en" sz="800">
                <a:solidFill>
                  <a:schemeClr val="dk1"/>
                </a:solidFill>
                <a:latin typeface="Catamaran"/>
                <a:ea typeface="Catamaran"/>
                <a:cs typeface="Catamaran"/>
                <a:sym typeface="Catamaran"/>
              </a:rPr>
              <a:t>(3), 254-270.</a:t>
            </a:r>
            <a:endParaRPr sz="800">
              <a:solidFill>
                <a:schemeClr val="dk1"/>
              </a:solidFill>
              <a:latin typeface="Catamaran"/>
              <a:ea typeface="Catamaran"/>
              <a:cs typeface="Catamaran"/>
              <a:sym typeface="Catamaran"/>
            </a:endParaRPr>
          </a:p>
        </p:txBody>
      </p:sp>
      <p:sp>
        <p:nvSpPr>
          <p:cNvPr id="143" name="Google Shape;143;p23"/>
          <p:cNvSpPr txBox="1"/>
          <p:nvPr/>
        </p:nvSpPr>
        <p:spPr>
          <a:xfrm>
            <a:off x="870275" y="3921675"/>
            <a:ext cx="34887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a:solidFill>
                  <a:srgbClr val="93C47D"/>
                </a:solidFill>
                <a:latin typeface="Catamaran"/>
                <a:ea typeface="Catamaran"/>
                <a:cs typeface="Catamaran"/>
                <a:sym typeface="Catamaran"/>
              </a:rPr>
              <a:t>This is what you should test!</a:t>
            </a:r>
            <a:endParaRPr sz="2200">
              <a:solidFill>
                <a:srgbClr val="93C47D"/>
              </a:solidFill>
              <a:latin typeface="Catamaran"/>
              <a:ea typeface="Catamaran"/>
              <a:cs typeface="Catamaran"/>
              <a:sym typeface="Catamaran"/>
            </a:endParaRPr>
          </a:p>
        </p:txBody>
      </p:sp>
      <p:sp>
        <p:nvSpPr>
          <p:cNvPr id="144" name="Google Shape;144;p23"/>
          <p:cNvSpPr/>
          <p:nvPr/>
        </p:nvSpPr>
        <p:spPr>
          <a:xfrm rot="588650">
            <a:off x="4197549" y="3363524"/>
            <a:ext cx="326583" cy="757194"/>
          </a:xfrm>
          <a:custGeom>
            <a:avLst/>
            <a:gdLst/>
            <a:ahLst/>
            <a:cxnLst/>
            <a:rect l="l" t="t" r="r" b="b"/>
            <a:pathLst>
              <a:path w="13063" h="30287" extrusionOk="0">
                <a:moveTo>
                  <a:pt x="6507" y="30287"/>
                </a:moveTo>
                <a:cubicBezTo>
                  <a:pt x="7493" y="29707"/>
                  <a:pt x="11613" y="28720"/>
                  <a:pt x="12425" y="26805"/>
                </a:cubicBezTo>
                <a:cubicBezTo>
                  <a:pt x="13237" y="24890"/>
                  <a:pt x="13354" y="21003"/>
                  <a:pt x="11381" y="18798"/>
                </a:cubicBezTo>
                <a:cubicBezTo>
                  <a:pt x="9408" y="16593"/>
                  <a:pt x="2098" y="15956"/>
                  <a:pt x="589" y="13577"/>
                </a:cubicBezTo>
                <a:cubicBezTo>
                  <a:pt x="-919" y="11198"/>
                  <a:pt x="880" y="6788"/>
                  <a:pt x="2330" y="4525"/>
                </a:cubicBezTo>
                <a:cubicBezTo>
                  <a:pt x="3781" y="2262"/>
                  <a:pt x="8132" y="754"/>
                  <a:pt x="9292" y="0"/>
                </a:cubicBezTo>
              </a:path>
            </a:pathLst>
          </a:custGeom>
          <a:noFill/>
          <a:ln w="28575" cap="flat" cmpd="sng">
            <a:solidFill>
              <a:srgbClr val="D9EAD3"/>
            </a:solidFill>
            <a:prstDash val="solid"/>
            <a:round/>
            <a:headEnd type="none" w="med" len="med"/>
            <a:tailEnd type="stealth"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fade">
                                      <p:cBhvr>
                                        <p:cTn id="7" dur="1000"/>
                                        <p:tgtEl>
                                          <p:spTgt spid="133"/>
                                        </p:tgtEl>
                                      </p:cBhvr>
                                    </p:animEffect>
                                  </p:childTnLst>
                                </p:cTn>
                              </p:par>
                              <p:par>
                                <p:cTn id="8" presetID="10" presetClass="entr" presetSubtype="0" fill="hold" nodeType="withEffect">
                                  <p:stCondLst>
                                    <p:cond delay="0"/>
                                  </p:stCondLst>
                                  <p:childTnLst>
                                    <p:set>
                                      <p:cBhvr>
                                        <p:cTn id="9" dur="1" fill="hold">
                                          <p:stCondLst>
                                            <p:cond delay="0"/>
                                          </p:stCondLst>
                                        </p:cTn>
                                        <p:tgtEl>
                                          <p:spTgt spid="134"/>
                                        </p:tgtEl>
                                        <p:attrNameLst>
                                          <p:attrName>style.visibility</p:attrName>
                                        </p:attrNameLst>
                                      </p:cBhvr>
                                      <p:to>
                                        <p:strVal val="visible"/>
                                      </p:to>
                                    </p:set>
                                    <p:animEffect transition="in" filter="fade">
                                      <p:cBhvr>
                                        <p:cTn id="10" dur="1000"/>
                                        <p:tgtEl>
                                          <p:spTgt spid="13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5"/>
                                        </p:tgtEl>
                                        <p:attrNameLst>
                                          <p:attrName>style.visibility</p:attrName>
                                        </p:attrNameLst>
                                      </p:cBhvr>
                                      <p:to>
                                        <p:strVal val="visible"/>
                                      </p:to>
                                    </p:set>
                                    <p:animEffect transition="in" filter="fade">
                                      <p:cBhvr>
                                        <p:cTn id="15" dur="1000"/>
                                        <p:tgtEl>
                                          <p:spTgt spid="135"/>
                                        </p:tgtEl>
                                      </p:cBhvr>
                                    </p:animEffect>
                                  </p:childTnLst>
                                </p:cTn>
                              </p:par>
                              <p:par>
                                <p:cTn id="16" presetID="10" presetClass="entr" presetSubtype="0" fill="hold" nodeType="withEffect">
                                  <p:stCondLst>
                                    <p:cond delay="0"/>
                                  </p:stCondLst>
                                  <p:childTnLst>
                                    <p:set>
                                      <p:cBhvr>
                                        <p:cTn id="17" dur="1" fill="hold">
                                          <p:stCondLst>
                                            <p:cond delay="0"/>
                                          </p:stCondLst>
                                        </p:cTn>
                                        <p:tgtEl>
                                          <p:spTgt spid="136"/>
                                        </p:tgtEl>
                                        <p:attrNameLst>
                                          <p:attrName>style.visibility</p:attrName>
                                        </p:attrNameLst>
                                      </p:cBhvr>
                                      <p:to>
                                        <p:strVal val="visible"/>
                                      </p:to>
                                    </p:set>
                                    <p:animEffect transition="in" filter="fade">
                                      <p:cBhvr>
                                        <p:cTn id="18" dur="1000"/>
                                        <p:tgtEl>
                                          <p:spTgt spid="1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7"/>
                                        </p:tgtEl>
                                        <p:attrNameLst>
                                          <p:attrName>style.visibility</p:attrName>
                                        </p:attrNameLst>
                                      </p:cBhvr>
                                      <p:to>
                                        <p:strVal val="visible"/>
                                      </p:to>
                                    </p:set>
                                    <p:animEffect transition="in" filter="fade">
                                      <p:cBhvr>
                                        <p:cTn id="23" dur="1000"/>
                                        <p:tgtEl>
                                          <p:spTgt spid="137"/>
                                        </p:tgtEl>
                                      </p:cBhvr>
                                    </p:animEffect>
                                  </p:childTnLst>
                                </p:cTn>
                              </p:par>
                              <p:par>
                                <p:cTn id="24" presetID="10" presetClass="entr" presetSubtype="0" fill="hold" nodeType="withEffect">
                                  <p:stCondLst>
                                    <p:cond delay="0"/>
                                  </p:stCondLst>
                                  <p:childTnLst>
                                    <p:set>
                                      <p:cBhvr>
                                        <p:cTn id="25" dur="1" fill="hold">
                                          <p:stCondLst>
                                            <p:cond delay="0"/>
                                          </p:stCondLst>
                                        </p:cTn>
                                        <p:tgtEl>
                                          <p:spTgt spid="138"/>
                                        </p:tgtEl>
                                        <p:attrNameLst>
                                          <p:attrName>style.visibility</p:attrName>
                                        </p:attrNameLst>
                                      </p:cBhvr>
                                      <p:to>
                                        <p:strVal val="visible"/>
                                      </p:to>
                                    </p:set>
                                    <p:animEffect transition="in" filter="fade">
                                      <p:cBhvr>
                                        <p:cTn id="26" dur="1000"/>
                                        <p:tgtEl>
                                          <p:spTgt spid="1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1"/>
                                        </p:tgtEl>
                                        <p:attrNameLst>
                                          <p:attrName>style.visibility</p:attrName>
                                        </p:attrNameLst>
                                      </p:cBhvr>
                                      <p:to>
                                        <p:strVal val="visible"/>
                                      </p:to>
                                    </p:set>
                                    <p:animEffect transition="in" filter="fade">
                                      <p:cBhvr>
                                        <p:cTn id="31" dur="1000"/>
                                        <p:tgtEl>
                                          <p:spTgt spid="141"/>
                                        </p:tgtEl>
                                      </p:cBhvr>
                                    </p:animEffect>
                                  </p:childTnLst>
                                </p:cTn>
                              </p:par>
                              <p:par>
                                <p:cTn id="32" presetID="10" presetClass="entr" presetSubtype="0" fill="hold" nodeType="withEffect">
                                  <p:stCondLst>
                                    <p:cond delay="0"/>
                                  </p:stCondLst>
                                  <p:childTnLst>
                                    <p:set>
                                      <p:cBhvr>
                                        <p:cTn id="33" dur="1" fill="hold">
                                          <p:stCondLst>
                                            <p:cond delay="0"/>
                                          </p:stCondLst>
                                        </p:cTn>
                                        <p:tgtEl>
                                          <p:spTgt spid="140"/>
                                        </p:tgtEl>
                                        <p:attrNameLst>
                                          <p:attrName>style.visibility</p:attrName>
                                        </p:attrNameLst>
                                      </p:cBhvr>
                                      <p:to>
                                        <p:strVal val="visible"/>
                                      </p:to>
                                    </p:set>
                                    <p:animEffect transition="in" filter="fade">
                                      <p:cBhvr>
                                        <p:cTn id="34" dur="1000"/>
                                        <p:tgtEl>
                                          <p:spTgt spid="14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3"/>
                                        </p:tgtEl>
                                        <p:attrNameLst>
                                          <p:attrName>style.visibility</p:attrName>
                                        </p:attrNameLst>
                                      </p:cBhvr>
                                      <p:to>
                                        <p:strVal val="visible"/>
                                      </p:to>
                                    </p:set>
                                    <p:animEffect transition="in" filter="fade">
                                      <p:cBhvr>
                                        <p:cTn id="39" dur="1000"/>
                                        <p:tgtEl>
                                          <p:spTgt spid="143"/>
                                        </p:tgtEl>
                                      </p:cBhvr>
                                    </p:animEffect>
                                  </p:childTnLst>
                                </p:cTn>
                              </p:par>
                              <p:par>
                                <p:cTn id="40" presetID="10" presetClass="entr" presetSubtype="0" fill="hold" nodeType="withEffect">
                                  <p:stCondLst>
                                    <p:cond delay="0"/>
                                  </p:stCondLst>
                                  <p:childTnLst>
                                    <p:set>
                                      <p:cBhvr>
                                        <p:cTn id="41" dur="1" fill="hold">
                                          <p:stCondLst>
                                            <p:cond delay="0"/>
                                          </p:stCondLst>
                                        </p:cTn>
                                        <p:tgtEl>
                                          <p:spTgt spid="144"/>
                                        </p:tgtEl>
                                        <p:attrNameLst>
                                          <p:attrName>style.visibility</p:attrName>
                                        </p:attrNameLst>
                                      </p:cBhvr>
                                      <p:to>
                                        <p:strVal val="visible"/>
                                      </p:to>
                                    </p:set>
                                    <p:animEffect transition="in" filter="fade">
                                      <p:cBhvr>
                                        <p:cTn id="42" dur="10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 question 1</a:t>
            </a:r>
            <a:endParaRPr/>
          </a:p>
        </p:txBody>
      </p:sp>
      <p:sp>
        <p:nvSpPr>
          <p:cNvPr id="150" name="Google Shape;150;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Condition: value &gt; 100</a:t>
            </a:r>
            <a:endParaRPr/>
          </a:p>
          <a:p>
            <a:pPr marL="914400" lvl="1" indent="-317500" algn="l" rtl="0">
              <a:spcBef>
                <a:spcPts val="0"/>
              </a:spcBef>
              <a:spcAft>
                <a:spcPts val="0"/>
              </a:spcAft>
              <a:buSzPts val="1400"/>
              <a:buChar char="○"/>
            </a:pPr>
            <a:r>
              <a:rPr lang="en"/>
              <a:t>What are the on and off points?</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en"/>
              <a:t>Time: 2 minutes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 question 1</a:t>
            </a:r>
            <a:endParaRPr/>
          </a:p>
        </p:txBody>
      </p:sp>
      <p:sp>
        <p:nvSpPr>
          <p:cNvPr id="156" name="Google Shape;156;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Condition: value &gt; 100</a:t>
            </a:r>
            <a:endParaRPr/>
          </a:p>
          <a:p>
            <a:pPr marL="914400" lvl="1" indent="-317500" algn="l" rtl="0">
              <a:spcBef>
                <a:spcPts val="0"/>
              </a:spcBef>
              <a:spcAft>
                <a:spcPts val="0"/>
              </a:spcAft>
              <a:buSzPts val="1400"/>
              <a:buChar char="○"/>
            </a:pPr>
            <a:r>
              <a:rPr lang="en"/>
              <a:t>What are the on and off points?</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en">
                <a:solidFill>
                  <a:srgbClr val="FF0000"/>
                </a:solidFill>
              </a:rPr>
              <a:t>On point = 100</a:t>
            </a:r>
            <a:r>
              <a:rPr lang="en"/>
              <a:t> (always the value in the condition)</a:t>
            </a:r>
            <a:endParaRPr/>
          </a:p>
          <a:p>
            <a:pPr marL="457200" lvl="0" indent="-342900" algn="l" rtl="0">
              <a:spcBef>
                <a:spcPts val="0"/>
              </a:spcBef>
              <a:spcAft>
                <a:spcPts val="0"/>
              </a:spcAft>
              <a:buSzPts val="1800"/>
              <a:buChar char="●"/>
            </a:pPr>
            <a:r>
              <a:rPr lang="en"/>
              <a:t>The on-point makes the condition </a:t>
            </a:r>
            <a:r>
              <a:rPr lang="en" b="1"/>
              <a:t>false</a:t>
            </a:r>
            <a:r>
              <a:rPr lang="en"/>
              <a:t> ((100 &gt; 100) == false), therefore the off-point should make the condition </a:t>
            </a:r>
            <a:r>
              <a:rPr lang="en" b="1"/>
              <a:t>true</a:t>
            </a:r>
            <a:r>
              <a:rPr lang="en"/>
              <a:t>.</a:t>
            </a:r>
            <a:endParaRPr/>
          </a:p>
          <a:p>
            <a:pPr marL="457200" lvl="0" indent="-342900" algn="l" rtl="0">
              <a:spcBef>
                <a:spcPts val="0"/>
              </a:spcBef>
              <a:spcAft>
                <a:spcPts val="0"/>
              </a:spcAft>
              <a:buClr>
                <a:srgbClr val="FF0000"/>
              </a:buClr>
              <a:buSzPts val="1800"/>
              <a:buChar char="●"/>
            </a:pPr>
            <a:r>
              <a:rPr lang="en">
                <a:solidFill>
                  <a:srgbClr val="FF0000"/>
                </a:solidFill>
              </a:rPr>
              <a:t>Off point = 101</a:t>
            </a:r>
            <a:endParaRPr>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 question 2</a:t>
            </a:r>
            <a:endParaRPr/>
          </a:p>
        </p:txBody>
      </p:sp>
      <p:sp>
        <p:nvSpPr>
          <p:cNvPr id="162" name="Google Shape;162;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Condition: value &gt;= 101</a:t>
            </a:r>
            <a:endParaRPr/>
          </a:p>
          <a:p>
            <a:pPr marL="914400" lvl="1" indent="-317500" algn="l" rtl="0">
              <a:spcBef>
                <a:spcPts val="0"/>
              </a:spcBef>
              <a:spcAft>
                <a:spcPts val="0"/>
              </a:spcAft>
              <a:buSzPts val="1400"/>
              <a:buChar char="○"/>
            </a:pPr>
            <a:r>
              <a:rPr lang="en"/>
              <a:t>What are the on and off points?</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en"/>
              <a:t>Time: 2 minutes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 question 2</a:t>
            </a:r>
            <a:endParaRPr/>
          </a:p>
        </p:txBody>
      </p:sp>
      <p:sp>
        <p:nvSpPr>
          <p:cNvPr id="168" name="Google Shape;168;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Condition: value &gt;= 101</a:t>
            </a:r>
            <a:endParaRPr/>
          </a:p>
          <a:p>
            <a:pPr marL="914400" lvl="1" indent="-317500" algn="l" rtl="0">
              <a:spcBef>
                <a:spcPts val="0"/>
              </a:spcBef>
              <a:spcAft>
                <a:spcPts val="0"/>
              </a:spcAft>
              <a:buSzPts val="1400"/>
              <a:buChar char="○"/>
            </a:pPr>
            <a:r>
              <a:rPr lang="en"/>
              <a:t>What are the on and off points?</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en">
                <a:solidFill>
                  <a:srgbClr val="FF0000"/>
                </a:solidFill>
              </a:rPr>
              <a:t>On point = 101</a:t>
            </a:r>
            <a:r>
              <a:rPr lang="en"/>
              <a:t> (always the value in the condition)</a:t>
            </a:r>
            <a:endParaRPr/>
          </a:p>
          <a:p>
            <a:pPr marL="457200" lvl="0" indent="-342900" algn="l" rtl="0">
              <a:spcBef>
                <a:spcPts val="0"/>
              </a:spcBef>
              <a:spcAft>
                <a:spcPts val="0"/>
              </a:spcAft>
              <a:buSzPts val="1800"/>
              <a:buChar char="●"/>
            </a:pPr>
            <a:r>
              <a:rPr lang="en"/>
              <a:t>The on-point makes the condition </a:t>
            </a:r>
            <a:r>
              <a:rPr lang="en" b="1"/>
              <a:t>true</a:t>
            </a:r>
            <a:r>
              <a:rPr lang="en"/>
              <a:t> ((101 &gt;= 101) == true), therefore the off-point should make the condition </a:t>
            </a:r>
            <a:r>
              <a:rPr lang="en" b="1"/>
              <a:t>false</a:t>
            </a:r>
            <a:r>
              <a:rPr lang="en"/>
              <a:t>.</a:t>
            </a:r>
            <a:endParaRPr/>
          </a:p>
          <a:p>
            <a:pPr marL="457200" lvl="0" indent="-342900" algn="l" rtl="0">
              <a:spcBef>
                <a:spcPts val="0"/>
              </a:spcBef>
              <a:spcAft>
                <a:spcPts val="0"/>
              </a:spcAft>
              <a:buClr>
                <a:srgbClr val="FF0000"/>
              </a:buClr>
              <a:buSzPts val="1800"/>
              <a:buChar char="●"/>
            </a:pPr>
            <a:r>
              <a:rPr lang="en">
                <a:solidFill>
                  <a:srgbClr val="FF0000"/>
                </a:solidFill>
              </a:rPr>
              <a:t>Off point = 100</a:t>
            </a:r>
            <a:endParaRPr>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 question 3</a:t>
            </a:r>
            <a:endParaRPr/>
          </a:p>
        </p:txBody>
      </p:sp>
      <p:sp>
        <p:nvSpPr>
          <p:cNvPr id="174" name="Google Shape;174;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Condition: value == 100</a:t>
            </a:r>
            <a:endParaRPr/>
          </a:p>
          <a:p>
            <a:pPr marL="914400" lvl="1" indent="-317500" algn="l" rtl="0">
              <a:spcBef>
                <a:spcPts val="0"/>
              </a:spcBef>
              <a:spcAft>
                <a:spcPts val="0"/>
              </a:spcAft>
              <a:buSzPts val="1400"/>
              <a:buChar char="○"/>
            </a:pPr>
            <a:r>
              <a:rPr lang="en"/>
              <a:t>What are the on and off points?</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en"/>
              <a:t>Time: 2 minutes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 question 3</a:t>
            </a:r>
            <a:endParaRPr/>
          </a:p>
        </p:txBody>
      </p:sp>
      <p:sp>
        <p:nvSpPr>
          <p:cNvPr id="180" name="Google Shape;180;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Condition: value == 100</a:t>
            </a:r>
            <a:endParaRPr/>
          </a:p>
          <a:p>
            <a:pPr marL="914400" lvl="1" indent="-317500" algn="l" rtl="0">
              <a:spcBef>
                <a:spcPts val="0"/>
              </a:spcBef>
              <a:spcAft>
                <a:spcPts val="0"/>
              </a:spcAft>
              <a:buSzPts val="1400"/>
              <a:buChar char="○"/>
            </a:pPr>
            <a:r>
              <a:rPr lang="en"/>
              <a:t>What are the on and off points?</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en">
                <a:solidFill>
                  <a:srgbClr val="FF0000"/>
                </a:solidFill>
              </a:rPr>
              <a:t>On point = 100</a:t>
            </a:r>
            <a:r>
              <a:rPr lang="en"/>
              <a:t> (always the value in the condition)</a:t>
            </a:r>
            <a:endParaRPr/>
          </a:p>
          <a:p>
            <a:pPr marL="457200" lvl="0" indent="-342900" algn="l" rtl="0">
              <a:spcBef>
                <a:spcPts val="0"/>
              </a:spcBef>
              <a:spcAft>
                <a:spcPts val="0"/>
              </a:spcAft>
              <a:buSzPts val="1800"/>
              <a:buChar char="●"/>
            </a:pPr>
            <a:r>
              <a:rPr lang="en"/>
              <a:t>The on-point makes the condition true.</a:t>
            </a:r>
            <a:endParaRPr/>
          </a:p>
          <a:p>
            <a:pPr marL="457200" lvl="0" indent="-342900" algn="l" rtl="0">
              <a:spcBef>
                <a:spcPts val="0"/>
              </a:spcBef>
              <a:spcAft>
                <a:spcPts val="0"/>
              </a:spcAft>
              <a:buSzPts val="1800"/>
              <a:buChar char="●"/>
            </a:pPr>
            <a:r>
              <a:rPr lang="en"/>
              <a:t>There are two off-points!</a:t>
            </a:r>
            <a:endParaRPr/>
          </a:p>
          <a:p>
            <a:pPr marL="457200" lvl="0" indent="-342900" algn="l" rtl="0">
              <a:spcBef>
                <a:spcPts val="0"/>
              </a:spcBef>
              <a:spcAft>
                <a:spcPts val="0"/>
              </a:spcAft>
              <a:buClr>
                <a:srgbClr val="FF0000"/>
              </a:buClr>
              <a:buSzPts val="1800"/>
              <a:buChar char="●"/>
            </a:pPr>
            <a:r>
              <a:rPr lang="en">
                <a:solidFill>
                  <a:srgbClr val="FF0000"/>
                </a:solidFill>
              </a:rPr>
              <a:t>Off point = 101 and 99</a:t>
            </a:r>
            <a:endParaRPr>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 question 4</a:t>
            </a:r>
            <a:endParaRPr/>
          </a:p>
        </p:txBody>
      </p:sp>
      <p:sp>
        <p:nvSpPr>
          <p:cNvPr id="186" name="Google Shape;186;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Condition: value &gt; n + 1</a:t>
            </a:r>
            <a:endParaRPr/>
          </a:p>
          <a:p>
            <a:pPr marL="914400" lvl="1" indent="-317500" algn="l" rtl="0">
              <a:spcBef>
                <a:spcPts val="0"/>
              </a:spcBef>
              <a:spcAft>
                <a:spcPts val="0"/>
              </a:spcAft>
              <a:buSzPts val="1400"/>
              <a:buChar char="○"/>
            </a:pPr>
            <a:r>
              <a:rPr lang="en"/>
              <a:t>What are the on and off points?</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en"/>
              <a:t>Time: 2 minutes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 question 4</a:t>
            </a:r>
            <a:endParaRPr/>
          </a:p>
        </p:txBody>
      </p:sp>
      <p:sp>
        <p:nvSpPr>
          <p:cNvPr id="192" name="Google Shape;192;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Condition: value &gt; n + 1</a:t>
            </a:r>
            <a:endParaRPr/>
          </a:p>
          <a:p>
            <a:pPr marL="914400" lvl="1" indent="-317500" algn="l" rtl="0">
              <a:spcBef>
                <a:spcPts val="0"/>
              </a:spcBef>
              <a:spcAft>
                <a:spcPts val="0"/>
              </a:spcAft>
              <a:buSzPts val="1400"/>
              <a:buChar char="○"/>
            </a:pPr>
            <a:r>
              <a:rPr lang="en"/>
              <a:t>What are the on and off points?</a:t>
            </a:r>
            <a:endParaRPr/>
          </a:p>
          <a:p>
            <a:pPr marL="0" lvl="0" indent="0" algn="l" rtl="0">
              <a:spcBef>
                <a:spcPts val="1200"/>
              </a:spcBef>
              <a:spcAft>
                <a:spcPts val="0"/>
              </a:spcAft>
              <a:buNone/>
            </a:pPr>
            <a:endParaRPr>
              <a:solidFill>
                <a:srgbClr val="FF0000"/>
              </a:solidFill>
            </a:endParaRPr>
          </a:p>
          <a:p>
            <a:pPr marL="457200" lvl="0" indent="-342900" algn="l" rtl="0">
              <a:spcBef>
                <a:spcPts val="1200"/>
              </a:spcBef>
              <a:spcAft>
                <a:spcPts val="0"/>
              </a:spcAft>
              <a:buSzPts val="1800"/>
              <a:buChar char="●"/>
            </a:pPr>
            <a:r>
              <a:rPr lang="en">
                <a:solidFill>
                  <a:srgbClr val="FF0000"/>
                </a:solidFill>
              </a:rPr>
              <a:t>On point = n + 1</a:t>
            </a:r>
            <a:r>
              <a:rPr lang="en"/>
              <a:t> (always the value in the condition)</a:t>
            </a:r>
            <a:endParaRPr/>
          </a:p>
          <a:p>
            <a:pPr marL="457200" lvl="0" indent="-342900" algn="l" rtl="0">
              <a:spcBef>
                <a:spcPts val="0"/>
              </a:spcBef>
              <a:spcAft>
                <a:spcPts val="0"/>
              </a:spcAft>
              <a:buSzPts val="1800"/>
              <a:buChar char="●"/>
            </a:pPr>
            <a:r>
              <a:rPr lang="en"/>
              <a:t>The on-point makes the condition false (n + 1 &gt; n + 1 == false).</a:t>
            </a:r>
            <a:endParaRPr/>
          </a:p>
          <a:p>
            <a:pPr marL="457200" lvl="0" indent="-342900" algn="l" rtl="0">
              <a:spcBef>
                <a:spcPts val="0"/>
              </a:spcBef>
              <a:spcAft>
                <a:spcPts val="0"/>
              </a:spcAft>
              <a:buSzPts val="1800"/>
              <a:buChar char="●"/>
            </a:pPr>
            <a:r>
              <a:rPr lang="en"/>
              <a:t>The off-point should make the condition true</a:t>
            </a:r>
            <a:endParaRPr/>
          </a:p>
          <a:p>
            <a:pPr marL="457200" lvl="0" indent="-342900" algn="l" rtl="0">
              <a:spcBef>
                <a:spcPts val="0"/>
              </a:spcBef>
              <a:spcAft>
                <a:spcPts val="0"/>
              </a:spcAft>
              <a:buClr>
                <a:srgbClr val="FF0000"/>
              </a:buClr>
              <a:buSzPts val="1800"/>
              <a:buChar char="●"/>
            </a:pPr>
            <a:r>
              <a:rPr lang="en">
                <a:solidFill>
                  <a:srgbClr val="FF0000"/>
                </a:solidFill>
              </a:rPr>
              <a:t>Off point = (n + 1) + 1</a:t>
            </a:r>
            <a:endParaRPr>
              <a:solidFill>
                <a:srgbClr val="FF0000"/>
              </a:solidFill>
            </a:endParaRPr>
          </a:p>
          <a:p>
            <a:pPr marL="457200" lvl="0" indent="-342900" algn="l" rtl="0">
              <a:spcBef>
                <a:spcPts val="0"/>
              </a:spcBef>
              <a:spcAft>
                <a:spcPts val="0"/>
              </a:spcAft>
              <a:buSzPts val="1800"/>
              <a:buChar char="●"/>
            </a:pPr>
            <a:r>
              <a:rPr lang="en"/>
              <a:t>If n is an input parameter, then, you would pick any "n" and then "n+1".</a:t>
            </a:r>
            <a:endParaRPr>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 floating-point numbers</a:t>
            </a:r>
            <a:endParaRPr/>
          </a:p>
        </p:txBody>
      </p:sp>
      <p:sp>
        <p:nvSpPr>
          <p:cNvPr id="198" name="Google Shape;198;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Condition: value &lt;= 2.0</a:t>
            </a:r>
            <a:endParaRPr/>
          </a:p>
          <a:p>
            <a:pPr marL="914400" lvl="1" indent="-317500" algn="l" rtl="0">
              <a:spcBef>
                <a:spcPts val="0"/>
              </a:spcBef>
              <a:spcAft>
                <a:spcPts val="0"/>
              </a:spcAft>
              <a:buSzPts val="1400"/>
              <a:buChar char="○"/>
            </a:pPr>
            <a:r>
              <a:rPr lang="en"/>
              <a:t>What are the on and off points?</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en"/>
              <a:t>Time: 2 minutes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Boundary testing: floating-point numbers</a:t>
            </a:r>
            <a:endParaRPr/>
          </a:p>
        </p:txBody>
      </p:sp>
      <p:sp>
        <p:nvSpPr>
          <p:cNvPr id="204" name="Google Shape;204;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Condition: value &lt;= 2.0</a:t>
            </a:r>
            <a:endParaRPr/>
          </a:p>
          <a:p>
            <a:pPr marL="914400" lvl="1" indent="-317500" algn="l" rtl="0">
              <a:spcBef>
                <a:spcPts val="0"/>
              </a:spcBef>
              <a:spcAft>
                <a:spcPts val="0"/>
              </a:spcAft>
              <a:buSzPts val="1400"/>
              <a:buChar char="○"/>
            </a:pPr>
            <a:r>
              <a:rPr lang="en"/>
              <a:t>What are the on and off points?</a:t>
            </a:r>
            <a:endParaRPr/>
          </a:p>
          <a:p>
            <a:pPr marL="457200" lvl="0" indent="-342900" algn="l" rtl="0">
              <a:spcBef>
                <a:spcPts val="0"/>
              </a:spcBef>
              <a:spcAft>
                <a:spcPts val="0"/>
              </a:spcAft>
              <a:buSzPts val="1800"/>
              <a:buChar char="●"/>
            </a:pPr>
            <a:r>
              <a:rPr lang="en"/>
              <a:t>Remember floating-point precision errors. </a:t>
            </a:r>
            <a:endParaRPr/>
          </a:p>
          <a:p>
            <a:pPr marL="457200" lvl="0" indent="-342900" algn="l" rtl="0">
              <a:spcBef>
                <a:spcPts val="0"/>
              </a:spcBef>
              <a:spcAft>
                <a:spcPts val="0"/>
              </a:spcAft>
              <a:buSzPts val="1800"/>
              <a:buChar char="●"/>
            </a:pPr>
            <a:r>
              <a:rPr lang="en"/>
              <a:t>It depends on the context!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34"/>
          <p:cNvPicPr preferRelativeResize="0"/>
          <p:nvPr/>
        </p:nvPicPr>
        <p:blipFill>
          <a:blip r:embed="rId3">
            <a:alphaModFix/>
          </a:blip>
          <a:stretch>
            <a:fillRect/>
          </a:stretch>
        </p:blipFill>
        <p:spPr>
          <a:xfrm>
            <a:off x="4925073" y="262325"/>
            <a:ext cx="4218924" cy="4290924"/>
          </a:xfrm>
          <a:prstGeom prst="rect">
            <a:avLst/>
          </a:prstGeom>
          <a:noFill/>
          <a:ln>
            <a:noFill/>
          </a:ln>
        </p:spPr>
      </p:pic>
      <p:sp>
        <p:nvSpPr>
          <p:cNvPr id="210" name="Google Shape;210;p34"/>
          <p:cNvSpPr txBox="1">
            <a:spLocks noGrp="1"/>
          </p:cNvSpPr>
          <p:nvPr>
            <p:ph type="title"/>
          </p:nvPr>
        </p:nvSpPr>
        <p:spPr>
          <a:xfrm>
            <a:off x="311700" y="96875"/>
            <a:ext cx="6602400" cy="75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Boundary testing: floating-point numbers</a:t>
            </a:r>
            <a:endParaRPr/>
          </a:p>
        </p:txBody>
      </p:sp>
      <p:sp>
        <p:nvSpPr>
          <p:cNvPr id="211" name="Google Shape;211;p34"/>
          <p:cNvSpPr txBox="1">
            <a:spLocks noGrp="1"/>
          </p:cNvSpPr>
          <p:nvPr>
            <p:ph type="body" idx="1"/>
          </p:nvPr>
        </p:nvSpPr>
        <p:spPr>
          <a:xfrm>
            <a:off x="311700" y="1096150"/>
            <a:ext cx="4763400" cy="3663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700"/>
              <a:t>Example context from a programming course: </a:t>
            </a:r>
            <a:br>
              <a:rPr lang="en" sz="1700"/>
            </a:br>
            <a:r>
              <a:rPr lang="en" sz="1700"/>
              <a:t>“In this assignment, you will create a few classes representing 2D objects. They will have </a:t>
            </a:r>
            <a:r>
              <a:rPr lang="en" sz="1700">
                <a:latin typeface="Courier New"/>
                <a:ea typeface="Courier New"/>
                <a:cs typeface="Courier New"/>
                <a:sym typeface="Courier New"/>
              </a:rPr>
              <a:t>contains</a:t>
            </a:r>
            <a:r>
              <a:rPr lang="en" sz="1700"/>
              <a:t> methods that indicate whether one shape completely contains another shape. If we say "A contains B", we mean that the shape B is completely contained within A. In other words, it means that B is inside A. (This includes the edges. So if A is a rectangle with its lower left at (0.0, 0.0) and B is a point at (0.0, 0.0), we consider A to contain B.)”</a:t>
            </a:r>
            <a:endParaRPr sz="2600"/>
          </a:p>
        </p:txBody>
      </p:sp>
      <p:sp>
        <p:nvSpPr>
          <p:cNvPr id="212" name="Google Shape;212;p34"/>
          <p:cNvSpPr txBox="1"/>
          <p:nvPr/>
        </p:nvSpPr>
        <p:spPr>
          <a:xfrm>
            <a:off x="5134125" y="4309675"/>
            <a:ext cx="3879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t>Does the circle contain the rectangle?</a:t>
            </a:r>
            <a:endParaRPr sz="16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7"/>
          <p:cNvSpPr txBox="1">
            <a:spLocks noGrp="1"/>
          </p:cNvSpPr>
          <p:nvPr>
            <p:ph type="title"/>
          </p:nvPr>
        </p:nvSpPr>
        <p:spPr>
          <a:xfrm>
            <a:off x="311700" y="445025"/>
            <a:ext cx="8520600" cy="44100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latin typeface="Sarabun"/>
                <a:ea typeface="Sarabun"/>
                <a:cs typeface="Sarabun"/>
                <a:sym typeface="Sarabun"/>
              </a:rPr>
              <a:t>Time for Q&amp;A!</a:t>
            </a:r>
            <a:endParaRPr>
              <a:latin typeface="Sarabun"/>
              <a:ea typeface="Sarabun"/>
              <a:cs typeface="Sarabun"/>
              <a:sym typeface="Sarabu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35649-71C8-3808-375E-2A403E746277}"/>
              </a:ext>
            </a:extLst>
          </p:cNvPr>
          <p:cNvSpPr>
            <a:spLocks noGrp="1"/>
          </p:cNvSpPr>
          <p:nvPr>
            <p:ph type="title"/>
          </p:nvPr>
        </p:nvSpPr>
        <p:spPr/>
        <p:txBody>
          <a:bodyPr>
            <a:normAutofit fontScale="90000"/>
          </a:bodyPr>
          <a:lstStyle/>
          <a:p>
            <a:r>
              <a:rPr lang="en-US" dirty="0"/>
              <a:t>Input Space Coverage (ISP)</a:t>
            </a:r>
          </a:p>
        </p:txBody>
      </p:sp>
      <p:sp>
        <p:nvSpPr>
          <p:cNvPr id="3" name="Text Placeholder 2">
            <a:extLst>
              <a:ext uri="{FF2B5EF4-FFF2-40B4-BE49-F238E27FC236}">
                <a16:creationId xmlns:a16="http://schemas.microsoft.com/office/drawing/2014/main" id="{41F4FC71-AAFF-F201-CA3E-2EF1C7B6F20D}"/>
              </a:ext>
            </a:extLst>
          </p:cNvPr>
          <p:cNvSpPr>
            <a:spLocks noGrp="1"/>
          </p:cNvSpPr>
          <p:nvPr>
            <p:ph type="body" idx="1"/>
          </p:nvPr>
        </p:nvSpPr>
        <p:spPr/>
        <p:txBody>
          <a:bodyPr/>
          <a:lstStyle/>
          <a:p>
            <a:r>
              <a:rPr lang="en-US" dirty="0"/>
              <a:t>Equally applicable at several levels of testing</a:t>
            </a:r>
          </a:p>
          <a:p>
            <a:pPr lvl="1"/>
            <a:r>
              <a:rPr lang="en-US" dirty="0"/>
              <a:t>Unit</a:t>
            </a:r>
          </a:p>
          <a:p>
            <a:pPr lvl="1"/>
            <a:r>
              <a:rPr lang="en-US" dirty="0"/>
              <a:t>Integration</a:t>
            </a:r>
          </a:p>
          <a:p>
            <a:pPr lvl="1"/>
            <a:r>
              <a:rPr lang="en-US" dirty="0"/>
              <a:t>System</a:t>
            </a:r>
          </a:p>
          <a:p>
            <a:r>
              <a:rPr lang="en-US" dirty="0"/>
              <a:t>Easy to apply with no automation</a:t>
            </a:r>
          </a:p>
          <a:p>
            <a:r>
              <a:rPr lang="en-US" dirty="0"/>
              <a:t>Can adjust the procedure to get more or fewer tests</a:t>
            </a:r>
          </a:p>
          <a:p>
            <a:r>
              <a:rPr lang="en-US" dirty="0"/>
              <a:t>No implementation knowledge is needed</a:t>
            </a:r>
          </a:p>
          <a:p>
            <a:pPr lvl="1"/>
            <a:r>
              <a:rPr lang="en-US" dirty="0"/>
              <a:t>Just the input space</a:t>
            </a:r>
          </a:p>
          <a:p>
            <a:endParaRPr lang="en-US" dirty="0"/>
          </a:p>
        </p:txBody>
      </p:sp>
    </p:spTree>
    <p:extLst>
      <p:ext uri="{BB962C8B-B14F-4D97-AF65-F5344CB8AC3E}">
        <p14:creationId xmlns:p14="http://schemas.microsoft.com/office/powerpoint/2010/main" val="1008622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65569-798F-D6C3-2A47-931D9558CA01}"/>
              </a:ext>
            </a:extLst>
          </p:cNvPr>
          <p:cNvSpPr>
            <a:spLocks noGrp="1"/>
          </p:cNvSpPr>
          <p:nvPr>
            <p:ph type="title"/>
          </p:nvPr>
        </p:nvSpPr>
        <p:spPr/>
        <p:txBody>
          <a:bodyPr>
            <a:normAutofit fontScale="90000"/>
          </a:bodyPr>
          <a:lstStyle/>
          <a:p>
            <a:r>
              <a:rPr lang="en-US" dirty="0"/>
              <a:t>Input Domains</a:t>
            </a:r>
          </a:p>
        </p:txBody>
      </p:sp>
      <p:sp>
        <p:nvSpPr>
          <p:cNvPr id="3" name="Text Placeholder 2">
            <a:extLst>
              <a:ext uri="{FF2B5EF4-FFF2-40B4-BE49-F238E27FC236}">
                <a16:creationId xmlns:a16="http://schemas.microsoft.com/office/drawing/2014/main" id="{38391978-4CBA-9DB6-1087-CA48CFE25078}"/>
              </a:ext>
            </a:extLst>
          </p:cNvPr>
          <p:cNvSpPr>
            <a:spLocks noGrp="1"/>
          </p:cNvSpPr>
          <p:nvPr>
            <p:ph type="body" idx="1"/>
          </p:nvPr>
        </p:nvSpPr>
        <p:spPr/>
        <p:txBody>
          <a:bodyPr>
            <a:normAutofit lnSpcReduction="10000"/>
          </a:bodyPr>
          <a:lstStyle/>
          <a:p>
            <a:r>
              <a:rPr lang="en-US" dirty="0"/>
              <a:t>Input domain: all possible inputs to a program</a:t>
            </a:r>
          </a:p>
          <a:p>
            <a:pPr lvl="1"/>
            <a:r>
              <a:rPr lang="en-US" dirty="0"/>
              <a:t>Most input domains are so large that they are effectively infinite</a:t>
            </a:r>
          </a:p>
          <a:p>
            <a:r>
              <a:rPr lang="en-US" dirty="0"/>
              <a:t>Input parameters define the scope of the input domain</a:t>
            </a:r>
          </a:p>
          <a:p>
            <a:pPr lvl="1"/>
            <a:r>
              <a:rPr lang="en-US" dirty="0"/>
              <a:t>Parameter values to a method</a:t>
            </a:r>
          </a:p>
          <a:p>
            <a:pPr lvl="1"/>
            <a:r>
              <a:rPr lang="en-US" dirty="0"/>
              <a:t>Data from a file</a:t>
            </a:r>
          </a:p>
          <a:p>
            <a:pPr lvl="1"/>
            <a:r>
              <a:rPr lang="en-US" dirty="0"/>
              <a:t>Global variables</a:t>
            </a:r>
          </a:p>
          <a:p>
            <a:pPr lvl="1"/>
            <a:r>
              <a:rPr lang="en-US" dirty="0"/>
              <a:t>User inputs</a:t>
            </a:r>
          </a:p>
          <a:p>
            <a:r>
              <a:rPr lang="en-US" dirty="0"/>
              <a:t>We partition input domains into regions (called blocks)</a:t>
            </a:r>
          </a:p>
          <a:p>
            <a:r>
              <a:rPr lang="en-US" dirty="0"/>
              <a:t>Choose at least one value from each block</a:t>
            </a:r>
          </a:p>
          <a:p>
            <a:pPr lvl="1"/>
            <a:r>
              <a:rPr lang="en-US" dirty="0"/>
              <a:t>Input domain:  Alphabetic letters</a:t>
            </a:r>
          </a:p>
          <a:p>
            <a:pPr lvl="1"/>
            <a:r>
              <a:rPr lang="en-US" dirty="0"/>
              <a:t>Partitioning characteristic: Case of letter</a:t>
            </a:r>
          </a:p>
          <a:p>
            <a:pPr lvl="2"/>
            <a:r>
              <a:rPr lang="en-US" dirty="0"/>
              <a:t>Block 1: upper case</a:t>
            </a:r>
          </a:p>
          <a:p>
            <a:pPr lvl="2"/>
            <a:r>
              <a:rPr lang="en-US" dirty="0"/>
              <a:t>Block 2: lower case</a:t>
            </a:r>
          </a:p>
          <a:p>
            <a:pPr lvl="1"/>
            <a:endParaRPr lang="en-US" dirty="0"/>
          </a:p>
          <a:p>
            <a:endParaRPr lang="en-US" dirty="0"/>
          </a:p>
        </p:txBody>
      </p:sp>
    </p:spTree>
    <p:extLst>
      <p:ext uri="{BB962C8B-B14F-4D97-AF65-F5344CB8AC3E}">
        <p14:creationId xmlns:p14="http://schemas.microsoft.com/office/powerpoint/2010/main" val="1627669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6C14F-655D-7EDA-9961-DF6F9ECE33B2}"/>
              </a:ext>
            </a:extLst>
          </p:cNvPr>
          <p:cNvSpPr>
            <a:spLocks noGrp="1"/>
          </p:cNvSpPr>
          <p:nvPr>
            <p:ph type="title"/>
          </p:nvPr>
        </p:nvSpPr>
        <p:spPr/>
        <p:txBody>
          <a:bodyPr>
            <a:normAutofit fontScale="90000"/>
          </a:bodyPr>
          <a:lstStyle/>
          <a:p>
            <a:r>
              <a:rPr lang="en-US" dirty="0"/>
              <a:t>Partitioning Domain</a:t>
            </a:r>
          </a:p>
        </p:txBody>
      </p:sp>
      <p:sp>
        <p:nvSpPr>
          <p:cNvPr id="3" name="Text Placeholder 2">
            <a:extLst>
              <a:ext uri="{FF2B5EF4-FFF2-40B4-BE49-F238E27FC236}">
                <a16:creationId xmlns:a16="http://schemas.microsoft.com/office/drawing/2014/main" id="{B46AB4C2-648A-DA17-931B-7ADEB3BFFFFD}"/>
              </a:ext>
            </a:extLst>
          </p:cNvPr>
          <p:cNvSpPr>
            <a:spLocks noGrp="1"/>
          </p:cNvSpPr>
          <p:nvPr>
            <p:ph type="body" idx="1"/>
          </p:nvPr>
        </p:nvSpPr>
        <p:spPr/>
        <p:txBody>
          <a:bodyPr/>
          <a:lstStyle/>
          <a:p>
            <a:r>
              <a:rPr lang="en-US" dirty="0"/>
              <a:t>Domain D</a:t>
            </a:r>
          </a:p>
          <a:p>
            <a:r>
              <a:rPr lang="en-US" dirty="0"/>
              <a:t>Partition D into a set of blocks</a:t>
            </a:r>
          </a:p>
          <a:p>
            <a:r>
              <a:rPr lang="en-US" dirty="0"/>
              <a:t>For any two blocks b1 and b2, b1∩b2=</a:t>
            </a:r>
            <a:r>
              <a:rPr kumimoji="1" lang="en-US" altLang="zh-CN" sz="2400" dirty="0">
                <a:solidFill>
                  <a:schemeClr val="bg2"/>
                </a:solidFill>
                <a:ea typeface="楷体_GB2312" pitchFamily="49" charset="-122"/>
                <a:sym typeface="Symbol" pitchFamily="18" charset="2"/>
              </a:rPr>
              <a:t></a:t>
            </a:r>
            <a:endParaRPr lang="en-US" dirty="0"/>
          </a:p>
          <a:p>
            <a:r>
              <a:rPr lang="en-US" dirty="0"/>
              <a:t>Together the blocks cover the domain D (complete)</a:t>
            </a:r>
          </a:p>
          <a:p>
            <a:endParaRPr lang="en-US" dirty="0"/>
          </a:p>
        </p:txBody>
      </p:sp>
    </p:spTree>
    <p:extLst>
      <p:ext uri="{BB962C8B-B14F-4D97-AF65-F5344CB8AC3E}">
        <p14:creationId xmlns:p14="http://schemas.microsoft.com/office/powerpoint/2010/main" val="1067199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585A9-B227-B8BD-A955-17F767487CE4}"/>
              </a:ext>
            </a:extLst>
          </p:cNvPr>
          <p:cNvSpPr>
            <a:spLocks noGrp="1"/>
          </p:cNvSpPr>
          <p:nvPr>
            <p:ph type="title"/>
          </p:nvPr>
        </p:nvSpPr>
        <p:spPr/>
        <p:txBody>
          <a:bodyPr>
            <a:normAutofit fontScale="90000"/>
          </a:bodyPr>
          <a:lstStyle/>
          <a:p>
            <a:r>
              <a:rPr lang="en-US" dirty="0"/>
              <a:t>What is a characteristic?</a:t>
            </a:r>
          </a:p>
        </p:txBody>
      </p:sp>
      <p:sp>
        <p:nvSpPr>
          <p:cNvPr id="3" name="Text Placeholder 2">
            <a:extLst>
              <a:ext uri="{FF2B5EF4-FFF2-40B4-BE49-F238E27FC236}">
                <a16:creationId xmlns:a16="http://schemas.microsoft.com/office/drawing/2014/main" id="{29FD4C20-B9FA-6632-D0C8-5FAC479251DD}"/>
              </a:ext>
            </a:extLst>
          </p:cNvPr>
          <p:cNvSpPr>
            <a:spLocks noGrp="1"/>
          </p:cNvSpPr>
          <p:nvPr>
            <p:ph type="body" idx="1"/>
          </p:nvPr>
        </p:nvSpPr>
        <p:spPr/>
        <p:txBody>
          <a:bodyPr>
            <a:normAutofit/>
          </a:bodyPr>
          <a:lstStyle/>
          <a:p>
            <a:r>
              <a:rPr lang="en-US" dirty="0"/>
              <a:t>“A feature or quality belonging typically to a person, place, or thing and serving to identify it.”</a:t>
            </a:r>
          </a:p>
          <a:p>
            <a:r>
              <a:rPr lang="en-US" dirty="0"/>
              <a:t>Input: people</a:t>
            </a:r>
          </a:p>
          <a:p>
            <a:r>
              <a:rPr lang="en-US" dirty="0"/>
              <a:t>Characteristics: hair color, major</a:t>
            </a:r>
          </a:p>
          <a:p>
            <a:r>
              <a:rPr lang="en-US" dirty="0"/>
              <a:t>Blocks:</a:t>
            </a:r>
          </a:p>
          <a:p>
            <a:r>
              <a:rPr lang="en-US" dirty="0"/>
              <a:t>   A=(red, black, brown, blonde, other)</a:t>
            </a:r>
          </a:p>
          <a:p>
            <a:r>
              <a:rPr lang="en-US" dirty="0"/>
              <a:t>   B=(cs, </a:t>
            </a:r>
            <a:r>
              <a:rPr lang="en-US" dirty="0" err="1"/>
              <a:t>swe</a:t>
            </a:r>
            <a:r>
              <a:rPr lang="en-US" dirty="0"/>
              <a:t>, </a:t>
            </a:r>
            <a:r>
              <a:rPr lang="en-US" dirty="0" err="1"/>
              <a:t>ce</a:t>
            </a:r>
            <a:r>
              <a:rPr lang="en-US" dirty="0"/>
              <a:t>, math, </a:t>
            </a:r>
            <a:r>
              <a:rPr lang="en-US" dirty="0" err="1"/>
              <a:t>ist</a:t>
            </a:r>
            <a:r>
              <a:rPr lang="en-US" dirty="0"/>
              <a:t>, other)</a:t>
            </a:r>
          </a:p>
          <a:p>
            <a:r>
              <a:rPr lang="en-US" dirty="0"/>
              <a:t>Abstraction:</a:t>
            </a:r>
          </a:p>
          <a:p>
            <a:r>
              <a:rPr lang="en-US" dirty="0"/>
              <a:t>   A = [ a1, a2, a3, a4, a5 ]</a:t>
            </a:r>
          </a:p>
          <a:p>
            <a:r>
              <a:rPr lang="en-US" dirty="0"/>
              <a:t>   B = [ b1, b2, b3, b4, b5, b6 ]</a:t>
            </a:r>
          </a:p>
        </p:txBody>
      </p:sp>
    </p:spTree>
    <p:extLst>
      <p:ext uri="{BB962C8B-B14F-4D97-AF65-F5344CB8AC3E}">
        <p14:creationId xmlns:p14="http://schemas.microsoft.com/office/powerpoint/2010/main" val="2104879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91BE8-B2DE-3642-FC03-08F70286AB79}"/>
              </a:ext>
            </a:extLst>
          </p:cNvPr>
          <p:cNvSpPr>
            <a:spLocks noGrp="1"/>
          </p:cNvSpPr>
          <p:nvPr>
            <p:ph type="title"/>
          </p:nvPr>
        </p:nvSpPr>
        <p:spPr/>
        <p:txBody>
          <a:bodyPr>
            <a:normAutofit fontScale="90000"/>
          </a:bodyPr>
          <a:lstStyle/>
          <a:p>
            <a:r>
              <a:rPr lang="en-US" dirty="0"/>
              <a:t>Modeling the input domain (IDM)</a:t>
            </a:r>
          </a:p>
        </p:txBody>
      </p:sp>
      <p:sp>
        <p:nvSpPr>
          <p:cNvPr id="3" name="Text Placeholder 2">
            <a:extLst>
              <a:ext uri="{FF2B5EF4-FFF2-40B4-BE49-F238E27FC236}">
                <a16:creationId xmlns:a16="http://schemas.microsoft.com/office/drawing/2014/main" id="{AC305643-3A78-0E84-A429-584F5F73464D}"/>
              </a:ext>
            </a:extLst>
          </p:cNvPr>
          <p:cNvSpPr>
            <a:spLocks noGrp="1"/>
          </p:cNvSpPr>
          <p:nvPr>
            <p:ph type="body" idx="1"/>
          </p:nvPr>
        </p:nvSpPr>
        <p:spPr/>
        <p:txBody>
          <a:bodyPr/>
          <a:lstStyle/>
          <a:p>
            <a:r>
              <a:rPr lang="en-US" dirty="0"/>
              <a:t>Step 1 : Identify testable functions</a:t>
            </a:r>
          </a:p>
          <a:p>
            <a:endParaRPr lang="en-US" dirty="0"/>
          </a:p>
          <a:p>
            <a:r>
              <a:rPr lang="en-US" dirty="0"/>
              <a:t>Step 2 : Find all inputs, parameters, &amp; characteristics</a:t>
            </a:r>
          </a:p>
          <a:p>
            <a:endParaRPr lang="en-US" dirty="0"/>
          </a:p>
          <a:p>
            <a:r>
              <a:rPr lang="en-US" dirty="0"/>
              <a:t>Step 3 : Model the input domain</a:t>
            </a:r>
          </a:p>
          <a:p>
            <a:endParaRPr lang="en-US" dirty="0"/>
          </a:p>
          <a:p>
            <a:r>
              <a:rPr lang="en-US" dirty="0"/>
              <a:t>Step 4 : Apply a test criterion to choose combinations of values</a:t>
            </a:r>
          </a:p>
          <a:p>
            <a:endParaRPr lang="en-US" dirty="0"/>
          </a:p>
          <a:p>
            <a:r>
              <a:rPr lang="en-US" dirty="0"/>
              <a:t>Step 5 : Refine combinations of blocks into test inputs</a:t>
            </a:r>
          </a:p>
          <a:p>
            <a:endParaRPr lang="en-US" dirty="0"/>
          </a:p>
        </p:txBody>
      </p:sp>
    </p:spTree>
    <p:extLst>
      <p:ext uri="{BB962C8B-B14F-4D97-AF65-F5344CB8AC3E}">
        <p14:creationId xmlns:p14="http://schemas.microsoft.com/office/powerpoint/2010/main" val="2217799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5B7E9-215E-646D-D1B9-A55671352C7D}"/>
              </a:ext>
            </a:extLst>
          </p:cNvPr>
          <p:cNvSpPr>
            <a:spLocks noGrp="1"/>
          </p:cNvSpPr>
          <p:nvPr>
            <p:ph type="title"/>
          </p:nvPr>
        </p:nvSpPr>
        <p:spPr/>
        <p:txBody>
          <a:bodyPr>
            <a:normAutofit fontScale="90000"/>
          </a:bodyPr>
          <a:lstStyle/>
          <a:p>
            <a:r>
              <a:rPr lang="en-US" dirty="0"/>
              <a:t>IDM Hints</a:t>
            </a:r>
          </a:p>
        </p:txBody>
      </p:sp>
      <p:sp>
        <p:nvSpPr>
          <p:cNvPr id="3" name="Text Placeholder 2">
            <a:extLst>
              <a:ext uri="{FF2B5EF4-FFF2-40B4-BE49-F238E27FC236}">
                <a16:creationId xmlns:a16="http://schemas.microsoft.com/office/drawing/2014/main" id="{98BD7BFC-CB84-8C17-1812-69631F533842}"/>
              </a:ext>
            </a:extLst>
          </p:cNvPr>
          <p:cNvSpPr>
            <a:spLocks noGrp="1"/>
          </p:cNvSpPr>
          <p:nvPr>
            <p:ph type="body" idx="1"/>
          </p:nvPr>
        </p:nvSpPr>
        <p:spPr/>
        <p:txBody>
          <a:bodyPr/>
          <a:lstStyle/>
          <a:p>
            <a:r>
              <a:rPr lang="en-US" dirty="0"/>
              <a:t>More characteristics -&gt; more tests</a:t>
            </a:r>
          </a:p>
          <a:p>
            <a:r>
              <a:rPr lang="en-US" dirty="0"/>
              <a:t>More blocks -&gt; more tests</a:t>
            </a:r>
          </a:p>
          <a:p>
            <a:r>
              <a:rPr lang="en-US" dirty="0"/>
              <a:t>Do not use program source</a:t>
            </a:r>
          </a:p>
          <a:p>
            <a:r>
              <a:rPr lang="en-US" dirty="0"/>
              <a:t>Choose values strategically</a:t>
            </a:r>
          </a:p>
          <a:p>
            <a:pPr lvl="1"/>
            <a:r>
              <a:rPr lang="en-US" dirty="0"/>
              <a:t>Valid, invalid, special values</a:t>
            </a:r>
          </a:p>
          <a:p>
            <a:pPr lvl="1"/>
            <a:r>
              <a:rPr lang="en-US" dirty="0"/>
              <a:t>Explore boundaries</a:t>
            </a:r>
          </a:p>
          <a:p>
            <a:pPr lvl="1"/>
            <a:r>
              <a:rPr lang="en-US" dirty="0"/>
              <a:t>Balance the number of blocks in the characteristics</a:t>
            </a:r>
          </a:p>
        </p:txBody>
      </p:sp>
    </p:spTree>
    <p:extLst>
      <p:ext uri="{BB962C8B-B14F-4D97-AF65-F5344CB8AC3E}">
        <p14:creationId xmlns:p14="http://schemas.microsoft.com/office/powerpoint/2010/main" val="21377490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23EBC-320F-5EE2-7532-E3EB229EFE50}"/>
              </a:ext>
            </a:extLst>
          </p:cNvPr>
          <p:cNvSpPr>
            <a:spLocks noGrp="1"/>
          </p:cNvSpPr>
          <p:nvPr>
            <p:ph type="title"/>
          </p:nvPr>
        </p:nvSpPr>
        <p:spPr/>
        <p:txBody>
          <a:bodyPr>
            <a:normAutofit fontScale="90000"/>
          </a:bodyPr>
          <a:lstStyle/>
          <a:p>
            <a:r>
              <a:rPr lang="en-US" dirty="0"/>
              <a:t>An Example</a:t>
            </a:r>
          </a:p>
        </p:txBody>
      </p:sp>
      <p:sp>
        <p:nvSpPr>
          <p:cNvPr id="3" name="Text Placeholder 2">
            <a:extLst>
              <a:ext uri="{FF2B5EF4-FFF2-40B4-BE49-F238E27FC236}">
                <a16:creationId xmlns:a16="http://schemas.microsoft.com/office/drawing/2014/main" id="{AC47C23F-6A17-3531-B521-645E79F2E454}"/>
              </a:ext>
            </a:extLst>
          </p:cNvPr>
          <p:cNvSpPr>
            <a:spLocks noGrp="1"/>
          </p:cNvSpPr>
          <p:nvPr>
            <p:ph type="body" idx="1"/>
          </p:nvPr>
        </p:nvSpPr>
        <p:spPr/>
        <p:txBody>
          <a:bodyPr/>
          <a:lstStyle/>
          <a:p>
            <a:r>
              <a:rPr lang="en-US" altLang="en-US" dirty="0"/>
              <a:t>After partitioning characteristics into blocks, testers design tests by combining blocks from different characteristics</a:t>
            </a:r>
          </a:p>
          <a:p>
            <a:pPr lvl="1"/>
            <a:r>
              <a:rPr lang="en-US" altLang="en-US" dirty="0"/>
              <a:t>3 Characteristics (abstract): A, B, C</a:t>
            </a:r>
          </a:p>
          <a:p>
            <a:pPr lvl="1"/>
            <a:r>
              <a:rPr lang="en-US" altLang="en-US" dirty="0"/>
              <a:t>Abstract blocks: A = [a1, a2, a3,a4]; B = [b1, b2]; C = [c1, c2,c3]</a:t>
            </a:r>
          </a:p>
          <a:p>
            <a:r>
              <a:rPr lang="en-US" altLang="en-US" dirty="0"/>
              <a:t>A test starts by combining one block from each characteristic</a:t>
            </a:r>
          </a:p>
          <a:p>
            <a:pPr lvl="1"/>
            <a:r>
              <a:rPr lang="en-US" altLang="en-US" dirty="0"/>
              <a:t>Then values are chosen to satisfy the combinations</a:t>
            </a:r>
          </a:p>
          <a:p>
            <a:r>
              <a:rPr lang="en-US" altLang="en-US" dirty="0"/>
              <a:t>We use criteria to choose effective combinations</a:t>
            </a:r>
            <a:endParaRPr lang="en-US" dirty="0"/>
          </a:p>
        </p:txBody>
      </p:sp>
    </p:spTree>
    <p:extLst>
      <p:ext uri="{BB962C8B-B14F-4D97-AF65-F5344CB8AC3E}">
        <p14:creationId xmlns:p14="http://schemas.microsoft.com/office/powerpoint/2010/main" val="3039554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28135-2B97-8043-214D-D3A987B6CB07}"/>
              </a:ext>
            </a:extLst>
          </p:cNvPr>
          <p:cNvSpPr>
            <a:spLocks noGrp="1"/>
          </p:cNvSpPr>
          <p:nvPr>
            <p:ph type="title"/>
          </p:nvPr>
        </p:nvSpPr>
        <p:spPr/>
        <p:txBody>
          <a:bodyPr>
            <a:normAutofit fontScale="90000"/>
          </a:bodyPr>
          <a:lstStyle/>
          <a:p>
            <a:r>
              <a:rPr lang="en-US" dirty="0"/>
              <a:t>All combinations criterion (</a:t>
            </a:r>
            <a:r>
              <a:rPr lang="en-US" dirty="0" err="1"/>
              <a:t>ACoC</a:t>
            </a:r>
            <a:r>
              <a:rPr lang="en-US" dirty="0"/>
              <a:t>)</a:t>
            </a:r>
          </a:p>
        </p:txBody>
      </p:sp>
      <p:sp>
        <p:nvSpPr>
          <p:cNvPr id="3" name="Text Placeholder 2">
            <a:extLst>
              <a:ext uri="{FF2B5EF4-FFF2-40B4-BE49-F238E27FC236}">
                <a16:creationId xmlns:a16="http://schemas.microsoft.com/office/drawing/2014/main" id="{B050979A-B25B-FAE9-89A5-3E10ED6CE560}"/>
              </a:ext>
            </a:extLst>
          </p:cNvPr>
          <p:cNvSpPr>
            <a:spLocks noGrp="1"/>
          </p:cNvSpPr>
          <p:nvPr>
            <p:ph type="body" idx="1"/>
          </p:nvPr>
        </p:nvSpPr>
        <p:spPr/>
        <p:txBody>
          <a:bodyPr/>
          <a:lstStyle/>
          <a:p>
            <a:endParaRPr lang="en-US" dirty="0"/>
          </a:p>
        </p:txBody>
      </p:sp>
      <p:sp>
        <p:nvSpPr>
          <p:cNvPr id="4" name="Content Placeholder 2">
            <a:extLst>
              <a:ext uri="{FF2B5EF4-FFF2-40B4-BE49-F238E27FC236}">
                <a16:creationId xmlns:a16="http://schemas.microsoft.com/office/drawing/2014/main" id="{C106FE08-2F83-0BA0-2A2A-A5015C8F8BED}"/>
              </a:ext>
            </a:extLst>
          </p:cNvPr>
          <p:cNvSpPr>
            <a:spLocks noGrp="1"/>
          </p:cNvSpPr>
          <p:nvPr/>
        </p:nvSpPr>
        <p:spPr bwMode="auto">
          <a:xfrm>
            <a:off x="564630" y="1152475"/>
            <a:ext cx="6493871" cy="1917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85000"/>
              <a:buChar char="•"/>
              <a:defRPr sz="2800" b="0">
                <a:solidFill>
                  <a:schemeClr val="tx1"/>
                </a:solidFill>
                <a:latin typeface="Gill Sans MT" panose="020B0502020104020203" pitchFamily="34" charset="0"/>
                <a:ea typeface="+mn-ea"/>
                <a:cs typeface="+mn-cs"/>
              </a:defRPr>
            </a:lvl1pPr>
            <a:lvl2pPr marL="685800" indent="-228600" algn="l" rtl="0" eaLnBrk="0" fontAlgn="base" hangingPunct="0">
              <a:lnSpc>
                <a:spcPct val="90000"/>
              </a:lnSpc>
              <a:spcBef>
                <a:spcPct val="30000"/>
              </a:spcBef>
              <a:spcAft>
                <a:spcPct val="0"/>
              </a:spcAft>
              <a:buSzPct val="100000"/>
              <a:buChar char="–"/>
              <a:defRPr sz="2400" b="0">
                <a:solidFill>
                  <a:schemeClr val="tx1"/>
                </a:solidFill>
                <a:latin typeface="Gill Sans MT" panose="020B0502020104020203" pitchFamily="34" charset="0"/>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Gill Sans MT" panose="020B0502020104020203" pitchFamily="34" charset="0"/>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a:lstStyle>
          <a:p>
            <a:pPr marL="0" indent="0" algn="ctr">
              <a:buNone/>
            </a:pPr>
            <a:r>
              <a:rPr lang="en-US" altLang="en-US" dirty="0"/>
              <a:t>The most obvious criterion is to choose all combinations</a:t>
            </a:r>
          </a:p>
        </p:txBody>
      </p:sp>
      <p:pic>
        <p:nvPicPr>
          <p:cNvPr id="5" name="table">
            <a:extLst>
              <a:ext uri="{FF2B5EF4-FFF2-40B4-BE49-F238E27FC236}">
                <a16:creationId xmlns:a16="http://schemas.microsoft.com/office/drawing/2014/main" id="{7907935D-AA45-B6DE-6808-86F5FBFE8DF5}"/>
              </a:ext>
            </a:extLst>
          </p:cNvPr>
          <p:cNvPicPr>
            <a:picLocks noChangeAspect="1"/>
          </p:cNvPicPr>
          <p:nvPr/>
        </p:nvPicPr>
        <p:blipFill>
          <a:blip r:embed="rId2"/>
          <a:stretch>
            <a:fillRect/>
          </a:stretch>
        </p:blipFill>
        <p:spPr>
          <a:xfrm>
            <a:off x="2412576" y="2227274"/>
            <a:ext cx="5000256" cy="1954900"/>
          </a:xfrm>
          <a:prstGeom prst="rect">
            <a:avLst/>
          </a:prstGeom>
        </p:spPr>
      </p:pic>
    </p:spTree>
    <p:extLst>
      <p:ext uri="{BB962C8B-B14F-4D97-AF65-F5344CB8AC3E}">
        <p14:creationId xmlns:p14="http://schemas.microsoft.com/office/powerpoint/2010/main" val="39498914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C5313-41DE-2B7E-DC4B-506C785B1BDA}"/>
              </a:ext>
            </a:extLst>
          </p:cNvPr>
          <p:cNvSpPr>
            <a:spLocks noGrp="1"/>
          </p:cNvSpPr>
          <p:nvPr>
            <p:ph type="title"/>
          </p:nvPr>
        </p:nvSpPr>
        <p:spPr/>
        <p:txBody>
          <a:bodyPr>
            <a:normAutofit fontScale="90000"/>
          </a:bodyPr>
          <a:lstStyle/>
          <a:p>
            <a:r>
              <a:rPr lang="en-US" dirty="0"/>
              <a:t>Another Example</a:t>
            </a:r>
          </a:p>
        </p:txBody>
      </p:sp>
      <p:sp>
        <p:nvSpPr>
          <p:cNvPr id="3" name="Text Placeholder 2">
            <a:extLst>
              <a:ext uri="{FF2B5EF4-FFF2-40B4-BE49-F238E27FC236}">
                <a16:creationId xmlns:a16="http://schemas.microsoft.com/office/drawing/2014/main" id="{BFE2D678-48A7-B909-C1AB-7C889AC2A1D8}"/>
              </a:ext>
            </a:extLst>
          </p:cNvPr>
          <p:cNvSpPr>
            <a:spLocks noGrp="1"/>
          </p:cNvSpPr>
          <p:nvPr>
            <p:ph type="body" idx="1"/>
          </p:nvPr>
        </p:nvSpPr>
        <p:spPr/>
        <p:txBody>
          <a:bodyPr/>
          <a:lstStyle/>
          <a:p>
            <a:r>
              <a:rPr lang="en-US" dirty="0"/>
              <a:t>Input: students</a:t>
            </a:r>
          </a:p>
          <a:p>
            <a:r>
              <a:rPr lang="en-US" dirty="0"/>
              <a:t>Characteristics: Level, Mode, Major, Classification</a:t>
            </a:r>
          </a:p>
          <a:p>
            <a:r>
              <a:rPr lang="en-US" dirty="0"/>
              <a:t>Blocks:</a:t>
            </a:r>
          </a:p>
          <a:p>
            <a:pPr lvl="1"/>
            <a:r>
              <a:rPr lang="en-US" dirty="0"/>
              <a:t>Level: ( grad, undergrad )</a:t>
            </a:r>
          </a:p>
          <a:p>
            <a:pPr lvl="1"/>
            <a:r>
              <a:rPr lang="en-US" dirty="0"/>
              <a:t>Mode: ( full-time, part-time )</a:t>
            </a:r>
          </a:p>
          <a:p>
            <a:pPr lvl="1"/>
            <a:r>
              <a:rPr lang="en-US" dirty="0"/>
              <a:t>Major: ( cs, </a:t>
            </a:r>
            <a:r>
              <a:rPr lang="en-US" dirty="0" err="1"/>
              <a:t>swe</a:t>
            </a:r>
            <a:r>
              <a:rPr lang="en-US" dirty="0"/>
              <a:t>, other )</a:t>
            </a:r>
          </a:p>
          <a:p>
            <a:pPr lvl="1"/>
            <a:r>
              <a:rPr lang="en-US" dirty="0"/>
              <a:t>Classification: ( in-state, out-of-state )</a:t>
            </a:r>
          </a:p>
          <a:p>
            <a:r>
              <a:rPr lang="en-US" dirty="0"/>
              <a:t>Abstract IDM:</a:t>
            </a:r>
          </a:p>
          <a:p>
            <a:pPr lvl="1"/>
            <a:r>
              <a:rPr lang="en-US" dirty="0"/>
              <a:t>   A = [ a1, a2 ]	C = [ c1, c2, c3 ]</a:t>
            </a:r>
          </a:p>
          <a:p>
            <a:pPr lvl="1"/>
            <a:r>
              <a:rPr lang="en-US" dirty="0"/>
              <a:t>   B = [ b1, b2 ]	D = [ d1, d2 ]</a:t>
            </a:r>
          </a:p>
          <a:p>
            <a:endParaRPr lang="en-US" dirty="0"/>
          </a:p>
        </p:txBody>
      </p:sp>
      <p:sp>
        <p:nvSpPr>
          <p:cNvPr id="4" name="TextBox 3">
            <a:extLst>
              <a:ext uri="{FF2B5EF4-FFF2-40B4-BE49-F238E27FC236}">
                <a16:creationId xmlns:a16="http://schemas.microsoft.com/office/drawing/2014/main" id="{26FE5DE4-558F-4972-C56C-F2EF37D09506}"/>
              </a:ext>
            </a:extLst>
          </p:cNvPr>
          <p:cNvSpPr txBox="1"/>
          <p:nvPr/>
        </p:nvSpPr>
        <p:spPr>
          <a:xfrm>
            <a:off x="4931337" y="2976848"/>
            <a:ext cx="4031873" cy="523220"/>
          </a:xfrm>
          <a:prstGeom prst="rect">
            <a:avLst/>
          </a:prstGeom>
          <a:noFill/>
        </p:spPr>
        <p:txBody>
          <a:bodyPr wrap="none" rtlCol="0">
            <a:spAutoFit/>
          </a:bodyPr>
          <a:lstStyle/>
          <a:p>
            <a:r>
              <a:rPr lang="en-US" b="1" dirty="0"/>
              <a:t>How many tests are needed to satisfy </a:t>
            </a:r>
            <a:r>
              <a:rPr lang="en-US" b="1" dirty="0" err="1"/>
              <a:t>ACoC</a:t>
            </a:r>
            <a:r>
              <a:rPr lang="en-US" b="1" dirty="0"/>
              <a:t>?</a:t>
            </a:r>
          </a:p>
          <a:p>
            <a:endParaRPr lang="en-US" b="1" dirty="0"/>
          </a:p>
        </p:txBody>
      </p:sp>
    </p:spTree>
    <p:extLst>
      <p:ext uri="{BB962C8B-B14F-4D97-AF65-F5344CB8AC3E}">
        <p14:creationId xmlns:p14="http://schemas.microsoft.com/office/powerpoint/2010/main" val="3900228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E8C50-F772-667D-B546-4957C2688CE9}"/>
              </a:ext>
            </a:extLst>
          </p:cNvPr>
          <p:cNvSpPr>
            <a:spLocks noGrp="1"/>
          </p:cNvSpPr>
          <p:nvPr>
            <p:ph type="title"/>
          </p:nvPr>
        </p:nvSpPr>
        <p:spPr/>
        <p:txBody>
          <a:bodyPr>
            <a:normAutofit fontScale="90000"/>
          </a:bodyPr>
          <a:lstStyle/>
          <a:p>
            <a:r>
              <a:rPr lang="en-US" dirty="0"/>
              <a:t>All combinations criterion (</a:t>
            </a:r>
            <a:r>
              <a:rPr lang="en-US" dirty="0" err="1"/>
              <a:t>ACoC</a:t>
            </a:r>
            <a:r>
              <a:rPr lang="en-US" dirty="0"/>
              <a:t>)</a:t>
            </a:r>
            <a:br>
              <a:rPr lang="en-US" dirty="0"/>
            </a:br>
            <a:endParaRPr lang="en-US" dirty="0"/>
          </a:p>
        </p:txBody>
      </p:sp>
      <p:sp>
        <p:nvSpPr>
          <p:cNvPr id="3" name="Text Placeholder 2">
            <a:extLst>
              <a:ext uri="{FF2B5EF4-FFF2-40B4-BE49-F238E27FC236}">
                <a16:creationId xmlns:a16="http://schemas.microsoft.com/office/drawing/2014/main" id="{A2234C0F-AAA5-ACAA-1104-B175583B0652}"/>
              </a:ext>
            </a:extLst>
          </p:cNvPr>
          <p:cNvSpPr>
            <a:spLocks noGrp="1"/>
          </p:cNvSpPr>
          <p:nvPr>
            <p:ph type="body" idx="1"/>
          </p:nvPr>
        </p:nvSpPr>
        <p:spPr/>
        <p:txBody>
          <a:bodyPr/>
          <a:lstStyle/>
          <a:p>
            <a:endParaRPr lang="en-US" dirty="0"/>
          </a:p>
        </p:txBody>
      </p:sp>
      <p:pic>
        <p:nvPicPr>
          <p:cNvPr id="4" name="table">
            <a:extLst>
              <a:ext uri="{FF2B5EF4-FFF2-40B4-BE49-F238E27FC236}">
                <a16:creationId xmlns:a16="http://schemas.microsoft.com/office/drawing/2014/main" id="{4F63EB56-C272-7B96-0702-87E10EC5D8CF}"/>
              </a:ext>
            </a:extLst>
          </p:cNvPr>
          <p:cNvPicPr>
            <a:picLocks noChangeAspect="1"/>
          </p:cNvPicPr>
          <p:nvPr/>
        </p:nvPicPr>
        <p:blipFill>
          <a:blip r:embed="rId2"/>
          <a:stretch>
            <a:fillRect/>
          </a:stretch>
        </p:blipFill>
        <p:spPr>
          <a:xfrm>
            <a:off x="240956" y="1200150"/>
            <a:ext cx="8662088" cy="2743200"/>
          </a:xfrm>
          <a:prstGeom prst="rect">
            <a:avLst/>
          </a:prstGeom>
        </p:spPr>
      </p:pic>
    </p:spTree>
    <p:extLst>
      <p:ext uri="{BB962C8B-B14F-4D97-AF65-F5344CB8AC3E}">
        <p14:creationId xmlns:p14="http://schemas.microsoft.com/office/powerpoint/2010/main" val="17169144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7E283-CA95-A308-436D-7EF23ED730C5}"/>
              </a:ext>
            </a:extLst>
          </p:cNvPr>
          <p:cNvSpPr>
            <a:spLocks noGrp="1"/>
          </p:cNvSpPr>
          <p:nvPr>
            <p:ph type="title"/>
          </p:nvPr>
        </p:nvSpPr>
        <p:spPr/>
        <p:txBody>
          <a:bodyPr>
            <a:normAutofit fontScale="90000"/>
          </a:bodyPr>
          <a:lstStyle/>
          <a:p>
            <a:r>
              <a:rPr lang="en-US" dirty="0"/>
              <a:t>Each Choice Coverage (ECC) </a:t>
            </a:r>
          </a:p>
        </p:txBody>
      </p:sp>
      <p:sp>
        <p:nvSpPr>
          <p:cNvPr id="3" name="Text Placeholder 2">
            <a:extLst>
              <a:ext uri="{FF2B5EF4-FFF2-40B4-BE49-F238E27FC236}">
                <a16:creationId xmlns:a16="http://schemas.microsoft.com/office/drawing/2014/main" id="{E7CB0FFA-FFC8-6699-FE94-6106D663AE67}"/>
              </a:ext>
            </a:extLst>
          </p:cNvPr>
          <p:cNvSpPr>
            <a:spLocks noGrp="1"/>
          </p:cNvSpPr>
          <p:nvPr>
            <p:ph type="body" idx="1"/>
          </p:nvPr>
        </p:nvSpPr>
        <p:spPr/>
        <p:txBody>
          <a:bodyPr/>
          <a:lstStyle/>
          <a:p>
            <a:r>
              <a:rPr lang="en-US" dirty="0"/>
              <a:t>Use at least one value from each block for each characteristic in at least one test case.</a:t>
            </a:r>
          </a:p>
          <a:p>
            <a:r>
              <a:rPr lang="en-US" dirty="0"/>
              <a:t>4 Characteristics:  A, B, C, D</a:t>
            </a:r>
          </a:p>
          <a:p>
            <a:r>
              <a:rPr lang="en-US" dirty="0"/>
              <a:t>Abstract blocks: A = [a1, a2]; B = [b1, b2];</a:t>
            </a:r>
          </a:p>
          <a:p>
            <a:r>
              <a:rPr lang="en-US" dirty="0"/>
              <a:t>		       C = [c1, c2, c3]; D = [d1, d2]</a:t>
            </a:r>
          </a:p>
          <a:p>
            <a:endParaRPr lang="en-US" dirty="0"/>
          </a:p>
          <a:p>
            <a:r>
              <a:rPr lang="en-US" dirty="0"/>
              <a:t>How many tests are needed for ECC?</a:t>
            </a:r>
          </a:p>
          <a:p>
            <a:r>
              <a:rPr lang="en-US" dirty="0"/>
              <a:t>Design the (abstract) tests</a:t>
            </a:r>
          </a:p>
          <a:p>
            <a:endParaRPr lang="en-US" dirty="0"/>
          </a:p>
        </p:txBody>
      </p:sp>
    </p:spTree>
    <p:extLst>
      <p:ext uri="{BB962C8B-B14F-4D97-AF65-F5344CB8AC3E}">
        <p14:creationId xmlns:p14="http://schemas.microsoft.com/office/powerpoint/2010/main" val="37418513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CD32E-7EE9-EEF1-8E65-FC942DA36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9E183-D4CD-BE4C-166B-02442781D468}"/>
              </a:ext>
            </a:extLst>
          </p:cNvPr>
          <p:cNvSpPr>
            <a:spLocks noGrp="1"/>
          </p:cNvSpPr>
          <p:nvPr>
            <p:ph type="title"/>
          </p:nvPr>
        </p:nvSpPr>
        <p:spPr/>
        <p:txBody>
          <a:bodyPr>
            <a:normAutofit fontScale="90000"/>
          </a:bodyPr>
          <a:lstStyle/>
          <a:p>
            <a:r>
              <a:rPr lang="en-US" dirty="0"/>
              <a:t>Each Choice Coverage (ECC) </a:t>
            </a:r>
          </a:p>
        </p:txBody>
      </p:sp>
      <p:sp>
        <p:nvSpPr>
          <p:cNvPr id="3" name="Text Placeholder 2">
            <a:extLst>
              <a:ext uri="{FF2B5EF4-FFF2-40B4-BE49-F238E27FC236}">
                <a16:creationId xmlns:a16="http://schemas.microsoft.com/office/drawing/2014/main" id="{7546F0C2-6022-9E95-96BD-AB57EBB1072A}"/>
              </a:ext>
            </a:extLst>
          </p:cNvPr>
          <p:cNvSpPr>
            <a:spLocks noGrp="1"/>
          </p:cNvSpPr>
          <p:nvPr>
            <p:ph type="body" idx="1"/>
          </p:nvPr>
        </p:nvSpPr>
        <p:spPr/>
        <p:txBody>
          <a:bodyPr/>
          <a:lstStyle/>
          <a:p>
            <a:r>
              <a:rPr lang="en-US" dirty="0"/>
              <a:t>Use at least one value from each block for each characteristic in at least one test case.</a:t>
            </a:r>
          </a:p>
          <a:p>
            <a:r>
              <a:rPr lang="en-US" dirty="0"/>
              <a:t>4 Characteristics:  A, B, C, D</a:t>
            </a:r>
          </a:p>
          <a:p>
            <a:r>
              <a:rPr lang="en-US" dirty="0"/>
              <a:t>Abstract blocks: A = [a1, a2]; B = [b1, b2];</a:t>
            </a:r>
          </a:p>
          <a:p>
            <a:r>
              <a:rPr lang="en-US" dirty="0"/>
              <a:t>		       C = [c1, c2, c3]; D = [d1, d2]</a:t>
            </a:r>
          </a:p>
          <a:p>
            <a:endParaRPr lang="en-US" dirty="0"/>
          </a:p>
          <a:p>
            <a:r>
              <a:rPr lang="en-US" dirty="0"/>
              <a:t>How many tests are needed for ECC?</a:t>
            </a:r>
          </a:p>
          <a:p>
            <a:r>
              <a:rPr lang="en-US" dirty="0"/>
              <a:t>Design the (abstract) tests</a:t>
            </a:r>
          </a:p>
          <a:p>
            <a:endParaRPr lang="en-US" dirty="0"/>
          </a:p>
        </p:txBody>
      </p:sp>
      <p:pic>
        <p:nvPicPr>
          <p:cNvPr id="4" name="table">
            <a:extLst>
              <a:ext uri="{FF2B5EF4-FFF2-40B4-BE49-F238E27FC236}">
                <a16:creationId xmlns:a16="http://schemas.microsoft.com/office/drawing/2014/main" id="{C9365BA0-CAFE-3746-F5A8-18D42CB1A590}"/>
              </a:ext>
            </a:extLst>
          </p:cNvPr>
          <p:cNvPicPr>
            <a:picLocks noChangeAspect="1"/>
          </p:cNvPicPr>
          <p:nvPr/>
        </p:nvPicPr>
        <p:blipFill>
          <a:blip r:embed="rId2"/>
          <a:stretch>
            <a:fillRect/>
          </a:stretch>
        </p:blipFill>
        <p:spPr>
          <a:xfrm>
            <a:off x="6143062" y="3620646"/>
            <a:ext cx="2165522" cy="1371600"/>
          </a:xfrm>
          <a:prstGeom prst="rect">
            <a:avLst/>
          </a:prstGeom>
        </p:spPr>
      </p:pic>
    </p:spTree>
    <p:extLst>
      <p:ext uri="{BB962C8B-B14F-4D97-AF65-F5344CB8AC3E}">
        <p14:creationId xmlns:p14="http://schemas.microsoft.com/office/powerpoint/2010/main" val="1975753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D2139-826E-6101-0B59-793D59FCC876}"/>
              </a:ext>
            </a:extLst>
          </p:cNvPr>
          <p:cNvSpPr>
            <a:spLocks noGrp="1"/>
          </p:cNvSpPr>
          <p:nvPr>
            <p:ph type="title"/>
          </p:nvPr>
        </p:nvSpPr>
        <p:spPr/>
        <p:txBody>
          <a:bodyPr>
            <a:normAutofit fontScale="90000"/>
          </a:bodyPr>
          <a:lstStyle/>
          <a:p>
            <a:r>
              <a:rPr lang="en-US" dirty="0"/>
              <a:t>Base Choice Coverage (BCC)</a:t>
            </a:r>
          </a:p>
        </p:txBody>
      </p:sp>
      <p:sp>
        <p:nvSpPr>
          <p:cNvPr id="3" name="Text Placeholder 2">
            <a:extLst>
              <a:ext uri="{FF2B5EF4-FFF2-40B4-BE49-F238E27FC236}">
                <a16:creationId xmlns:a16="http://schemas.microsoft.com/office/drawing/2014/main" id="{7679FA2C-5639-4250-5E47-009C1EB23529}"/>
              </a:ext>
            </a:extLst>
          </p:cNvPr>
          <p:cNvSpPr>
            <a:spLocks noGrp="1"/>
          </p:cNvSpPr>
          <p:nvPr>
            <p:ph type="body" idx="1"/>
          </p:nvPr>
        </p:nvSpPr>
        <p:spPr/>
        <p:txBody>
          <a:bodyPr/>
          <a:lstStyle/>
          <a:p>
            <a:r>
              <a:rPr lang="en-US" dirty="0"/>
              <a:t>Choose a base choice block for each characteristic. Form a base test by using the base choice for each characteristic.  Choose subsequent tests by holding all but one base choice constant and using each non-base choice in each other characteristic.</a:t>
            </a:r>
          </a:p>
        </p:txBody>
      </p:sp>
    </p:spTree>
    <p:extLst>
      <p:ext uri="{BB962C8B-B14F-4D97-AF65-F5344CB8AC3E}">
        <p14:creationId xmlns:p14="http://schemas.microsoft.com/office/powerpoint/2010/main" val="387367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4B4F9-58A1-1493-9DEF-D047FF2BD1F5}"/>
              </a:ext>
            </a:extLst>
          </p:cNvPr>
          <p:cNvSpPr>
            <a:spLocks noGrp="1"/>
          </p:cNvSpPr>
          <p:nvPr>
            <p:ph type="title"/>
          </p:nvPr>
        </p:nvSpPr>
        <p:spPr/>
        <p:txBody>
          <a:bodyPr>
            <a:normAutofit fontScale="90000"/>
          </a:bodyPr>
          <a:lstStyle/>
          <a:p>
            <a:r>
              <a:rPr lang="en-US" dirty="0"/>
              <a:t>Base choice notes</a:t>
            </a:r>
          </a:p>
        </p:txBody>
      </p:sp>
      <p:sp>
        <p:nvSpPr>
          <p:cNvPr id="3" name="Text Placeholder 2">
            <a:extLst>
              <a:ext uri="{FF2B5EF4-FFF2-40B4-BE49-F238E27FC236}">
                <a16:creationId xmlns:a16="http://schemas.microsoft.com/office/drawing/2014/main" id="{FA3535CE-05E0-71A4-3FD1-E0C0C80305B4}"/>
              </a:ext>
            </a:extLst>
          </p:cNvPr>
          <p:cNvSpPr>
            <a:spLocks noGrp="1"/>
          </p:cNvSpPr>
          <p:nvPr>
            <p:ph type="body" idx="1"/>
          </p:nvPr>
        </p:nvSpPr>
        <p:spPr/>
        <p:txBody>
          <a:bodyPr/>
          <a:lstStyle/>
          <a:p>
            <a:r>
              <a:rPr lang="en-US" dirty="0"/>
              <a:t>The base test must be feasible</a:t>
            </a:r>
          </a:p>
          <a:p>
            <a:pPr lvl="1"/>
            <a:r>
              <a:rPr lang="en-US" dirty="0"/>
              <a:t>That is, all base choices must be compatible</a:t>
            </a:r>
          </a:p>
          <a:p>
            <a:r>
              <a:rPr lang="en-US" dirty="0"/>
              <a:t>Base choices can be</a:t>
            </a:r>
          </a:p>
          <a:p>
            <a:pPr lvl="1"/>
            <a:r>
              <a:rPr lang="en-US" dirty="0"/>
              <a:t>Most likely from an end-use point of view</a:t>
            </a:r>
          </a:p>
          <a:p>
            <a:pPr lvl="1"/>
            <a:r>
              <a:rPr lang="en-US" dirty="0"/>
              <a:t>Simplest</a:t>
            </a:r>
          </a:p>
          <a:p>
            <a:pPr lvl="1"/>
            <a:r>
              <a:rPr lang="en-US" dirty="0"/>
              <a:t>Smallest</a:t>
            </a:r>
          </a:p>
          <a:p>
            <a:pPr lvl="1"/>
            <a:r>
              <a:rPr lang="en-US" dirty="0"/>
              <a:t>First in some ordering</a:t>
            </a:r>
          </a:p>
          <a:p>
            <a:r>
              <a:rPr lang="en-US" dirty="0"/>
              <a:t>Happy path tests often make good base choices</a:t>
            </a:r>
          </a:p>
          <a:p>
            <a:r>
              <a:rPr lang="en-US" dirty="0"/>
              <a:t>The base choice is a crucial design decision</a:t>
            </a:r>
          </a:p>
          <a:p>
            <a:pPr lvl="1"/>
            <a:r>
              <a:rPr lang="en-US" dirty="0"/>
              <a:t>Test designers should document why the choices were made</a:t>
            </a:r>
          </a:p>
          <a:p>
            <a:endParaRPr lang="en-US" dirty="0"/>
          </a:p>
        </p:txBody>
      </p:sp>
    </p:spTree>
    <p:extLst>
      <p:ext uri="{BB962C8B-B14F-4D97-AF65-F5344CB8AC3E}">
        <p14:creationId xmlns:p14="http://schemas.microsoft.com/office/powerpoint/2010/main" val="33839505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3B437-2526-21B1-389A-3B31CAE84E52}"/>
              </a:ext>
            </a:extLst>
          </p:cNvPr>
          <p:cNvSpPr>
            <a:spLocks noGrp="1"/>
          </p:cNvSpPr>
          <p:nvPr>
            <p:ph type="title"/>
          </p:nvPr>
        </p:nvSpPr>
        <p:spPr/>
        <p:txBody>
          <a:bodyPr>
            <a:normAutofit fontScale="90000"/>
          </a:bodyPr>
          <a:lstStyle/>
          <a:p>
            <a:r>
              <a:rPr lang="en-US" dirty="0"/>
              <a:t>An Example for BCC</a:t>
            </a:r>
          </a:p>
        </p:txBody>
      </p:sp>
      <p:sp>
        <p:nvSpPr>
          <p:cNvPr id="3" name="Text Placeholder 2">
            <a:extLst>
              <a:ext uri="{FF2B5EF4-FFF2-40B4-BE49-F238E27FC236}">
                <a16:creationId xmlns:a16="http://schemas.microsoft.com/office/drawing/2014/main" id="{6896B170-913F-51F0-F50F-0C0CCCB054EE}"/>
              </a:ext>
            </a:extLst>
          </p:cNvPr>
          <p:cNvSpPr>
            <a:spLocks noGrp="1"/>
          </p:cNvSpPr>
          <p:nvPr>
            <p:ph type="body" idx="1"/>
          </p:nvPr>
        </p:nvSpPr>
        <p:spPr/>
        <p:txBody>
          <a:bodyPr/>
          <a:lstStyle/>
          <a:p>
            <a:r>
              <a:rPr lang="en-US" dirty="0"/>
              <a:t>4 Characteristics:  A, B, C, D</a:t>
            </a:r>
          </a:p>
          <a:p>
            <a:r>
              <a:rPr lang="en-US" dirty="0"/>
              <a:t>Abstract blocks: A = [a1, a2]; B = [b1, b2];</a:t>
            </a:r>
          </a:p>
          <a:p>
            <a:r>
              <a:rPr lang="en-US" dirty="0"/>
              <a:t>		       C = [c1, c2, c3]; D = [d1, d2]</a:t>
            </a:r>
          </a:p>
          <a:p>
            <a:r>
              <a:rPr lang="en-US" dirty="0"/>
              <a:t>How many tests are needed for BCC?</a:t>
            </a:r>
          </a:p>
          <a:p>
            <a:r>
              <a:rPr lang="en-US" dirty="0"/>
              <a:t>Pick base values and write one base test</a:t>
            </a:r>
          </a:p>
          <a:p>
            <a:r>
              <a:rPr lang="en-US" dirty="0"/>
              <a:t>Design the remaining (abstract) tests</a:t>
            </a:r>
          </a:p>
          <a:p>
            <a:endParaRPr lang="en-US" dirty="0"/>
          </a:p>
        </p:txBody>
      </p:sp>
    </p:spTree>
    <p:extLst>
      <p:ext uri="{BB962C8B-B14F-4D97-AF65-F5344CB8AC3E}">
        <p14:creationId xmlns:p14="http://schemas.microsoft.com/office/powerpoint/2010/main" val="1584945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F3798-87A8-BFD9-2DE5-D1D952B36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ED3022-E62C-335E-2FA4-F6AB219A36C5}"/>
              </a:ext>
            </a:extLst>
          </p:cNvPr>
          <p:cNvSpPr>
            <a:spLocks noGrp="1"/>
          </p:cNvSpPr>
          <p:nvPr>
            <p:ph type="title"/>
          </p:nvPr>
        </p:nvSpPr>
        <p:spPr/>
        <p:txBody>
          <a:bodyPr>
            <a:normAutofit fontScale="90000"/>
          </a:bodyPr>
          <a:lstStyle/>
          <a:p>
            <a:r>
              <a:rPr lang="en-US" dirty="0"/>
              <a:t>An Example for BCC</a:t>
            </a:r>
          </a:p>
        </p:txBody>
      </p:sp>
      <p:sp>
        <p:nvSpPr>
          <p:cNvPr id="3" name="Text Placeholder 2">
            <a:extLst>
              <a:ext uri="{FF2B5EF4-FFF2-40B4-BE49-F238E27FC236}">
                <a16:creationId xmlns:a16="http://schemas.microsoft.com/office/drawing/2014/main" id="{C7753FD8-BE94-BCC0-C6A4-DBBF8CD068E4}"/>
              </a:ext>
            </a:extLst>
          </p:cNvPr>
          <p:cNvSpPr>
            <a:spLocks noGrp="1"/>
          </p:cNvSpPr>
          <p:nvPr>
            <p:ph type="body" idx="1"/>
          </p:nvPr>
        </p:nvSpPr>
        <p:spPr/>
        <p:txBody>
          <a:bodyPr/>
          <a:lstStyle/>
          <a:p>
            <a:r>
              <a:rPr lang="en-US" dirty="0"/>
              <a:t>4 Characteristics:  A, B, C, D</a:t>
            </a:r>
          </a:p>
          <a:p>
            <a:r>
              <a:rPr lang="en-US" dirty="0"/>
              <a:t>Abstract blocks: A = [a1, a2]; B = [b1, b2];</a:t>
            </a:r>
          </a:p>
          <a:p>
            <a:r>
              <a:rPr lang="en-US" dirty="0"/>
              <a:t>		       C = [c1, c2, c3]; D = [d1, d2]</a:t>
            </a:r>
          </a:p>
          <a:p>
            <a:r>
              <a:rPr lang="en-US" dirty="0"/>
              <a:t>How many tests are needed for BCC?</a:t>
            </a:r>
          </a:p>
          <a:p>
            <a:r>
              <a:rPr lang="en-US" dirty="0"/>
              <a:t>Pick base values and write one base test</a:t>
            </a:r>
          </a:p>
          <a:p>
            <a:r>
              <a:rPr lang="en-US" dirty="0"/>
              <a:t>Design the remaining (abstract) tests</a:t>
            </a:r>
          </a:p>
          <a:p>
            <a:endParaRPr lang="en-US" dirty="0"/>
          </a:p>
        </p:txBody>
      </p:sp>
      <p:pic>
        <p:nvPicPr>
          <p:cNvPr id="4" name="table">
            <a:extLst>
              <a:ext uri="{FF2B5EF4-FFF2-40B4-BE49-F238E27FC236}">
                <a16:creationId xmlns:a16="http://schemas.microsoft.com/office/drawing/2014/main" id="{FD1B2E54-1F48-94A3-F988-3EC75763067E}"/>
              </a:ext>
            </a:extLst>
          </p:cNvPr>
          <p:cNvPicPr>
            <a:picLocks noChangeAspect="1"/>
          </p:cNvPicPr>
          <p:nvPr/>
        </p:nvPicPr>
        <p:blipFill>
          <a:blip r:embed="rId2"/>
          <a:stretch>
            <a:fillRect/>
          </a:stretch>
        </p:blipFill>
        <p:spPr>
          <a:xfrm>
            <a:off x="4925507" y="2724486"/>
            <a:ext cx="3982181" cy="2533077"/>
          </a:xfrm>
          <a:prstGeom prst="rect">
            <a:avLst/>
          </a:prstGeom>
        </p:spPr>
      </p:pic>
    </p:spTree>
    <p:extLst>
      <p:ext uri="{BB962C8B-B14F-4D97-AF65-F5344CB8AC3E}">
        <p14:creationId xmlns:p14="http://schemas.microsoft.com/office/powerpoint/2010/main" val="18697082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A75CB-2396-8223-7F16-DF7F959FDC23}"/>
              </a:ext>
            </a:extLst>
          </p:cNvPr>
          <p:cNvSpPr>
            <a:spLocks noGrp="1"/>
          </p:cNvSpPr>
          <p:nvPr>
            <p:ph type="title"/>
          </p:nvPr>
        </p:nvSpPr>
        <p:spPr/>
        <p:txBody>
          <a:bodyPr>
            <a:normAutofit fontScale="90000"/>
          </a:bodyPr>
          <a:lstStyle/>
          <a:p>
            <a:r>
              <a:rPr lang="en-US" dirty="0"/>
              <a:t>Multiple Base Choice Coverage (MBCC)</a:t>
            </a:r>
          </a:p>
        </p:txBody>
      </p:sp>
      <p:sp>
        <p:nvSpPr>
          <p:cNvPr id="3" name="Text Placeholder 2">
            <a:extLst>
              <a:ext uri="{FF2B5EF4-FFF2-40B4-BE49-F238E27FC236}">
                <a16:creationId xmlns:a16="http://schemas.microsoft.com/office/drawing/2014/main" id="{6A3FDFE3-8942-D5A8-2321-4FB44A695D0B}"/>
              </a:ext>
            </a:extLst>
          </p:cNvPr>
          <p:cNvSpPr>
            <a:spLocks noGrp="1"/>
          </p:cNvSpPr>
          <p:nvPr>
            <p:ph type="body" idx="1"/>
          </p:nvPr>
        </p:nvSpPr>
        <p:spPr/>
        <p:txBody>
          <a:bodyPr/>
          <a:lstStyle/>
          <a:p>
            <a:r>
              <a:rPr lang="en-US" dirty="0"/>
              <a:t>Choose at least one, and possibly more, base choice blocks for each characteristic. Form base tests by using each base choice for each characteristic at least once. Subsequent tests are chosen by holding all but one base choice constant for each base test and using each non-base choice in each other characteristic.</a:t>
            </a:r>
          </a:p>
          <a:p>
            <a:r>
              <a:rPr lang="en-US" dirty="0"/>
              <a:t>For our example: Two base tests: a1, b1, c1, d1    a2, b2, c2, d2</a:t>
            </a:r>
          </a:p>
          <a:p>
            <a:r>
              <a:rPr lang="en-US" dirty="0"/>
              <a:t>Tests from a1, b1, c1, d1:  a1, b1, c3, d1</a:t>
            </a:r>
          </a:p>
          <a:p>
            <a:r>
              <a:rPr lang="en-US" dirty="0"/>
              <a:t>Tests from a2, b2, c2, d2:  a2, b2, c3, d2</a:t>
            </a:r>
          </a:p>
        </p:txBody>
      </p:sp>
    </p:spTree>
    <p:extLst>
      <p:ext uri="{BB962C8B-B14F-4D97-AF65-F5344CB8AC3E}">
        <p14:creationId xmlns:p14="http://schemas.microsoft.com/office/powerpoint/2010/main" val="1160845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45478-FD46-ED91-A430-991C8D0B7F44}"/>
              </a:ext>
            </a:extLst>
          </p:cNvPr>
          <p:cNvSpPr>
            <a:spLocks noGrp="1"/>
          </p:cNvSpPr>
          <p:nvPr>
            <p:ph type="title"/>
          </p:nvPr>
        </p:nvSpPr>
        <p:spPr/>
        <p:txBody>
          <a:bodyPr>
            <a:normAutofit fontScale="90000"/>
          </a:bodyPr>
          <a:lstStyle/>
          <a:p>
            <a:r>
              <a:rPr lang="en-US" dirty="0"/>
              <a:t>Constraints Among Characteristics</a:t>
            </a:r>
          </a:p>
        </p:txBody>
      </p:sp>
      <p:sp>
        <p:nvSpPr>
          <p:cNvPr id="3" name="Text Placeholder 2">
            <a:extLst>
              <a:ext uri="{FF2B5EF4-FFF2-40B4-BE49-F238E27FC236}">
                <a16:creationId xmlns:a16="http://schemas.microsoft.com/office/drawing/2014/main" id="{E857CC02-A2AC-AC7A-3CCF-4836EC4D0FA6}"/>
              </a:ext>
            </a:extLst>
          </p:cNvPr>
          <p:cNvSpPr>
            <a:spLocks noGrp="1"/>
          </p:cNvSpPr>
          <p:nvPr>
            <p:ph type="body" idx="1"/>
          </p:nvPr>
        </p:nvSpPr>
        <p:spPr/>
        <p:txBody>
          <a:bodyPr/>
          <a:lstStyle/>
          <a:p>
            <a:r>
              <a:rPr lang="en-US" dirty="0"/>
              <a:t>Some combinations of blocks are infeasible</a:t>
            </a:r>
          </a:p>
          <a:p>
            <a:r>
              <a:rPr lang="en-US" dirty="0"/>
              <a:t>These are represented as constraints among blocks</a:t>
            </a:r>
          </a:p>
          <a:p>
            <a:endParaRPr lang="en-US" dirty="0"/>
          </a:p>
        </p:txBody>
      </p:sp>
      <p:sp>
        <p:nvSpPr>
          <p:cNvPr id="4" name="TextBox 3">
            <a:extLst>
              <a:ext uri="{FF2B5EF4-FFF2-40B4-BE49-F238E27FC236}">
                <a16:creationId xmlns:a16="http://schemas.microsoft.com/office/drawing/2014/main" id="{F13CEE8D-DD52-05E8-ACC5-A9D9FA3BAE57}"/>
              </a:ext>
            </a:extLst>
          </p:cNvPr>
          <p:cNvSpPr txBox="1"/>
          <p:nvPr/>
        </p:nvSpPr>
        <p:spPr>
          <a:xfrm>
            <a:off x="611893" y="1933517"/>
            <a:ext cx="5088252" cy="738664"/>
          </a:xfrm>
          <a:prstGeom prst="rect">
            <a:avLst/>
          </a:prstGeom>
          <a:noFill/>
        </p:spPr>
        <p:txBody>
          <a:bodyPr wrap="none" rtlCol="0">
            <a:spAutoFit/>
          </a:bodyPr>
          <a:lstStyle/>
          <a:p>
            <a:r>
              <a:rPr lang="en-US" dirty="0"/>
              <a:t>public </a:t>
            </a:r>
            <a:r>
              <a:rPr lang="en-US" dirty="0" err="1"/>
              <a:t>boolean</a:t>
            </a:r>
            <a:r>
              <a:rPr lang="en-US" dirty="0"/>
              <a:t> </a:t>
            </a:r>
            <a:r>
              <a:rPr lang="en-US" dirty="0" err="1"/>
              <a:t>findElement</a:t>
            </a:r>
            <a:r>
              <a:rPr lang="en-US" dirty="0"/>
              <a:t> (List </a:t>
            </a:r>
            <a:r>
              <a:rPr lang="en-US" dirty="0" err="1"/>
              <a:t>list</a:t>
            </a:r>
            <a:r>
              <a:rPr lang="en-US" dirty="0"/>
              <a:t>, Object element)</a:t>
            </a:r>
          </a:p>
          <a:p>
            <a:r>
              <a:rPr lang="en-US" dirty="0"/>
              <a:t>// Effects: if list or element is null throw </a:t>
            </a:r>
            <a:r>
              <a:rPr lang="en-US" dirty="0" err="1"/>
              <a:t>NullPointerException</a:t>
            </a:r>
            <a:endParaRPr lang="en-US" dirty="0"/>
          </a:p>
          <a:p>
            <a:r>
              <a:rPr lang="en-US" dirty="0"/>
              <a:t>//           else return true if element is in the list, false otherwise</a:t>
            </a:r>
          </a:p>
        </p:txBody>
      </p:sp>
      <p:pic>
        <p:nvPicPr>
          <p:cNvPr id="5" name="table">
            <a:extLst>
              <a:ext uri="{FF2B5EF4-FFF2-40B4-BE49-F238E27FC236}">
                <a16:creationId xmlns:a16="http://schemas.microsoft.com/office/drawing/2014/main" id="{C39B86E6-0CC5-D4D5-A6DA-D476AE5B44E7}"/>
              </a:ext>
            </a:extLst>
          </p:cNvPr>
          <p:cNvPicPr>
            <a:picLocks noChangeAspect="1"/>
          </p:cNvPicPr>
          <p:nvPr/>
        </p:nvPicPr>
        <p:blipFill>
          <a:blip r:embed="rId2"/>
          <a:stretch>
            <a:fillRect/>
          </a:stretch>
        </p:blipFill>
        <p:spPr>
          <a:xfrm>
            <a:off x="452361" y="2769333"/>
            <a:ext cx="7158472" cy="2266026"/>
          </a:xfrm>
          <a:prstGeom prst="rect">
            <a:avLst/>
          </a:prstGeom>
        </p:spPr>
      </p:pic>
    </p:spTree>
    <p:extLst>
      <p:ext uri="{BB962C8B-B14F-4D97-AF65-F5344CB8AC3E}">
        <p14:creationId xmlns:p14="http://schemas.microsoft.com/office/powerpoint/2010/main" val="31684457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F8F21-ACEF-ED16-14E2-5A10F3A6C686}"/>
              </a:ext>
            </a:extLst>
          </p:cNvPr>
          <p:cNvSpPr>
            <a:spLocks noGrp="1"/>
          </p:cNvSpPr>
          <p:nvPr>
            <p:ph type="title"/>
          </p:nvPr>
        </p:nvSpPr>
        <p:spPr/>
        <p:txBody>
          <a:bodyPr>
            <a:normAutofit fontScale="90000"/>
          </a:bodyPr>
          <a:lstStyle/>
          <a:p>
            <a:r>
              <a:rPr lang="en-US" dirty="0"/>
              <a:t>Input Space Partitioning Summary</a:t>
            </a:r>
          </a:p>
        </p:txBody>
      </p:sp>
      <p:sp>
        <p:nvSpPr>
          <p:cNvPr id="3" name="Text Placeholder 2">
            <a:extLst>
              <a:ext uri="{FF2B5EF4-FFF2-40B4-BE49-F238E27FC236}">
                <a16:creationId xmlns:a16="http://schemas.microsoft.com/office/drawing/2014/main" id="{C773C5DC-80FD-A64D-99C4-B88175301DFD}"/>
              </a:ext>
            </a:extLst>
          </p:cNvPr>
          <p:cNvSpPr>
            <a:spLocks noGrp="1"/>
          </p:cNvSpPr>
          <p:nvPr>
            <p:ph type="body" idx="1"/>
          </p:nvPr>
        </p:nvSpPr>
        <p:spPr/>
        <p:txBody>
          <a:bodyPr/>
          <a:lstStyle/>
          <a:p>
            <a:r>
              <a:rPr lang="en-US" dirty="0"/>
              <a:t>Fairly easy to apply, even with no automation</a:t>
            </a:r>
          </a:p>
          <a:p>
            <a:r>
              <a:rPr lang="en-US" dirty="0"/>
              <a:t>Convenient ways to add more or less testing</a:t>
            </a:r>
          </a:p>
          <a:p>
            <a:r>
              <a:rPr lang="en-US" dirty="0"/>
              <a:t>Applicable to all levels of testing – unit, class, integration, system, etc.</a:t>
            </a:r>
          </a:p>
          <a:p>
            <a:r>
              <a:rPr lang="en-US" dirty="0"/>
              <a:t>Based only on the input space of the program, not the implementation</a:t>
            </a:r>
          </a:p>
          <a:p>
            <a:r>
              <a:rPr lang="en-US" dirty="0"/>
              <a:t>Simple, straightforward, effective, and widely used</a:t>
            </a:r>
          </a:p>
        </p:txBody>
      </p:sp>
    </p:spTree>
    <p:extLst>
      <p:ext uri="{BB962C8B-B14F-4D97-AF65-F5344CB8AC3E}">
        <p14:creationId xmlns:p14="http://schemas.microsoft.com/office/powerpoint/2010/main" val="3686691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License</a:t>
            </a:r>
            <a:endParaRPr/>
          </a:p>
        </p:txBody>
      </p:sp>
      <p:sp>
        <p:nvSpPr>
          <p:cNvPr id="240" name="Google Shape;240;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Font typeface="Sarabun"/>
              <a:buChar char="●"/>
            </a:pPr>
            <a:r>
              <a:rPr lang="en" dirty="0">
                <a:latin typeface="Sarabun"/>
                <a:ea typeface="Sarabun"/>
                <a:cs typeface="Sarabun"/>
                <a:sym typeface="Sarabun"/>
              </a:rPr>
              <a:t>The slides are licensed under CC-BY-NC-SA 2.0</a:t>
            </a:r>
            <a:endParaRPr dirty="0">
              <a:latin typeface="Sarabun"/>
              <a:ea typeface="Sarabun"/>
              <a:cs typeface="Sarabun"/>
              <a:sym typeface="Sarabun"/>
            </a:endParaRPr>
          </a:p>
          <a:p>
            <a:pPr marL="914400" lvl="1" indent="-317500" algn="l" rtl="0">
              <a:spcBef>
                <a:spcPts val="0"/>
              </a:spcBef>
              <a:spcAft>
                <a:spcPts val="0"/>
              </a:spcAft>
              <a:buSzPts val="1400"/>
              <a:buFont typeface="Sarabun"/>
              <a:buChar char="○"/>
            </a:pPr>
            <a:r>
              <a:rPr lang="en" u="sng" dirty="0">
                <a:solidFill>
                  <a:schemeClr val="hlink"/>
                </a:solidFill>
                <a:latin typeface="Sarabun"/>
                <a:ea typeface="Sarabun"/>
                <a:cs typeface="Sarabun"/>
                <a:sym typeface="Sarabun"/>
                <a:hlinkClick r:id="rId3"/>
              </a:rPr>
              <a:t>https://creativecommons.org/licenses/by-nc-sa/4.0/</a:t>
            </a:r>
            <a:endParaRPr dirty="0">
              <a:latin typeface="Sarabun"/>
              <a:ea typeface="Sarabun"/>
              <a:cs typeface="Sarabun"/>
              <a:sym typeface="Sarabun"/>
            </a:endParaRPr>
          </a:p>
          <a:p>
            <a:pPr marL="457200" lvl="0" indent="-342900" algn="l" rtl="0">
              <a:spcBef>
                <a:spcPts val="0"/>
              </a:spcBef>
              <a:spcAft>
                <a:spcPts val="0"/>
              </a:spcAft>
              <a:buSzPts val="1800"/>
              <a:buFont typeface="Sarabun"/>
              <a:buChar char="●"/>
            </a:pPr>
            <a:r>
              <a:rPr lang="en" dirty="0">
                <a:latin typeface="Sarabun"/>
                <a:ea typeface="Sarabun"/>
                <a:cs typeface="Sarabun"/>
                <a:sym typeface="Sarabun"/>
              </a:rPr>
              <a:t>If you use this deck of slides in any way (as is or derived), please add a reference to the book and to its website (effective-software-testing.com)</a:t>
            </a:r>
            <a:endParaRPr dirty="0">
              <a:latin typeface="Sarabun"/>
              <a:ea typeface="Sarabun"/>
              <a:cs typeface="Sarabun"/>
              <a:sym typeface="Sarabun"/>
            </a:endParaRPr>
          </a:p>
          <a:p>
            <a:pPr marL="457200" lvl="0" indent="-342900" algn="l" rtl="0">
              <a:spcBef>
                <a:spcPts val="0"/>
              </a:spcBef>
              <a:spcAft>
                <a:spcPts val="0"/>
              </a:spcAft>
              <a:buSzPts val="1800"/>
              <a:buFont typeface="Sarabun"/>
              <a:buChar char="●"/>
            </a:pPr>
            <a:r>
              <a:rPr lang="en" dirty="0">
                <a:latin typeface="Sarabun"/>
                <a:ea typeface="Sarabun"/>
                <a:cs typeface="Sarabun"/>
                <a:sym typeface="Sarabun"/>
              </a:rPr>
              <a:t>The photos come from various artists in Unsplash.</a:t>
            </a:r>
            <a:endParaRPr dirty="0">
              <a:latin typeface="Sarabun"/>
              <a:ea typeface="Sarabun"/>
              <a:cs typeface="Sarabun"/>
              <a:sym typeface="Sarabun"/>
            </a:endParaRPr>
          </a:p>
          <a:p>
            <a:pPr marL="457200" lvl="0" indent="-342900" algn="l" rtl="0">
              <a:spcBef>
                <a:spcPts val="0"/>
              </a:spcBef>
              <a:spcAft>
                <a:spcPts val="0"/>
              </a:spcAft>
              <a:buSzPts val="1800"/>
              <a:buFont typeface="Sarabun"/>
              <a:buChar char="●"/>
            </a:pPr>
            <a:r>
              <a:rPr lang="en" dirty="0">
                <a:latin typeface="Sarabun"/>
                <a:ea typeface="Sarabun"/>
                <a:cs typeface="Sarabun"/>
                <a:sym typeface="Sarabun"/>
              </a:rPr>
              <a:t>The icons come from iconfinder.com.</a:t>
            </a:r>
          </a:p>
          <a:p>
            <a:pPr marL="457200" lvl="0" indent="-342900" algn="l" rtl="0">
              <a:spcBef>
                <a:spcPts val="0"/>
              </a:spcBef>
              <a:spcAft>
                <a:spcPts val="0"/>
              </a:spcAft>
              <a:buSzPts val="1800"/>
              <a:buFont typeface="Sarabun"/>
              <a:buChar char="●"/>
            </a:pPr>
            <a:r>
              <a:rPr lang="en" dirty="0">
                <a:latin typeface="Sarabun"/>
                <a:ea typeface="Sarabun"/>
                <a:cs typeface="Sarabun"/>
                <a:sym typeface="Sarabun"/>
              </a:rPr>
              <a:t>Some slides are also adapted from </a:t>
            </a:r>
            <a:endParaRPr dirty="0">
              <a:latin typeface="Sarabun"/>
              <a:ea typeface="Sarabun"/>
              <a:cs typeface="Sarabun"/>
              <a:sym typeface="Sarabun"/>
            </a:endParaRPr>
          </a:p>
        </p:txBody>
      </p:sp>
      <p:pic>
        <p:nvPicPr>
          <p:cNvPr id="241" name="Google Shape;241;p38"/>
          <p:cNvPicPr preferRelativeResize="0"/>
          <p:nvPr/>
        </p:nvPicPr>
        <p:blipFill>
          <a:blip r:embed="rId4">
            <a:alphaModFix/>
          </a:blip>
          <a:stretch>
            <a:fillRect/>
          </a:stretch>
        </p:blipFill>
        <p:spPr>
          <a:xfrm>
            <a:off x="6828175" y="4194300"/>
            <a:ext cx="2034474" cy="7120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E4D3D-8F72-A62D-1117-C45BBEFD82F3}"/>
              </a:ext>
            </a:extLst>
          </p:cNvPr>
          <p:cNvSpPr>
            <a:spLocks noGrp="1"/>
          </p:cNvSpPr>
          <p:nvPr>
            <p:ph type="title"/>
          </p:nvPr>
        </p:nvSpPr>
        <p:spPr/>
        <p:txBody>
          <a:bodyPr>
            <a:normAutofit fontScale="90000"/>
          </a:bodyPr>
          <a:lstStyle/>
          <a:p>
            <a:r>
              <a:rPr lang="en-US" dirty="0"/>
              <a:t>Lab-1 Submission</a:t>
            </a:r>
          </a:p>
        </p:txBody>
      </p:sp>
      <p:sp>
        <p:nvSpPr>
          <p:cNvPr id="3" name="Text Placeholder 2">
            <a:extLst>
              <a:ext uri="{FF2B5EF4-FFF2-40B4-BE49-F238E27FC236}">
                <a16:creationId xmlns:a16="http://schemas.microsoft.com/office/drawing/2014/main" id="{AD6236FA-D52B-E3FC-7A5F-EC510E14E4BB}"/>
              </a:ext>
            </a:extLst>
          </p:cNvPr>
          <p:cNvSpPr>
            <a:spLocks noGrp="1"/>
          </p:cNvSpPr>
          <p:nvPr>
            <p:ph type="body" idx="1"/>
          </p:nvPr>
        </p:nvSpPr>
        <p:spPr/>
        <p:txBody>
          <a:bodyPr/>
          <a:lstStyle/>
          <a:p>
            <a:r>
              <a:rPr lang="en-US" b="1" dirty="0"/>
              <a:t>Email the TA and CC me. Use the subject line:</a:t>
            </a:r>
            <a:br>
              <a:rPr lang="en-US" dirty="0"/>
            </a:br>
            <a:r>
              <a:rPr lang="en-US" i="1" dirty="0"/>
              <a:t>“LSU-CSC-4332-Lab-1 &lt;Your Name&gt; &lt;LSU ID&gt;”.</a:t>
            </a:r>
            <a:endParaRPr lang="en-US" dirty="0"/>
          </a:p>
          <a:p>
            <a:r>
              <a:rPr lang="en-US" b="1" dirty="0"/>
              <a:t>Attach</a:t>
            </a:r>
            <a:r>
              <a:rPr lang="en-US" dirty="0"/>
              <a:t> a screenshot of your IDE showing that the code ran successfully, and your </a:t>
            </a:r>
            <a:r>
              <a:rPr lang="en-US" dirty="0" err="1"/>
              <a:t>testfile</a:t>
            </a:r>
            <a:r>
              <a:rPr lang="en-US" dirty="0"/>
              <a:t>.</a:t>
            </a:r>
          </a:p>
        </p:txBody>
      </p:sp>
    </p:spTree>
    <p:extLst>
      <p:ext uri="{BB962C8B-B14F-4D97-AF65-F5344CB8AC3E}">
        <p14:creationId xmlns:p14="http://schemas.microsoft.com/office/powerpoint/2010/main" val="410114536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7120</TotalTime>
  <Words>2235</Words>
  <Application>Microsoft Office PowerPoint</Application>
  <PresentationFormat>On-screen Show (16:9)</PresentationFormat>
  <Paragraphs>280</Paragraphs>
  <Slides>42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Quicksand</vt:lpstr>
      <vt:lpstr>Courier New</vt:lpstr>
      <vt:lpstr>楷体_GB2312</vt:lpstr>
      <vt:lpstr>Catamaran</vt:lpstr>
      <vt:lpstr>Arial</vt:lpstr>
      <vt:lpstr>Sarabun</vt:lpstr>
      <vt:lpstr>Simple Light</vt:lpstr>
      <vt:lpstr>Specification-based  testing</vt:lpstr>
      <vt:lpstr>What are the top-3 keywords (max 2 terms each) that best sum up the content of the chapter?</vt:lpstr>
      <vt:lpstr>What is Chapter 2 about?</vt:lpstr>
      <vt:lpstr>PowerPoint Presentation</vt:lpstr>
      <vt:lpstr>Let's practice!</vt:lpstr>
      <vt:lpstr>One possible way to reason about it</vt:lpstr>
      <vt:lpstr>PowerPoint Presentation</vt:lpstr>
      <vt:lpstr>Boundary testing</vt:lpstr>
      <vt:lpstr>Boundary testing</vt:lpstr>
      <vt:lpstr>Boundary testing: question 1</vt:lpstr>
      <vt:lpstr>Boundary testing: question 1</vt:lpstr>
      <vt:lpstr>Boundary testing: question 2</vt:lpstr>
      <vt:lpstr>Boundary testing: question 2</vt:lpstr>
      <vt:lpstr>Boundary testing: question 3</vt:lpstr>
      <vt:lpstr>Boundary testing: question 3</vt:lpstr>
      <vt:lpstr>Boundary testing: question 4</vt:lpstr>
      <vt:lpstr>Boundary testing: question 4</vt:lpstr>
      <vt:lpstr>Boundary testing: floating-point numbers</vt:lpstr>
      <vt:lpstr>Boundary testing: floating-point numbers</vt:lpstr>
      <vt:lpstr>Boundary testing: floating-point numbers</vt:lpstr>
      <vt:lpstr>Time for Q&amp;A!</vt:lpstr>
      <vt:lpstr>Input Space Coverage (ISP)</vt:lpstr>
      <vt:lpstr>Input Domains</vt:lpstr>
      <vt:lpstr>Partitioning Domain</vt:lpstr>
      <vt:lpstr>What is a characteristic?</vt:lpstr>
      <vt:lpstr>Modeling the input domain (IDM)</vt:lpstr>
      <vt:lpstr>IDM Hints</vt:lpstr>
      <vt:lpstr>An Example</vt:lpstr>
      <vt:lpstr>All combinations criterion (ACoC)</vt:lpstr>
      <vt:lpstr>Another Example</vt:lpstr>
      <vt:lpstr>All combinations criterion (ACoC) </vt:lpstr>
      <vt:lpstr>Each Choice Coverage (ECC) </vt:lpstr>
      <vt:lpstr>Each Choice Coverage (ECC) </vt:lpstr>
      <vt:lpstr>Base Choice Coverage (BCC)</vt:lpstr>
      <vt:lpstr>Base choice notes</vt:lpstr>
      <vt:lpstr>An Example for BCC</vt:lpstr>
      <vt:lpstr>An Example for BCC</vt:lpstr>
      <vt:lpstr>Multiple Base Choice Coverage (MBCC)</vt:lpstr>
      <vt:lpstr>Constraints Among Characteristics</vt:lpstr>
      <vt:lpstr>Input Space Partitioning Summary</vt:lpstr>
      <vt:lpstr>License</vt:lpstr>
      <vt:lpstr>Lab-1 Submission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Abdus Satter</dc:creator>
  <cp:lastModifiedBy>Abdus Satter</cp:lastModifiedBy>
  <cp:revision>27</cp:revision>
  <dcterms:modified xsi:type="dcterms:W3CDTF">2026-01-27T15:51:42Z</dcterms:modified>
</cp:coreProperties>
</file>