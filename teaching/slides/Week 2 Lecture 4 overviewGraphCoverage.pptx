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36" r:id="rId2"/>
    <p:sldId id="384" r:id="rId3"/>
    <p:sldId id="338" r:id="rId4"/>
    <p:sldId id="386" r:id="rId5"/>
    <p:sldId id="340" r:id="rId6"/>
    <p:sldId id="341" r:id="rId7"/>
    <p:sldId id="342" r:id="rId8"/>
    <p:sldId id="343" r:id="rId9"/>
    <p:sldId id="355" r:id="rId10"/>
    <p:sldId id="345" r:id="rId11"/>
    <p:sldId id="354" r:id="rId12"/>
    <p:sldId id="353" r:id="rId13"/>
    <p:sldId id="377" r:id="rId14"/>
    <p:sldId id="388" r:id="rId15"/>
    <p:sldId id="389" r:id="rId16"/>
    <p:sldId id="356" r:id="rId17"/>
    <p:sldId id="350" r:id="rId18"/>
    <p:sldId id="379" r:id="rId19"/>
    <p:sldId id="390" r:id="rId20"/>
    <p:sldId id="391" r:id="rId21"/>
    <p:sldId id="352" r:id="rId22"/>
    <p:sldId id="347" r:id="rId23"/>
    <p:sldId id="357" r:id="rId24"/>
    <p:sldId id="359" r:id="rId25"/>
    <p:sldId id="360" r:id="rId26"/>
    <p:sldId id="381" r:id="rId27"/>
    <p:sldId id="392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5A"/>
    <a:srgbClr val="001E5A"/>
    <a:srgbClr val="5F5F5F"/>
    <a:srgbClr val="000000"/>
    <a:srgbClr val="6699FF"/>
    <a:srgbClr val="3399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51" autoAdjust="0"/>
    <p:restoredTop sz="94780" autoAdjust="0"/>
  </p:normalViewPr>
  <p:slideViewPr>
    <p:cSldViewPr snapToGrid="0">
      <p:cViewPr varScale="1">
        <p:scale>
          <a:sx n="74" d="100"/>
          <a:sy n="74" d="100"/>
        </p:scale>
        <p:origin x="1400" y="56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5.xml"/><Relationship Id="rId3" Type="http://schemas.openxmlformats.org/officeDocument/2006/relationships/slide" Target="slides/slide15.xml"/><Relationship Id="rId7" Type="http://schemas.openxmlformats.org/officeDocument/2006/relationships/slide" Target="slides/slide24.xml"/><Relationship Id="rId2" Type="http://schemas.openxmlformats.org/officeDocument/2006/relationships/slide" Target="slides/slide14.xml"/><Relationship Id="rId1" Type="http://schemas.openxmlformats.org/officeDocument/2006/relationships/slide" Target="slides/slide9.xml"/><Relationship Id="rId6" Type="http://schemas.openxmlformats.org/officeDocument/2006/relationships/slide" Target="slides/slide23.xml"/><Relationship Id="rId5" Type="http://schemas.openxmlformats.org/officeDocument/2006/relationships/slide" Target="slides/slide22.xml"/><Relationship Id="rId4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fld id="{C7BB6B9F-6BEE-4492-97B2-C6D213633B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21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9F24B5-91E7-4C92-93FC-7BD65A23A0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23" tIns="48662" rIns="97323" bIns="48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90888" y="9144000"/>
            <a:ext cx="7477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91" tIns="46984" rIns="92291" bIns="46984">
            <a:spAutoFit/>
          </a:bodyPr>
          <a:lstStyle/>
          <a:p>
            <a:pPr algn="ctr" defTabSz="917305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39F12C26-DA6D-4D70-A323-9F928896A7D4}" type="slidenum">
              <a:rPr lang="en-US" sz="1300" b="0">
                <a:solidFill>
                  <a:schemeClr val="tx1"/>
                </a:solidFill>
              </a:rPr>
              <a:pPr algn="ctr" defTabSz="917305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24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876A6524-F329-4F2E-812B-2CFA2BB8E015}" type="slidenum">
              <a:rPr lang="en-US" smtClean="0"/>
              <a:pPr defTabSz="96520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1D117C3E-0DEA-4F66-84C7-A5E73904F6F3}" type="slidenum">
              <a:rPr lang="en-US" smtClean="0"/>
              <a:pPr defTabSz="96520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24F156E4-F728-4ADA-BF36-E3D098AAB297}" type="slidenum">
              <a:rPr lang="en-US" smtClean="0"/>
              <a:pPr defTabSz="96520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0FC2353F-9C0B-41F8-B780-EE68B6466865}" type="slidenum">
              <a:rPr lang="en-US" smtClean="0"/>
              <a:pPr defTabSz="96520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1C2EA201-672C-47CD-9229-A3B1A722616D}" type="slidenum">
              <a:rPr lang="en-US" smtClean="0"/>
              <a:pPr defTabSz="96520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C8933F4B-5D60-44F2-B3E7-CD9806D31F7D}" type="slidenum">
              <a:rPr lang="en-US" smtClean="0"/>
              <a:pPr defTabSz="96520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5C2118C7-8CCE-41B8-92C4-04702193C8EF}" type="slidenum">
              <a:rPr lang="en-US" smtClean="0"/>
              <a:pPr defTabSz="96520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3A385A7E-3F01-428A-A1D6-941DB4E346FC}" type="slidenum">
              <a:rPr lang="en-US" smtClean="0"/>
              <a:pPr defTabSz="96520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44EA8C7D-BC1F-4701-9DB1-9870CE769DD3}" type="slidenum">
              <a:rPr lang="en-US" smtClean="0"/>
              <a:pPr defTabSz="96520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A5AC06A2-481B-4ED0-AE8E-46DA5F5194D4}" type="slidenum">
              <a:rPr lang="en-US" smtClean="0"/>
              <a:pPr defTabSz="96520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E8C470B0-47AA-46E6-A1F8-837DCEFE716D}" type="slidenum">
              <a:rPr lang="en-US" smtClean="0"/>
              <a:pPr defTabSz="965200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4E05D-11E3-431E-87DD-475E56A3C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E34D2-BFAA-43E6-B117-0A7C9FC99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0622C-CA54-4228-8014-86B52390B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D21EC-7ADB-4801-83F4-32E205B32F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83153-14FF-4BE6-B48A-3786E0D7B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A7B84-9F6B-4375-98C9-19E41DF1C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28736-AB71-4EFF-866C-FA1AAB83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55514-60E9-460E-88D9-704B30AAD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96F0-B41E-432D-8254-675F0330BD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053D6-ED5B-417A-8106-29D1AEFAA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4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4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AAE57-6A86-423C-BD8C-EF5BE5360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" y="6507163"/>
            <a:ext cx="37703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497638"/>
            <a:ext cx="28956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6775" y="6489700"/>
            <a:ext cx="1905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F908E1-C45A-4455-890F-ACADC7D039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5090" y="96838"/>
            <a:ext cx="896112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085850"/>
            <a:ext cx="9005888" cy="539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9118833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gmu.edu/~offutt/software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94243"/>
            <a:ext cx="7772400" cy="3433694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Overview Graph Coverage Criteria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45CA5-AE0C-C536-5D21-39E51F888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Graphs  (7.1)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are the most </a:t>
            </a:r>
            <a:r>
              <a:rPr lang="en-US" dirty="0">
                <a:solidFill>
                  <a:schemeClr val="tx2"/>
                </a:solidFill>
              </a:rPr>
              <a:t>commonly</a:t>
            </a:r>
            <a:r>
              <a:rPr lang="en-US" dirty="0"/>
              <a:t> used structure for testing</a:t>
            </a:r>
          </a:p>
          <a:p>
            <a:pPr lvl="1"/>
            <a:endParaRPr lang="en-US" sz="1800" dirty="0"/>
          </a:p>
          <a:p>
            <a:r>
              <a:rPr lang="en-US" dirty="0"/>
              <a:t>Graphs can come from </a:t>
            </a:r>
            <a:r>
              <a:rPr lang="en-US" dirty="0">
                <a:solidFill>
                  <a:schemeClr val="tx2"/>
                </a:solidFill>
              </a:rPr>
              <a:t>many sources</a:t>
            </a:r>
          </a:p>
          <a:p>
            <a:pPr lvl="1"/>
            <a:r>
              <a:rPr lang="en-US" dirty="0"/>
              <a:t>Control flow graphs</a:t>
            </a:r>
          </a:p>
          <a:p>
            <a:pPr lvl="1"/>
            <a:r>
              <a:rPr lang="en-US" dirty="0"/>
              <a:t>Design structure</a:t>
            </a:r>
          </a:p>
          <a:p>
            <a:pPr lvl="1"/>
            <a:r>
              <a:rPr lang="en-US" dirty="0"/>
              <a:t>FSMs and </a:t>
            </a:r>
            <a:r>
              <a:rPr lang="en-US" dirty="0" err="1"/>
              <a:t>statecharts</a:t>
            </a:r>
            <a:endParaRPr lang="en-US" dirty="0"/>
          </a:p>
          <a:p>
            <a:pPr lvl="1"/>
            <a:r>
              <a:rPr lang="en-US" dirty="0"/>
              <a:t>Use cases</a:t>
            </a:r>
          </a:p>
          <a:p>
            <a:pPr lvl="1"/>
            <a:endParaRPr lang="en-US" sz="1800" dirty="0"/>
          </a:p>
          <a:p>
            <a:r>
              <a:rPr lang="en-US" dirty="0"/>
              <a:t>Tests usually are intended to “</a:t>
            </a:r>
            <a:r>
              <a:rPr lang="en-US" dirty="0">
                <a:solidFill>
                  <a:schemeClr val="tx2"/>
                </a:solidFill>
              </a:rPr>
              <a:t>cover</a:t>
            </a:r>
            <a:r>
              <a:rPr lang="en-US" dirty="0"/>
              <a:t>” the graph in some way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3CB583-FD6B-4493-B6FA-E739FBE13C8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a Graph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set </a:t>
            </a:r>
            <a:r>
              <a:rPr lang="en-US" i="1" dirty="0"/>
              <a:t>N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nodes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initial nodes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 err="1"/>
              <a:t>N</a:t>
            </a:r>
            <a:r>
              <a:rPr lang="en-US" i="1" baseline="-25000" dirty="0" err="1"/>
              <a:t>f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final nodes</a:t>
            </a:r>
            <a:r>
              <a:rPr lang="en-US" dirty="0"/>
              <a:t>, </a:t>
            </a:r>
            <a:r>
              <a:rPr lang="en-US" i="1" dirty="0" err="1"/>
              <a:t>N</a:t>
            </a:r>
            <a:r>
              <a:rPr lang="en-US" i="1" baseline="-25000" dirty="0" err="1"/>
              <a:t>f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/>
              <a:t>E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edges</a:t>
            </a:r>
            <a:r>
              <a:rPr lang="en-US" dirty="0"/>
              <a:t>, each edge from one node to another</a:t>
            </a:r>
          </a:p>
          <a:p>
            <a:pPr lvl="1"/>
            <a:r>
              <a:rPr lang="en-US" sz="1800" dirty="0"/>
              <a:t>( </a:t>
            </a:r>
            <a:r>
              <a:rPr lang="en-US" i="1" dirty="0" err="1"/>
              <a:t>n</a:t>
            </a:r>
            <a:r>
              <a:rPr lang="en-US" i="1" baseline="-25000" dirty="0" err="1"/>
              <a:t>i</a:t>
            </a:r>
            <a:r>
              <a:rPr lang="en-US" dirty="0"/>
              <a:t> , </a:t>
            </a:r>
            <a:r>
              <a:rPr lang="en-US" i="1" dirty="0" err="1"/>
              <a:t>n</a:t>
            </a:r>
            <a:r>
              <a:rPr lang="en-US" i="1" baseline="-25000" dirty="0" err="1"/>
              <a:t>j</a:t>
            </a:r>
            <a:r>
              <a:rPr lang="en-US" dirty="0"/>
              <a:t> ), </a:t>
            </a:r>
            <a:r>
              <a:rPr lang="en-US" i="1" dirty="0" err="1"/>
              <a:t>i</a:t>
            </a:r>
            <a:r>
              <a:rPr lang="en-US" dirty="0"/>
              <a:t> is </a:t>
            </a:r>
            <a:r>
              <a:rPr lang="en-US" dirty="0">
                <a:solidFill>
                  <a:schemeClr val="tx2"/>
                </a:solidFill>
              </a:rPr>
              <a:t>predecessor</a:t>
            </a:r>
            <a:r>
              <a:rPr lang="en-US" dirty="0"/>
              <a:t>, </a:t>
            </a:r>
            <a:r>
              <a:rPr lang="en-US" i="1" dirty="0"/>
              <a:t>j</a:t>
            </a:r>
            <a:r>
              <a:rPr lang="en-US" dirty="0"/>
              <a:t> is </a:t>
            </a:r>
            <a:r>
              <a:rPr lang="en-US" dirty="0">
                <a:solidFill>
                  <a:schemeClr val="tx2"/>
                </a:solidFill>
              </a:rPr>
              <a:t>successor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35AFF7-E3DE-47C9-9E1F-BFE4AC9043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Graphs</a:t>
            </a:r>
          </a:p>
        </p:txBody>
      </p:sp>
      <p:grpSp>
        <p:nvGrpSpPr>
          <p:cNvPr id="6150" name="Group 114"/>
          <p:cNvGrpSpPr>
            <a:grpSpLocks/>
          </p:cNvGrpSpPr>
          <p:nvPr/>
        </p:nvGrpSpPr>
        <p:grpSpPr bwMode="auto">
          <a:xfrm>
            <a:off x="160338" y="873639"/>
            <a:ext cx="1984375" cy="3794125"/>
            <a:chOff x="101" y="801"/>
            <a:chExt cx="1250" cy="2390"/>
          </a:xfrm>
        </p:grpSpPr>
        <p:sp>
          <p:nvSpPr>
            <p:cNvPr id="6204" name="Oval 5"/>
            <p:cNvSpPr>
              <a:spLocks noChangeArrowheads="1"/>
            </p:cNvSpPr>
            <p:nvPr/>
          </p:nvSpPr>
          <p:spPr bwMode="auto">
            <a:xfrm>
              <a:off x="551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5" name="Text Box 4"/>
            <p:cNvSpPr txBox="1">
              <a:spLocks noChangeArrowheads="1"/>
            </p:cNvSpPr>
            <p:nvPr/>
          </p:nvSpPr>
          <p:spPr bwMode="auto">
            <a:xfrm>
              <a:off x="628" y="1042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06" name="Oval 8"/>
            <p:cNvSpPr>
              <a:spLocks noChangeArrowheads="1"/>
            </p:cNvSpPr>
            <p:nvPr/>
          </p:nvSpPr>
          <p:spPr bwMode="auto">
            <a:xfrm>
              <a:off x="10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7" name="Text Box 9"/>
            <p:cNvSpPr txBox="1">
              <a:spLocks noChangeArrowheads="1"/>
            </p:cNvSpPr>
            <p:nvPr/>
          </p:nvSpPr>
          <p:spPr bwMode="auto">
            <a:xfrm>
              <a:off x="10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208" name="Oval 11"/>
            <p:cNvSpPr>
              <a:spLocks noChangeArrowheads="1"/>
            </p:cNvSpPr>
            <p:nvPr/>
          </p:nvSpPr>
          <p:spPr bwMode="auto">
            <a:xfrm>
              <a:off x="1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9" name="Text Box 12"/>
            <p:cNvSpPr txBox="1">
              <a:spLocks noChangeArrowheads="1"/>
            </p:cNvSpPr>
            <p:nvPr/>
          </p:nvSpPr>
          <p:spPr bwMode="auto">
            <a:xfrm>
              <a:off x="1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10" name="Oval 14"/>
            <p:cNvSpPr>
              <a:spLocks noChangeArrowheads="1"/>
            </p:cNvSpPr>
            <p:nvPr/>
          </p:nvSpPr>
          <p:spPr bwMode="auto">
            <a:xfrm>
              <a:off x="551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1" name="Text Box 15"/>
            <p:cNvSpPr txBox="1">
              <a:spLocks noChangeArrowheads="1"/>
            </p:cNvSpPr>
            <p:nvPr/>
          </p:nvSpPr>
          <p:spPr bwMode="auto">
            <a:xfrm>
              <a:off x="628" y="2918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12" name="Line 19"/>
            <p:cNvSpPr>
              <a:spLocks noChangeShapeType="1"/>
            </p:cNvSpPr>
            <p:nvPr/>
          </p:nvSpPr>
          <p:spPr bwMode="auto">
            <a:xfrm flipH="1">
              <a:off x="360" y="1312"/>
              <a:ext cx="327" cy="6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3" name="Line 22"/>
            <p:cNvSpPr>
              <a:spLocks noChangeShapeType="1"/>
            </p:cNvSpPr>
            <p:nvPr/>
          </p:nvSpPr>
          <p:spPr bwMode="auto">
            <a:xfrm>
              <a:off x="384" y="2239"/>
              <a:ext cx="280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4" name="Line 27"/>
            <p:cNvSpPr>
              <a:spLocks noChangeShapeType="1"/>
            </p:cNvSpPr>
            <p:nvPr/>
          </p:nvSpPr>
          <p:spPr bwMode="auto">
            <a:xfrm flipH="1">
              <a:off x="780" y="2235"/>
              <a:ext cx="303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5" name="Line 28"/>
            <p:cNvSpPr>
              <a:spLocks noChangeShapeType="1"/>
            </p:cNvSpPr>
            <p:nvPr/>
          </p:nvSpPr>
          <p:spPr bwMode="auto">
            <a:xfrm>
              <a:off x="780" y="1317"/>
              <a:ext cx="303" cy="6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6" name="Line 29"/>
            <p:cNvSpPr>
              <a:spLocks noChangeShapeType="1"/>
            </p:cNvSpPr>
            <p:nvPr/>
          </p:nvSpPr>
          <p:spPr bwMode="auto">
            <a:xfrm>
              <a:off x="726" y="801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1" name="Text Box 109"/>
          <p:cNvSpPr txBox="1">
            <a:spLocks noChangeArrowheads="1"/>
          </p:cNvSpPr>
          <p:nvPr/>
        </p:nvSpPr>
        <p:spPr bwMode="auto">
          <a:xfrm>
            <a:off x="160338" y="4802187"/>
            <a:ext cx="2066395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1}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4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(1,2), (1,3), (2,4), (3,4) }</a:t>
            </a:r>
          </a:p>
        </p:txBody>
      </p:sp>
      <p:grpSp>
        <p:nvGrpSpPr>
          <p:cNvPr id="6152" name="Group 116"/>
          <p:cNvGrpSpPr>
            <a:grpSpLocks/>
          </p:cNvGrpSpPr>
          <p:nvPr/>
        </p:nvGrpSpPr>
        <p:grpSpPr bwMode="auto">
          <a:xfrm>
            <a:off x="7058025" y="1219714"/>
            <a:ext cx="1984375" cy="3448050"/>
            <a:chOff x="4446" y="1019"/>
            <a:chExt cx="1250" cy="2172"/>
          </a:xfrm>
        </p:grpSpPr>
        <p:sp>
          <p:nvSpPr>
            <p:cNvPr id="6192" name="Oval 90"/>
            <p:cNvSpPr>
              <a:spLocks noChangeArrowheads="1"/>
            </p:cNvSpPr>
            <p:nvPr/>
          </p:nvSpPr>
          <p:spPr bwMode="auto">
            <a:xfrm>
              <a:off x="4896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Text Box 91"/>
            <p:cNvSpPr txBox="1">
              <a:spLocks noChangeArrowheads="1"/>
            </p:cNvSpPr>
            <p:nvPr/>
          </p:nvSpPr>
          <p:spPr bwMode="auto">
            <a:xfrm>
              <a:off x="4973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94" name="Oval 93"/>
            <p:cNvSpPr>
              <a:spLocks noChangeArrowheads="1"/>
            </p:cNvSpPr>
            <p:nvPr/>
          </p:nvSpPr>
          <p:spPr bwMode="auto">
            <a:xfrm>
              <a:off x="53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5" name="Text Box 94"/>
            <p:cNvSpPr txBox="1">
              <a:spLocks noChangeArrowheads="1"/>
            </p:cNvSpPr>
            <p:nvPr/>
          </p:nvSpPr>
          <p:spPr bwMode="auto">
            <a:xfrm>
              <a:off x="5423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96" name="Oval 96"/>
            <p:cNvSpPr>
              <a:spLocks noChangeArrowheads="1"/>
            </p:cNvSpPr>
            <p:nvPr/>
          </p:nvSpPr>
          <p:spPr bwMode="auto">
            <a:xfrm>
              <a:off x="44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98" name="Oval 99"/>
            <p:cNvSpPr>
              <a:spLocks noChangeArrowheads="1"/>
            </p:cNvSpPr>
            <p:nvPr/>
          </p:nvSpPr>
          <p:spPr bwMode="auto">
            <a:xfrm>
              <a:off x="4896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Text Box 100"/>
            <p:cNvSpPr txBox="1">
              <a:spLocks noChangeArrowheads="1"/>
            </p:cNvSpPr>
            <p:nvPr/>
          </p:nvSpPr>
          <p:spPr bwMode="auto">
            <a:xfrm>
              <a:off x="4973" y="2918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00" name="Line 101"/>
            <p:cNvSpPr>
              <a:spLocks noChangeShapeType="1"/>
            </p:cNvSpPr>
            <p:nvPr/>
          </p:nvSpPr>
          <p:spPr bwMode="auto">
            <a:xfrm flipH="1">
              <a:off x="4705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102"/>
            <p:cNvSpPr>
              <a:spLocks noChangeShapeType="1"/>
            </p:cNvSpPr>
            <p:nvPr/>
          </p:nvSpPr>
          <p:spPr bwMode="auto">
            <a:xfrm>
              <a:off x="4729" y="2239"/>
              <a:ext cx="244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103"/>
            <p:cNvSpPr>
              <a:spLocks noChangeShapeType="1"/>
            </p:cNvSpPr>
            <p:nvPr/>
          </p:nvSpPr>
          <p:spPr bwMode="auto">
            <a:xfrm flipH="1">
              <a:off x="5129" y="2235"/>
              <a:ext cx="299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104"/>
            <p:cNvSpPr>
              <a:spLocks noChangeShapeType="1"/>
            </p:cNvSpPr>
            <p:nvPr/>
          </p:nvSpPr>
          <p:spPr bwMode="auto">
            <a:xfrm>
              <a:off x="5125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3" name="Text Box 110"/>
          <p:cNvSpPr txBox="1">
            <a:spLocks noChangeArrowheads="1"/>
          </p:cNvSpPr>
          <p:nvPr/>
        </p:nvSpPr>
        <p:spPr bwMode="auto">
          <a:xfrm>
            <a:off x="6908800" y="4802187"/>
            <a:ext cx="2133600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4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(1,2), (1,3), (2,4), (3,4) }</a:t>
            </a:r>
          </a:p>
        </p:txBody>
      </p:sp>
      <p:grpSp>
        <p:nvGrpSpPr>
          <p:cNvPr id="6154" name="Group 115"/>
          <p:cNvGrpSpPr>
            <a:grpSpLocks/>
          </p:cNvGrpSpPr>
          <p:nvPr/>
        </p:nvGrpSpPr>
        <p:grpSpPr bwMode="auto">
          <a:xfrm>
            <a:off x="2363788" y="868876"/>
            <a:ext cx="4475162" cy="3798888"/>
            <a:chOff x="1489" y="798"/>
            <a:chExt cx="2819" cy="2393"/>
          </a:xfrm>
        </p:grpSpPr>
        <p:sp>
          <p:nvSpPr>
            <p:cNvPr id="6157" name="Oval 78"/>
            <p:cNvSpPr>
              <a:spLocks noChangeArrowheads="1"/>
            </p:cNvSpPr>
            <p:nvPr/>
          </p:nvSpPr>
          <p:spPr bwMode="auto">
            <a:xfrm>
              <a:off x="3548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Text Box 79"/>
            <p:cNvSpPr txBox="1">
              <a:spLocks noChangeArrowheads="1"/>
            </p:cNvSpPr>
            <p:nvPr/>
          </p:nvSpPr>
          <p:spPr bwMode="auto">
            <a:xfrm>
              <a:off x="3598" y="2918"/>
              <a:ext cx="27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159" name="Oval 31"/>
            <p:cNvSpPr>
              <a:spLocks noChangeArrowheads="1"/>
            </p:cNvSpPr>
            <p:nvPr/>
          </p:nvSpPr>
          <p:spPr bwMode="auto">
            <a:xfrm>
              <a:off x="1899" y="101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Text Box 32"/>
            <p:cNvSpPr txBox="1">
              <a:spLocks noChangeArrowheads="1"/>
            </p:cNvSpPr>
            <p:nvPr/>
          </p:nvSpPr>
          <p:spPr bwMode="auto">
            <a:xfrm>
              <a:off x="1976" y="103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61" name="Oval 34"/>
            <p:cNvSpPr>
              <a:spLocks noChangeArrowheads="1"/>
            </p:cNvSpPr>
            <p:nvPr/>
          </p:nvSpPr>
          <p:spPr bwMode="auto">
            <a:xfrm>
              <a:off x="230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Text Box 35"/>
            <p:cNvSpPr txBox="1">
              <a:spLocks noChangeArrowheads="1"/>
            </p:cNvSpPr>
            <p:nvPr/>
          </p:nvSpPr>
          <p:spPr bwMode="auto">
            <a:xfrm>
              <a:off x="2386" y="197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3" name="Oval 37"/>
            <p:cNvSpPr>
              <a:spLocks noChangeArrowheads="1"/>
            </p:cNvSpPr>
            <p:nvPr/>
          </p:nvSpPr>
          <p:spPr bwMode="auto">
            <a:xfrm>
              <a:off x="148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Text Box 38"/>
            <p:cNvSpPr txBox="1">
              <a:spLocks noChangeArrowheads="1"/>
            </p:cNvSpPr>
            <p:nvPr/>
          </p:nvSpPr>
          <p:spPr bwMode="auto">
            <a:xfrm>
              <a:off x="1566" y="1977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65" name="Oval 40"/>
            <p:cNvSpPr>
              <a:spLocks noChangeArrowheads="1"/>
            </p:cNvSpPr>
            <p:nvPr/>
          </p:nvSpPr>
          <p:spPr bwMode="auto">
            <a:xfrm>
              <a:off x="1899" y="2892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Text Box 41"/>
            <p:cNvSpPr txBox="1">
              <a:spLocks noChangeArrowheads="1"/>
            </p:cNvSpPr>
            <p:nvPr/>
          </p:nvSpPr>
          <p:spPr bwMode="auto">
            <a:xfrm>
              <a:off x="1976" y="2915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167" name="Line 42"/>
            <p:cNvSpPr>
              <a:spLocks noChangeShapeType="1"/>
            </p:cNvSpPr>
            <p:nvPr/>
          </p:nvSpPr>
          <p:spPr bwMode="auto">
            <a:xfrm flipH="1">
              <a:off x="1732" y="1309"/>
              <a:ext cx="303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43"/>
            <p:cNvSpPr>
              <a:spLocks noChangeShapeType="1"/>
            </p:cNvSpPr>
            <p:nvPr/>
          </p:nvSpPr>
          <p:spPr bwMode="auto">
            <a:xfrm>
              <a:off x="1732" y="2236"/>
              <a:ext cx="280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Line 44"/>
            <p:cNvSpPr>
              <a:spLocks noChangeShapeType="1"/>
            </p:cNvSpPr>
            <p:nvPr/>
          </p:nvSpPr>
          <p:spPr bwMode="auto">
            <a:xfrm flipH="1">
              <a:off x="2128" y="2250"/>
              <a:ext cx="30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Line 45"/>
            <p:cNvSpPr>
              <a:spLocks noChangeShapeType="1"/>
            </p:cNvSpPr>
            <p:nvPr/>
          </p:nvSpPr>
          <p:spPr bwMode="auto">
            <a:xfrm>
              <a:off x="2128" y="1314"/>
              <a:ext cx="280" cy="6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Line 46"/>
            <p:cNvSpPr>
              <a:spLocks noChangeShapeType="1"/>
            </p:cNvSpPr>
            <p:nvPr/>
          </p:nvSpPr>
          <p:spPr bwMode="auto">
            <a:xfrm>
              <a:off x="2074" y="798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Oval 49"/>
            <p:cNvSpPr>
              <a:spLocks noChangeArrowheads="1"/>
            </p:cNvSpPr>
            <p:nvPr/>
          </p:nvSpPr>
          <p:spPr bwMode="auto">
            <a:xfrm>
              <a:off x="2725" y="1018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Text Box 50"/>
            <p:cNvSpPr txBox="1">
              <a:spLocks noChangeArrowheads="1"/>
            </p:cNvSpPr>
            <p:nvPr/>
          </p:nvSpPr>
          <p:spPr bwMode="auto">
            <a:xfrm>
              <a:off x="2802" y="1041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74" name="Oval 52"/>
            <p:cNvSpPr>
              <a:spLocks noChangeArrowheads="1"/>
            </p:cNvSpPr>
            <p:nvPr/>
          </p:nvSpPr>
          <p:spPr bwMode="auto">
            <a:xfrm>
              <a:off x="3135" y="195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Text Box 53"/>
            <p:cNvSpPr txBox="1">
              <a:spLocks noChangeArrowheads="1"/>
            </p:cNvSpPr>
            <p:nvPr/>
          </p:nvSpPr>
          <p:spPr bwMode="auto">
            <a:xfrm>
              <a:off x="3212" y="1979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76" name="Oval 58"/>
            <p:cNvSpPr>
              <a:spLocks noChangeArrowheads="1"/>
            </p:cNvSpPr>
            <p:nvPr/>
          </p:nvSpPr>
          <p:spPr bwMode="auto">
            <a:xfrm>
              <a:off x="2725" y="2894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Text Box 59"/>
            <p:cNvSpPr txBox="1">
              <a:spLocks noChangeArrowheads="1"/>
            </p:cNvSpPr>
            <p:nvPr/>
          </p:nvSpPr>
          <p:spPr bwMode="auto">
            <a:xfrm>
              <a:off x="2802" y="291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178" name="Line 61"/>
            <p:cNvSpPr>
              <a:spLocks noChangeShapeType="1"/>
            </p:cNvSpPr>
            <p:nvPr/>
          </p:nvSpPr>
          <p:spPr bwMode="auto">
            <a:xfrm>
              <a:off x="2592" y="2238"/>
              <a:ext cx="249" cy="6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Line 62"/>
            <p:cNvSpPr>
              <a:spLocks noChangeShapeType="1"/>
            </p:cNvSpPr>
            <p:nvPr/>
          </p:nvSpPr>
          <p:spPr bwMode="auto">
            <a:xfrm flipH="1">
              <a:off x="2972" y="2250"/>
              <a:ext cx="293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Line 63"/>
            <p:cNvSpPr>
              <a:spLocks noChangeShapeType="1"/>
            </p:cNvSpPr>
            <p:nvPr/>
          </p:nvSpPr>
          <p:spPr bwMode="auto">
            <a:xfrm flipH="1" flipV="1">
              <a:off x="2967" y="1293"/>
              <a:ext cx="241" cy="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64"/>
            <p:cNvSpPr>
              <a:spLocks noChangeShapeType="1"/>
            </p:cNvSpPr>
            <p:nvPr/>
          </p:nvSpPr>
          <p:spPr bwMode="auto">
            <a:xfrm>
              <a:off x="2900" y="800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Oval 69"/>
            <p:cNvSpPr>
              <a:spLocks noChangeArrowheads="1"/>
            </p:cNvSpPr>
            <p:nvPr/>
          </p:nvSpPr>
          <p:spPr bwMode="auto">
            <a:xfrm>
              <a:off x="3548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3" name="Text Box 70"/>
            <p:cNvSpPr txBox="1">
              <a:spLocks noChangeArrowheads="1"/>
            </p:cNvSpPr>
            <p:nvPr/>
          </p:nvSpPr>
          <p:spPr bwMode="auto">
            <a:xfrm>
              <a:off x="3625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84" name="Oval 72"/>
            <p:cNvSpPr>
              <a:spLocks noChangeArrowheads="1"/>
            </p:cNvSpPr>
            <p:nvPr/>
          </p:nvSpPr>
          <p:spPr bwMode="auto">
            <a:xfrm>
              <a:off x="3958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Text Box 73"/>
            <p:cNvSpPr txBox="1">
              <a:spLocks noChangeArrowheads="1"/>
            </p:cNvSpPr>
            <p:nvPr/>
          </p:nvSpPr>
          <p:spPr bwMode="auto">
            <a:xfrm>
              <a:off x="4035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186" name="Line 80"/>
            <p:cNvSpPr>
              <a:spLocks noChangeShapeType="1"/>
            </p:cNvSpPr>
            <p:nvPr/>
          </p:nvSpPr>
          <p:spPr bwMode="auto">
            <a:xfrm flipH="1">
              <a:off x="3368" y="1312"/>
              <a:ext cx="298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Line 81"/>
            <p:cNvSpPr>
              <a:spLocks noChangeShapeType="1"/>
            </p:cNvSpPr>
            <p:nvPr/>
          </p:nvSpPr>
          <p:spPr bwMode="auto">
            <a:xfrm>
              <a:off x="3414" y="2231"/>
              <a:ext cx="252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Line 82"/>
            <p:cNvSpPr>
              <a:spLocks noChangeShapeType="1"/>
            </p:cNvSpPr>
            <p:nvPr/>
          </p:nvSpPr>
          <p:spPr bwMode="auto">
            <a:xfrm flipH="1">
              <a:off x="3782" y="2262"/>
              <a:ext cx="319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Line 83"/>
            <p:cNvSpPr>
              <a:spLocks noChangeShapeType="1"/>
            </p:cNvSpPr>
            <p:nvPr/>
          </p:nvSpPr>
          <p:spPr bwMode="auto">
            <a:xfrm>
              <a:off x="3782" y="1309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Line 88"/>
            <p:cNvSpPr>
              <a:spLocks noChangeShapeType="1"/>
            </p:cNvSpPr>
            <p:nvPr/>
          </p:nvSpPr>
          <p:spPr bwMode="auto">
            <a:xfrm flipH="1">
              <a:off x="2545" y="1319"/>
              <a:ext cx="296" cy="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105"/>
            <p:cNvSpPr>
              <a:spLocks noChangeShapeType="1"/>
            </p:cNvSpPr>
            <p:nvPr/>
          </p:nvSpPr>
          <p:spPr bwMode="auto">
            <a:xfrm>
              <a:off x="3723" y="80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5" name="Text Box 111"/>
          <p:cNvSpPr txBox="1">
            <a:spLocks noChangeArrowheads="1"/>
          </p:cNvSpPr>
          <p:nvPr/>
        </p:nvSpPr>
        <p:spPr bwMode="auto">
          <a:xfrm>
            <a:off x="2363788" y="4802187"/>
            <a:ext cx="4545012" cy="19389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1, 2, 3 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8, 9, 10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(1,4), (1,5), (2,5), (3,6), (3, 7), (4, 8), (5,8), (5,9), </a:t>
            </a:r>
            <a:r>
              <a:rPr lang="en-US">
                <a:solidFill>
                  <a:schemeClr val="tx1"/>
                </a:solidFill>
                <a:latin typeface="Gill Sans MT" pitchFamily="34" charset="0"/>
              </a:rPr>
              <a:t>(6,2),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(6,10), (7,10) (9,6) }</a:t>
            </a:r>
          </a:p>
        </p:txBody>
      </p:sp>
      <p:sp>
        <p:nvSpPr>
          <p:cNvPr id="17481" name="AutoShape 73"/>
          <p:cNvSpPr>
            <a:spLocks noChangeArrowheads="1"/>
          </p:cNvSpPr>
          <p:nvPr/>
        </p:nvSpPr>
        <p:spPr bwMode="auto">
          <a:xfrm>
            <a:off x="7243762" y="1628781"/>
            <a:ext cx="1798638" cy="1608138"/>
          </a:xfrm>
          <a:prstGeom prst="irregularSeal2">
            <a:avLst/>
          </a:prstGeom>
          <a:solidFill>
            <a:schemeClr val="tx1">
              <a:lumMod val="65000"/>
            </a:schemeClr>
          </a:solid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Not a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valid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4041222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558299-12A8-4EFB-9663-A283F29346C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Paths in Graphs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768858"/>
            <a:ext cx="8867775" cy="25241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Path</a:t>
            </a:r>
            <a:r>
              <a:rPr lang="en-US" dirty="0"/>
              <a:t> : A sequence of nodes – [n</a:t>
            </a:r>
            <a:r>
              <a:rPr lang="en-US" baseline="-25000" dirty="0"/>
              <a:t>1</a:t>
            </a:r>
            <a:r>
              <a:rPr lang="en-US" dirty="0"/>
              <a:t>, n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n</a:t>
            </a:r>
            <a:r>
              <a:rPr lang="en-US" baseline="-25000" dirty="0" err="1"/>
              <a:t>M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Each pair of nodes is an edge</a:t>
            </a:r>
          </a:p>
          <a:p>
            <a:r>
              <a:rPr lang="en-US" dirty="0">
                <a:solidFill>
                  <a:schemeClr val="tx2"/>
                </a:solidFill>
              </a:rPr>
              <a:t>Length</a:t>
            </a:r>
            <a:r>
              <a:rPr lang="en-US" dirty="0"/>
              <a:t> : The number of edges</a:t>
            </a:r>
          </a:p>
          <a:p>
            <a:pPr lvl="1"/>
            <a:r>
              <a:rPr lang="en-US" dirty="0"/>
              <a:t>A single node is a path of length 0</a:t>
            </a:r>
          </a:p>
          <a:p>
            <a:r>
              <a:rPr lang="en-US" dirty="0" err="1">
                <a:solidFill>
                  <a:schemeClr val="tx2"/>
                </a:solidFill>
              </a:rPr>
              <a:t>Subpath</a:t>
            </a:r>
            <a:r>
              <a:rPr lang="en-US" dirty="0"/>
              <a:t> : A subsequence of nodes in </a:t>
            </a:r>
            <a:r>
              <a:rPr lang="en-US" i="1" dirty="0"/>
              <a:t>p</a:t>
            </a:r>
            <a:r>
              <a:rPr lang="en-US" dirty="0"/>
              <a:t> is a </a:t>
            </a:r>
            <a:r>
              <a:rPr lang="en-US" dirty="0" err="1"/>
              <a:t>subpath</a:t>
            </a:r>
            <a:r>
              <a:rPr lang="en-US" dirty="0"/>
              <a:t> of </a:t>
            </a:r>
            <a:r>
              <a:rPr lang="en-US" i="1" dirty="0"/>
              <a:t>p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77800" y="3620090"/>
            <a:ext cx="4475163" cy="2892425"/>
            <a:chOff x="244" y="2197"/>
            <a:chExt cx="2819" cy="1822"/>
          </a:xfrm>
        </p:grpSpPr>
        <p:sp>
          <p:nvSpPr>
            <p:cNvPr id="7178" name="Line 15"/>
            <p:cNvSpPr>
              <a:spLocks noChangeShapeType="1"/>
            </p:cNvSpPr>
            <p:nvPr/>
          </p:nvSpPr>
          <p:spPr bwMode="auto">
            <a:xfrm flipH="1">
              <a:off x="463" y="2641"/>
              <a:ext cx="239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79" name="Line 16"/>
            <p:cNvSpPr>
              <a:spLocks noChangeShapeType="1"/>
            </p:cNvSpPr>
            <p:nvPr/>
          </p:nvSpPr>
          <p:spPr bwMode="auto">
            <a:xfrm>
              <a:off x="509" y="3338"/>
              <a:ext cx="222" cy="3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0" name="Line 17"/>
            <p:cNvSpPr>
              <a:spLocks noChangeShapeType="1"/>
            </p:cNvSpPr>
            <p:nvPr/>
          </p:nvSpPr>
          <p:spPr bwMode="auto">
            <a:xfrm flipH="1">
              <a:off x="898" y="3318"/>
              <a:ext cx="229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8"/>
            <p:cNvSpPr>
              <a:spLocks noChangeShapeType="1"/>
            </p:cNvSpPr>
            <p:nvPr/>
          </p:nvSpPr>
          <p:spPr bwMode="auto">
            <a:xfrm>
              <a:off x="939" y="2646"/>
              <a:ext cx="1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Line 19"/>
            <p:cNvSpPr>
              <a:spLocks noChangeShapeType="1"/>
            </p:cNvSpPr>
            <p:nvPr/>
          </p:nvSpPr>
          <p:spPr bwMode="auto">
            <a:xfrm>
              <a:off x="829" y="2202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83" name="Group 50"/>
            <p:cNvGrpSpPr>
              <a:grpSpLocks/>
            </p:cNvGrpSpPr>
            <p:nvPr/>
          </p:nvGrpSpPr>
          <p:grpSpPr bwMode="auto">
            <a:xfrm>
              <a:off x="654" y="3720"/>
              <a:ext cx="1999" cy="299"/>
              <a:chOff x="654" y="3720"/>
              <a:chExt cx="1999" cy="299"/>
            </a:xfrm>
          </p:grpSpPr>
          <p:grpSp>
            <p:nvGrpSpPr>
              <p:cNvPr id="7217" name="Group 42"/>
              <p:cNvGrpSpPr>
                <a:grpSpLocks/>
              </p:cNvGrpSpPr>
              <p:nvPr/>
            </p:nvGrpSpPr>
            <p:grpSpPr bwMode="auto">
              <a:xfrm>
                <a:off x="2303" y="3723"/>
                <a:ext cx="350" cy="296"/>
                <a:chOff x="2303" y="3723"/>
                <a:chExt cx="350" cy="296"/>
              </a:xfrm>
            </p:grpSpPr>
            <p:sp>
              <p:nvSpPr>
                <p:cNvPr id="7224" name="Oval 5"/>
                <p:cNvSpPr>
                  <a:spLocks noChangeArrowheads="1"/>
                </p:cNvSpPr>
                <p:nvPr/>
              </p:nvSpPr>
              <p:spPr bwMode="auto">
                <a:xfrm>
                  <a:off x="2303" y="3723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40" y="3746"/>
                  <a:ext cx="278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</p:grpSp>
          <p:grpSp>
            <p:nvGrpSpPr>
              <p:cNvPr id="7218" name="Group 40"/>
              <p:cNvGrpSpPr>
                <a:grpSpLocks/>
              </p:cNvGrpSpPr>
              <p:nvPr/>
            </p:nvGrpSpPr>
            <p:grpSpPr bwMode="auto">
              <a:xfrm>
                <a:off x="654" y="3720"/>
                <a:ext cx="350" cy="296"/>
                <a:chOff x="654" y="3720"/>
                <a:chExt cx="350" cy="296"/>
              </a:xfrm>
            </p:grpSpPr>
            <p:sp>
              <p:nvSpPr>
                <p:cNvPr id="7222" name="Oval 13"/>
                <p:cNvSpPr>
                  <a:spLocks noChangeArrowheads="1"/>
                </p:cNvSpPr>
                <p:nvPr/>
              </p:nvSpPr>
              <p:spPr bwMode="auto">
                <a:xfrm>
                  <a:off x="654" y="3720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31" y="3743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7219" name="Group 41"/>
              <p:cNvGrpSpPr>
                <a:grpSpLocks/>
              </p:cNvGrpSpPr>
              <p:nvPr/>
            </p:nvGrpSpPr>
            <p:grpSpPr bwMode="auto">
              <a:xfrm>
                <a:off x="1478" y="3722"/>
                <a:ext cx="350" cy="296"/>
                <a:chOff x="1480" y="3722"/>
                <a:chExt cx="350" cy="296"/>
              </a:xfrm>
            </p:grpSpPr>
            <p:sp>
              <p:nvSpPr>
                <p:cNvPr id="7220" name="Oval 24"/>
                <p:cNvSpPr>
                  <a:spLocks noChangeArrowheads="1"/>
                </p:cNvSpPr>
                <p:nvPr/>
              </p:nvSpPr>
              <p:spPr bwMode="auto">
                <a:xfrm>
                  <a:off x="1480" y="37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557" y="374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184" name="Line 26"/>
            <p:cNvSpPr>
              <a:spLocks noChangeShapeType="1"/>
            </p:cNvSpPr>
            <p:nvPr/>
          </p:nvSpPr>
          <p:spPr bwMode="auto">
            <a:xfrm>
              <a:off x="1343" y="3318"/>
              <a:ext cx="236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27"/>
            <p:cNvSpPr>
              <a:spLocks noChangeShapeType="1"/>
            </p:cNvSpPr>
            <p:nvPr/>
          </p:nvSpPr>
          <p:spPr bwMode="auto">
            <a:xfrm flipH="1">
              <a:off x="1734" y="3330"/>
              <a:ext cx="223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>
              <a:off x="1768" y="2640"/>
              <a:ext cx="212" cy="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Line 29"/>
            <p:cNvSpPr>
              <a:spLocks noChangeShapeType="1"/>
            </p:cNvSpPr>
            <p:nvPr/>
          </p:nvSpPr>
          <p:spPr bwMode="auto">
            <a:xfrm>
              <a:off x="1655" y="2197"/>
              <a:ext cx="0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88" name="Group 52"/>
            <p:cNvGrpSpPr>
              <a:grpSpLocks/>
            </p:cNvGrpSpPr>
            <p:nvPr/>
          </p:nvGrpSpPr>
          <p:grpSpPr bwMode="auto">
            <a:xfrm>
              <a:off x="654" y="2376"/>
              <a:ext cx="1999" cy="299"/>
              <a:chOff x="654" y="2376"/>
              <a:chExt cx="1999" cy="299"/>
            </a:xfrm>
          </p:grpSpPr>
          <p:grpSp>
            <p:nvGrpSpPr>
              <p:cNvPr id="7208" name="Group 47"/>
              <p:cNvGrpSpPr>
                <a:grpSpLocks/>
              </p:cNvGrpSpPr>
              <p:nvPr/>
            </p:nvGrpSpPr>
            <p:grpSpPr bwMode="auto">
              <a:xfrm>
                <a:off x="654" y="2376"/>
                <a:ext cx="350" cy="296"/>
                <a:chOff x="654" y="1844"/>
                <a:chExt cx="350" cy="296"/>
              </a:xfrm>
            </p:grpSpPr>
            <p:sp>
              <p:nvSpPr>
                <p:cNvPr id="7215" name="Oval 7"/>
                <p:cNvSpPr>
                  <a:spLocks noChangeArrowheads="1"/>
                </p:cNvSpPr>
                <p:nvPr/>
              </p:nvSpPr>
              <p:spPr bwMode="auto">
                <a:xfrm>
                  <a:off x="654" y="184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31" y="186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7209" name="Group 48"/>
              <p:cNvGrpSpPr>
                <a:grpSpLocks/>
              </p:cNvGrpSpPr>
              <p:nvPr/>
            </p:nvGrpSpPr>
            <p:grpSpPr bwMode="auto">
              <a:xfrm>
                <a:off x="1478" y="2378"/>
                <a:ext cx="350" cy="296"/>
                <a:chOff x="1480" y="1846"/>
                <a:chExt cx="350" cy="296"/>
              </a:xfrm>
            </p:grpSpPr>
            <p:sp>
              <p:nvSpPr>
                <p:cNvPr id="7213" name="Oval 20"/>
                <p:cNvSpPr>
                  <a:spLocks noChangeArrowheads="1"/>
                </p:cNvSpPr>
                <p:nvPr/>
              </p:nvSpPr>
              <p:spPr bwMode="auto">
                <a:xfrm>
                  <a:off x="1480" y="18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557" y="18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7210" name="Group 49"/>
              <p:cNvGrpSpPr>
                <a:grpSpLocks/>
              </p:cNvGrpSpPr>
              <p:nvPr/>
            </p:nvGrpSpPr>
            <p:grpSpPr bwMode="auto">
              <a:xfrm>
                <a:off x="2303" y="2379"/>
                <a:ext cx="350" cy="296"/>
                <a:chOff x="2303" y="1847"/>
                <a:chExt cx="350" cy="296"/>
              </a:xfrm>
            </p:grpSpPr>
            <p:sp>
              <p:nvSpPr>
                <p:cNvPr id="7211" name="Oval 30"/>
                <p:cNvSpPr>
                  <a:spLocks noChangeArrowheads="1"/>
                </p:cNvSpPr>
                <p:nvPr/>
              </p:nvSpPr>
              <p:spPr bwMode="auto">
                <a:xfrm>
                  <a:off x="2303" y="1847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380" y="1870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grpSp>
          <p:nvGrpSpPr>
            <p:cNvPr id="7189" name="Group 51"/>
            <p:cNvGrpSpPr>
              <a:grpSpLocks/>
            </p:cNvGrpSpPr>
            <p:nvPr/>
          </p:nvGrpSpPr>
          <p:grpSpPr bwMode="auto">
            <a:xfrm>
              <a:off x="244" y="3048"/>
              <a:ext cx="2819" cy="299"/>
              <a:chOff x="244" y="3153"/>
              <a:chExt cx="2819" cy="299"/>
            </a:xfrm>
          </p:grpSpPr>
          <p:grpSp>
            <p:nvGrpSpPr>
              <p:cNvPr id="7196" name="Group 45"/>
              <p:cNvGrpSpPr>
                <a:grpSpLocks/>
              </p:cNvGrpSpPr>
              <p:nvPr/>
            </p:nvGrpSpPr>
            <p:grpSpPr bwMode="auto">
              <a:xfrm>
                <a:off x="1067" y="3153"/>
                <a:ext cx="350" cy="296"/>
                <a:chOff x="1064" y="2782"/>
                <a:chExt cx="350" cy="296"/>
              </a:xfrm>
            </p:grpSpPr>
            <p:sp>
              <p:nvSpPr>
                <p:cNvPr id="7206" name="Oval 9"/>
                <p:cNvSpPr>
                  <a:spLocks noChangeArrowheads="1"/>
                </p:cNvSpPr>
                <p:nvPr/>
              </p:nvSpPr>
              <p:spPr bwMode="auto">
                <a:xfrm>
                  <a:off x="106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141" y="280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7197" name="Group 46"/>
              <p:cNvGrpSpPr>
                <a:grpSpLocks/>
              </p:cNvGrpSpPr>
              <p:nvPr/>
            </p:nvGrpSpPr>
            <p:grpSpPr bwMode="auto">
              <a:xfrm>
                <a:off x="244" y="3153"/>
                <a:ext cx="350" cy="296"/>
                <a:chOff x="244" y="2782"/>
                <a:chExt cx="350" cy="296"/>
              </a:xfrm>
            </p:grpSpPr>
            <p:sp>
              <p:nvSpPr>
                <p:cNvPr id="7204" name="Oval 11"/>
                <p:cNvSpPr>
                  <a:spLocks noChangeArrowheads="1"/>
                </p:cNvSpPr>
                <p:nvPr/>
              </p:nvSpPr>
              <p:spPr bwMode="auto">
                <a:xfrm>
                  <a:off x="24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1" y="280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7198" name="Group 44"/>
              <p:cNvGrpSpPr>
                <a:grpSpLocks/>
              </p:cNvGrpSpPr>
              <p:nvPr/>
            </p:nvGrpSpPr>
            <p:grpSpPr bwMode="auto">
              <a:xfrm>
                <a:off x="1890" y="3155"/>
                <a:ext cx="350" cy="296"/>
                <a:chOff x="1890" y="2784"/>
                <a:chExt cx="350" cy="296"/>
              </a:xfrm>
            </p:grpSpPr>
            <p:sp>
              <p:nvSpPr>
                <p:cNvPr id="7202" name="Oval 22"/>
                <p:cNvSpPr>
                  <a:spLocks noChangeArrowheads="1"/>
                </p:cNvSpPr>
                <p:nvPr/>
              </p:nvSpPr>
              <p:spPr bwMode="auto">
                <a:xfrm>
                  <a:off x="1890" y="27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67" y="28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7199" name="Group 43"/>
              <p:cNvGrpSpPr>
                <a:grpSpLocks/>
              </p:cNvGrpSpPr>
              <p:nvPr/>
            </p:nvGrpSpPr>
            <p:grpSpPr bwMode="auto">
              <a:xfrm>
                <a:off x="2713" y="3156"/>
                <a:ext cx="350" cy="296"/>
                <a:chOff x="2713" y="2785"/>
                <a:chExt cx="350" cy="296"/>
              </a:xfrm>
            </p:grpSpPr>
            <p:sp>
              <p:nvSpPr>
                <p:cNvPr id="7200" name="Oval 32"/>
                <p:cNvSpPr>
                  <a:spLocks noChangeArrowheads="1"/>
                </p:cNvSpPr>
                <p:nvPr/>
              </p:nvSpPr>
              <p:spPr bwMode="auto">
                <a:xfrm>
                  <a:off x="2713" y="2785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790" y="2808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</p:grpSp>
        </p:grpSp>
        <p:sp>
          <p:nvSpPr>
            <p:cNvPr id="7190" name="Line 34"/>
            <p:cNvSpPr>
              <a:spLocks noChangeShapeType="1"/>
            </p:cNvSpPr>
            <p:nvPr/>
          </p:nvSpPr>
          <p:spPr bwMode="auto">
            <a:xfrm flipH="1">
              <a:off x="2142" y="2640"/>
              <a:ext cx="219" cy="4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Line 35"/>
            <p:cNvSpPr>
              <a:spLocks noChangeShapeType="1"/>
            </p:cNvSpPr>
            <p:nvPr/>
          </p:nvSpPr>
          <p:spPr bwMode="auto">
            <a:xfrm>
              <a:off x="2181" y="3335"/>
              <a:ext cx="212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Line 36"/>
            <p:cNvSpPr>
              <a:spLocks noChangeShapeType="1"/>
            </p:cNvSpPr>
            <p:nvPr/>
          </p:nvSpPr>
          <p:spPr bwMode="auto">
            <a:xfrm flipH="1">
              <a:off x="2533" y="3302"/>
              <a:ext cx="231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Line 37"/>
            <p:cNvSpPr>
              <a:spLocks noChangeShapeType="1"/>
            </p:cNvSpPr>
            <p:nvPr/>
          </p:nvSpPr>
          <p:spPr bwMode="auto">
            <a:xfrm>
              <a:off x="2589" y="2633"/>
              <a:ext cx="20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Line 38"/>
            <p:cNvSpPr>
              <a:spLocks noChangeShapeType="1"/>
            </p:cNvSpPr>
            <p:nvPr/>
          </p:nvSpPr>
          <p:spPr bwMode="auto">
            <a:xfrm flipH="1">
              <a:off x="1340" y="2655"/>
              <a:ext cx="208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Line 39"/>
            <p:cNvSpPr>
              <a:spLocks noChangeShapeType="1"/>
            </p:cNvSpPr>
            <p:nvPr/>
          </p:nvSpPr>
          <p:spPr bwMode="auto">
            <a:xfrm>
              <a:off x="2478" y="22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701" name="Text Box 53"/>
          <p:cNvSpPr txBox="1">
            <a:spLocks noChangeArrowheads="1"/>
          </p:cNvSpPr>
          <p:nvPr/>
        </p:nvSpPr>
        <p:spPr bwMode="auto">
          <a:xfrm>
            <a:off x="5676977" y="4080465"/>
            <a:ext cx="1712913" cy="1781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</a:rPr>
              <a:t>A Few Paths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[ 1, 4, 8 ]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[ 2, 5, 9, 6, 2 ]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[ 3, 7, 10 ]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7D8F11-1EA8-4375-9A1A-D6C90561F80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Paths and SESEs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71550"/>
            <a:ext cx="8867775" cy="52927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Test Path</a:t>
            </a:r>
            <a:r>
              <a:rPr lang="en-US" dirty="0"/>
              <a:t> : A path that starts at an initial node and ends at a final node</a:t>
            </a:r>
          </a:p>
          <a:p>
            <a:r>
              <a:rPr lang="en-US" dirty="0"/>
              <a:t>Test paths represent execution of test cases</a:t>
            </a:r>
          </a:p>
          <a:p>
            <a:pPr lvl="1"/>
            <a:r>
              <a:rPr lang="en-US" sz="2000" dirty="0"/>
              <a:t>Some test paths can be executed by many tests</a:t>
            </a:r>
          </a:p>
          <a:p>
            <a:pPr lvl="1"/>
            <a:r>
              <a:rPr lang="en-US" sz="2000" dirty="0"/>
              <a:t>Some test paths cannot be executed by any tests</a:t>
            </a:r>
          </a:p>
          <a:p>
            <a:r>
              <a:rPr lang="en-US" dirty="0">
                <a:solidFill>
                  <a:schemeClr val="tx2"/>
                </a:solidFill>
              </a:rPr>
              <a:t>SESE graphs</a:t>
            </a:r>
            <a:r>
              <a:rPr lang="en-US" dirty="0"/>
              <a:t> : All  test paths start at a single node and end at another node</a:t>
            </a:r>
          </a:p>
          <a:p>
            <a:pPr lvl="1"/>
            <a:r>
              <a:rPr lang="en-US" sz="2000" dirty="0"/>
              <a:t>Single-entry, single-exit</a:t>
            </a:r>
          </a:p>
          <a:p>
            <a:pPr lvl="1"/>
            <a:r>
              <a:rPr lang="en-US" sz="2000" dirty="0"/>
              <a:t>N0 and </a:t>
            </a:r>
            <a:r>
              <a:rPr lang="en-US" sz="2000" dirty="0" err="1"/>
              <a:t>Nf</a:t>
            </a:r>
            <a:r>
              <a:rPr lang="en-US" sz="2000" dirty="0"/>
              <a:t> have exactly one node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798513" y="4708525"/>
            <a:ext cx="4346575" cy="1443038"/>
            <a:chOff x="503" y="2966"/>
            <a:chExt cx="2738" cy="909"/>
          </a:xfrm>
        </p:grpSpPr>
        <p:grpSp>
          <p:nvGrpSpPr>
            <p:cNvPr id="8201" name="Group 18"/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8231" name="Oval 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2" name="Text Box 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8202" name="Group 31"/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8225" name="Group 19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8229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8226" name="Group 20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8227" name="Oval 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</p:grpSp>
        <p:grpSp>
          <p:nvGrpSpPr>
            <p:cNvPr id="8203" name="Group 21"/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8223" name="Oval 11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Text Box 12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8204" name="Line 13"/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7"/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206" name="Group 22"/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8221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Text Box 24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8207" name="Group 32"/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8215" name="Group 25"/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8219" name="Oval 2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8216" name="Group 28"/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8217" name="Oval 2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</p:grpSp>
        <p:sp>
          <p:nvSpPr>
            <p:cNvPr id="8208" name="Line 33"/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Line 34"/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Line 35"/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Line 36"/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Line 37"/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Line 38"/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Line 39"/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6712" name="Text Box 40"/>
          <p:cNvSpPr txBox="1">
            <a:spLocks noChangeArrowheads="1"/>
          </p:cNvSpPr>
          <p:nvPr/>
        </p:nvSpPr>
        <p:spPr bwMode="auto">
          <a:xfrm>
            <a:off x="5543550" y="4464050"/>
            <a:ext cx="3303588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Double-diamond graph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Four test paths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2,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2, 4, 6,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3,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3, 4, 6, 7]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DF47E0-E672-4537-A0E9-7D71FC56AF9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Visiting and Touring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5795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Visit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node </a:t>
            </a:r>
            <a:r>
              <a:rPr lang="en-US" i="1" dirty="0"/>
              <a:t>n</a:t>
            </a:r>
            <a:r>
              <a:rPr lang="en-US" dirty="0"/>
              <a:t> if </a:t>
            </a:r>
            <a:r>
              <a:rPr lang="en-US" i="1" dirty="0"/>
              <a:t>n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pPr>
              <a:buFontTx/>
              <a:buNone/>
            </a:pPr>
            <a:r>
              <a:rPr lang="en-US" dirty="0"/>
              <a:t>              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edge </a:t>
            </a:r>
            <a:r>
              <a:rPr lang="en-US" i="1" dirty="0"/>
              <a:t>e</a:t>
            </a:r>
            <a:r>
              <a:rPr lang="en-US" dirty="0"/>
              <a:t> if </a:t>
            </a:r>
            <a:r>
              <a:rPr lang="en-US" i="1" dirty="0"/>
              <a:t>e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r>
              <a:rPr lang="en-US" dirty="0">
                <a:solidFill>
                  <a:schemeClr val="tx2"/>
                </a:solidFill>
              </a:rPr>
              <a:t>Tour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tours</a:t>
            </a:r>
            <a:r>
              <a:rPr lang="en-US" dirty="0"/>
              <a:t> </a:t>
            </a:r>
            <a:r>
              <a:rPr lang="en-US" dirty="0" err="1"/>
              <a:t>subpath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if </a:t>
            </a:r>
            <a:r>
              <a:rPr lang="en-US" i="1" dirty="0"/>
              <a:t>q</a:t>
            </a:r>
            <a:r>
              <a:rPr lang="en-US" dirty="0"/>
              <a:t> is a </a:t>
            </a:r>
            <a:r>
              <a:rPr lang="en-US" dirty="0" err="1"/>
              <a:t>subpath</a:t>
            </a:r>
            <a:r>
              <a:rPr lang="en-US" dirty="0"/>
              <a:t> of </a:t>
            </a:r>
            <a:r>
              <a:rPr lang="en-US" i="1" dirty="0"/>
              <a:t>p</a:t>
            </a:r>
          </a:p>
        </p:txBody>
      </p:sp>
      <p:sp>
        <p:nvSpPr>
          <p:cNvPr id="9223" name="Text Box 4"/>
          <p:cNvSpPr txBox="1">
            <a:spLocks noChangeArrowheads="1"/>
          </p:cNvSpPr>
          <p:nvPr/>
        </p:nvSpPr>
        <p:spPr bwMode="auto">
          <a:xfrm>
            <a:off x="747713" y="3028950"/>
            <a:ext cx="7646987" cy="304698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Path [ 1, 2, 4, 5, 7 ]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nodes 1, 2, 4, 5, 7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edges (1, 2),   (2, 4),   (4, 5),  (5, 7)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Tours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[1, 2, 4],   [2, 4, 5],   [4, 5, 7],   [1, 2, 4, 5],   [2, 4, 5, 7],  [1, 2, 4, 5, 7]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(</a:t>
            </a:r>
            <a:r>
              <a:rPr 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Also, each edge is technically a </a:t>
            </a:r>
            <a:r>
              <a:rPr lang="en-US" sz="24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BED11B-2865-4676-956E-71C5326D5E0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271588"/>
            <a:ext cx="8867775" cy="50720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test path executed by test </a:t>
            </a:r>
            <a:r>
              <a:rPr lang="en-US" i="1" dirty="0"/>
              <a:t>t</a:t>
            </a:r>
            <a:endParaRPr lang="en-US" sz="1800" dirty="0"/>
          </a:p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set of test paths executed by the set of tests </a:t>
            </a:r>
            <a:r>
              <a:rPr lang="en-US" i="1" dirty="0"/>
              <a:t>T</a:t>
            </a:r>
            <a:endParaRPr lang="en-US" dirty="0"/>
          </a:p>
          <a:p>
            <a:r>
              <a:rPr lang="en-US" dirty="0"/>
              <a:t>Each test executes </a:t>
            </a:r>
            <a:r>
              <a:rPr lang="en-US" dirty="0">
                <a:solidFill>
                  <a:schemeClr val="tx2"/>
                </a:solidFill>
              </a:rPr>
              <a:t>one and only one</a:t>
            </a:r>
            <a:r>
              <a:rPr lang="en-US" dirty="0"/>
              <a:t> test path</a:t>
            </a:r>
          </a:p>
          <a:p>
            <a:pPr lvl="1"/>
            <a:r>
              <a:rPr lang="en-US" dirty="0"/>
              <a:t>Complete execution from a start node to an final node</a:t>
            </a:r>
          </a:p>
          <a:p>
            <a:r>
              <a:rPr lang="en-US" dirty="0"/>
              <a:t>A location in a graph (node or edge) can be </a:t>
            </a:r>
            <a:r>
              <a:rPr lang="en-US" dirty="0">
                <a:solidFill>
                  <a:schemeClr val="tx2"/>
                </a:solidFill>
              </a:rPr>
              <a:t>reached</a:t>
            </a:r>
            <a:r>
              <a:rPr lang="en-US" dirty="0"/>
              <a:t> from another location if there is a sequence of edges from the first location to the second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Syntactic</a:t>
            </a:r>
            <a:r>
              <a:rPr lang="en-US" i="1" dirty="0"/>
              <a:t> reach</a:t>
            </a:r>
            <a:r>
              <a:rPr lang="en-US" dirty="0"/>
              <a:t> : A </a:t>
            </a:r>
            <a:r>
              <a:rPr lang="en-US" dirty="0" err="1"/>
              <a:t>subpath</a:t>
            </a:r>
            <a:r>
              <a:rPr lang="en-US" dirty="0"/>
              <a:t> exists in the graph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Semantic</a:t>
            </a:r>
            <a:r>
              <a:rPr lang="en-US" i="1" dirty="0"/>
              <a:t> reach</a:t>
            </a:r>
            <a:r>
              <a:rPr lang="en-US" dirty="0"/>
              <a:t> : A test exists that can execute that </a:t>
            </a:r>
            <a:r>
              <a:rPr lang="en-US" dirty="0" err="1"/>
              <a:t>subpath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075BF2-F07B-4249-853E-5AE4406243F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471488" y="904334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itchFamily="34" charset="0"/>
              </a:rPr>
              <a:t>test 1</a:t>
            </a:r>
          </a:p>
        </p:txBody>
      </p:sp>
      <p:sp>
        <p:nvSpPr>
          <p:cNvPr id="11271" name="Text Box 10"/>
          <p:cNvSpPr txBox="1">
            <a:spLocks noChangeArrowheads="1"/>
          </p:cNvSpPr>
          <p:nvPr/>
        </p:nvSpPr>
        <p:spPr bwMode="auto">
          <a:xfrm>
            <a:off x="471488" y="1648872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2</a:t>
            </a:r>
          </a:p>
        </p:txBody>
      </p:sp>
      <p:sp>
        <p:nvSpPr>
          <p:cNvPr id="11272" name="Text Box 11"/>
          <p:cNvSpPr txBox="1">
            <a:spLocks noChangeArrowheads="1"/>
          </p:cNvSpPr>
          <p:nvPr/>
        </p:nvSpPr>
        <p:spPr bwMode="auto">
          <a:xfrm>
            <a:off x="471488" y="2374359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3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685925" y="904334"/>
            <a:ext cx="5091113" cy="1704975"/>
            <a:chOff x="1062" y="904"/>
            <a:chExt cx="3207" cy="1074"/>
          </a:xfrm>
        </p:grpSpPr>
        <p:sp>
          <p:nvSpPr>
            <p:cNvPr id="11300" name="Text Box 13"/>
            <p:cNvSpPr txBox="1">
              <a:spLocks noChangeArrowheads="1"/>
            </p:cNvSpPr>
            <p:nvPr/>
          </p:nvSpPr>
          <p:spPr bwMode="auto">
            <a:xfrm>
              <a:off x="2032" y="904"/>
              <a:ext cx="126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many-to-one</a:t>
              </a:r>
            </a:p>
          </p:txBody>
        </p:sp>
        <p:sp>
          <p:nvSpPr>
            <p:cNvPr id="11301" name="Line 14"/>
            <p:cNvSpPr>
              <a:spLocks noChangeShapeType="1"/>
            </p:cNvSpPr>
            <p:nvPr/>
          </p:nvSpPr>
          <p:spPr bwMode="auto">
            <a:xfrm>
              <a:off x="1069" y="1517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2" name="Line 17"/>
            <p:cNvSpPr>
              <a:spLocks noChangeShapeType="1"/>
            </p:cNvSpPr>
            <p:nvPr/>
          </p:nvSpPr>
          <p:spPr bwMode="auto">
            <a:xfrm>
              <a:off x="1062" y="1056"/>
              <a:ext cx="3207" cy="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3" name="Line 19"/>
            <p:cNvSpPr>
              <a:spLocks noChangeShapeType="1"/>
            </p:cNvSpPr>
            <p:nvPr/>
          </p:nvSpPr>
          <p:spPr bwMode="auto">
            <a:xfrm flipV="1">
              <a:off x="1065" y="1670"/>
              <a:ext cx="3200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561975" y="3722147"/>
            <a:ext cx="1046163" cy="1944687"/>
            <a:chOff x="354" y="2451"/>
            <a:chExt cx="659" cy="1225"/>
          </a:xfrm>
        </p:grpSpPr>
        <p:sp>
          <p:nvSpPr>
            <p:cNvPr id="11297" name="Text Box 22"/>
            <p:cNvSpPr txBox="1">
              <a:spLocks noChangeArrowheads="1"/>
            </p:cNvSpPr>
            <p:nvPr/>
          </p:nvSpPr>
          <p:spPr bwMode="auto">
            <a:xfrm>
              <a:off x="354" y="2451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1</a:t>
              </a:r>
            </a:p>
          </p:txBody>
        </p:sp>
        <p:sp>
          <p:nvSpPr>
            <p:cNvPr id="11298" name="Text Box 23"/>
            <p:cNvSpPr txBox="1">
              <a:spLocks noChangeArrowheads="1"/>
            </p:cNvSpPr>
            <p:nvPr/>
          </p:nvSpPr>
          <p:spPr bwMode="auto">
            <a:xfrm>
              <a:off x="354" y="2920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2</a:t>
              </a:r>
            </a:p>
          </p:txBody>
        </p:sp>
        <p:sp>
          <p:nvSpPr>
            <p:cNvPr id="11299" name="Text Box 24"/>
            <p:cNvSpPr txBox="1">
              <a:spLocks noChangeArrowheads="1"/>
            </p:cNvSpPr>
            <p:nvPr/>
          </p:nvSpPr>
          <p:spPr bwMode="auto">
            <a:xfrm>
              <a:off x="354" y="3388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3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785938" y="3550697"/>
            <a:ext cx="5076825" cy="1887537"/>
            <a:chOff x="1125" y="2343"/>
            <a:chExt cx="3198" cy="1189"/>
          </a:xfrm>
        </p:grpSpPr>
        <p:sp>
          <p:nvSpPr>
            <p:cNvPr id="11287" name="Text Box 27"/>
            <p:cNvSpPr txBox="1">
              <a:spLocks noChangeArrowheads="1"/>
            </p:cNvSpPr>
            <p:nvPr/>
          </p:nvSpPr>
          <p:spPr bwMode="auto">
            <a:xfrm>
              <a:off x="1719" y="2343"/>
              <a:ext cx="2322" cy="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  <a:latin typeface="Gill Sans MT" pitchFamily="34" charset="0"/>
                </a:rPr>
                <a:t>many-to-many</a:t>
              </a:r>
            </a:p>
          </p:txBody>
        </p:sp>
        <p:sp>
          <p:nvSpPr>
            <p:cNvPr id="11288" name="Line 28"/>
            <p:cNvSpPr>
              <a:spLocks noChangeShapeType="1"/>
            </p:cNvSpPr>
            <p:nvPr/>
          </p:nvSpPr>
          <p:spPr bwMode="auto">
            <a:xfrm>
              <a:off x="1128" y="3064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89" name="Line 29"/>
            <p:cNvSpPr>
              <a:spLocks noChangeShapeType="1"/>
            </p:cNvSpPr>
            <p:nvPr/>
          </p:nvSpPr>
          <p:spPr bwMode="auto">
            <a:xfrm>
              <a:off x="1131" y="2622"/>
              <a:ext cx="319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0" name="Line 30"/>
            <p:cNvSpPr>
              <a:spLocks noChangeShapeType="1"/>
            </p:cNvSpPr>
            <p:nvPr/>
          </p:nvSpPr>
          <p:spPr bwMode="auto">
            <a:xfrm flipV="1">
              <a:off x="1125" y="3166"/>
              <a:ext cx="3187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1" name="Line 33"/>
            <p:cNvSpPr>
              <a:spLocks noChangeShapeType="1"/>
            </p:cNvSpPr>
            <p:nvPr/>
          </p:nvSpPr>
          <p:spPr bwMode="auto">
            <a:xfrm>
              <a:off x="1128" y="3532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2" name="Line 34"/>
            <p:cNvSpPr>
              <a:spLocks noChangeShapeType="1"/>
            </p:cNvSpPr>
            <p:nvPr/>
          </p:nvSpPr>
          <p:spPr bwMode="auto">
            <a:xfrm>
              <a:off x="1128" y="2595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3" name="Line 38"/>
            <p:cNvSpPr>
              <a:spLocks noChangeShapeType="1"/>
            </p:cNvSpPr>
            <p:nvPr/>
          </p:nvSpPr>
          <p:spPr bwMode="auto">
            <a:xfrm flipV="1">
              <a:off x="1133" y="2686"/>
              <a:ext cx="319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4" name="Line 39"/>
            <p:cNvSpPr>
              <a:spLocks noChangeShapeType="1"/>
            </p:cNvSpPr>
            <p:nvPr/>
          </p:nvSpPr>
          <p:spPr bwMode="auto">
            <a:xfrm>
              <a:off x="1133" y="3105"/>
              <a:ext cx="31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5" name="Line 40"/>
            <p:cNvSpPr>
              <a:spLocks noChangeShapeType="1"/>
            </p:cNvSpPr>
            <p:nvPr/>
          </p:nvSpPr>
          <p:spPr bwMode="auto">
            <a:xfrm flipV="1">
              <a:off x="1127" y="2776"/>
              <a:ext cx="3194" cy="7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6" name="Line 41"/>
            <p:cNvSpPr>
              <a:spLocks noChangeShapeType="1"/>
            </p:cNvSpPr>
            <p:nvPr/>
          </p:nvSpPr>
          <p:spPr bwMode="auto">
            <a:xfrm>
              <a:off x="1126" y="2647"/>
              <a:ext cx="3191" cy="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127000" y="3720569"/>
            <a:ext cx="8890000" cy="2924180"/>
            <a:chOff x="80" y="2450"/>
            <a:chExt cx="5600" cy="1842"/>
          </a:xfrm>
        </p:grpSpPr>
        <p:grpSp>
          <p:nvGrpSpPr>
            <p:cNvPr id="11282" name="Group 45"/>
            <p:cNvGrpSpPr>
              <a:grpSpLocks/>
            </p:cNvGrpSpPr>
            <p:nvPr/>
          </p:nvGrpSpPr>
          <p:grpSpPr bwMode="auto">
            <a:xfrm>
              <a:off x="4364" y="2450"/>
              <a:ext cx="1242" cy="1229"/>
              <a:chOff x="4364" y="2450"/>
              <a:chExt cx="1242" cy="1229"/>
            </a:xfrm>
          </p:grpSpPr>
          <p:sp>
            <p:nvSpPr>
              <p:cNvPr id="11284" name="Text Box 25"/>
              <p:cNvSpPr txBox="1">
                <a:spLocks noChangeArrowheads="1"/>
              </p:cNvSpPr>
              <p:nvPr/>
            </p:nvSpPr>
            <p:spPr bwMode="auto">
              <a:xfrm>
                <a:off x="4364" y="2450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Gill Sans MT" pitchFamily="34" charset="0"/>
                  </a:rPr>
                  <a:t>Test Path 1</a:t>
                </a:r>
              </a:p>
            </p:txBody>
          </p:sp>
          <p:sp>
            <p:nvSpPr>
              <p:cNvPr id="11285" name="Text Box 31"/>
              <p:cNvSpPr txBox="1">
                <a:spLocks noChangeArrowheads="1"/>
              </p:cNvSpPr>
              <p:nvPr/>
            </p:nvSpPr>
            <p:spPr bwMode="auto">
              <a:xfrm>
                <a:off x="4364" y="2925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2</a:t>
                </a:r>
              </a:p>
            </p:txBody>
          </p:sp>
          <p:sp>
            <p:nvSpPr>
              <p:cNvPr id="11286" name="Text Box 32"/>
              <p:cNvSpPr txBox="1">
                <a:spLocks noChangeArrowheads="1"/>
              </p:cNvSpPr>
              <p:nvPr/>
            </p:nvSpPr>
            <p:spPr bwMode="auto">
              <a:xfrm>
                <a:off x="4364" y="3388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3</a:t>
                </a:r>
              </a:p>
            </p:txBody>
          </p:sp>
        </p:grpSp>
        <p:sp>
          <p:nvSpPr>
            <p:cNvPr id="11283" name="Text Box 42"/>
            <p:cNvSpPr txBox="1">
              <a:spLocks noChangeArrowheads="1"/>
            </p:cNvSpPr>
            <p:nvPr/>
          </p:nvSpPr>
          <p:spPr bwMode="auto">
            <a:xfrm>
              <a:off x="80" y="3769"/>
              <a:ext cx="5600" cy="5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latin typeface="Gill Sans MT" pitchFamily="34" charset="0"/>
                </a:rPr>
                <a:t>Non-deterministic software–the same test can execute different test paths</a:t>
              </a:r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31750" y="1466309"/>
            <a:ext cx="9078913" cy="1876426"/>
            <a:chOff x="20" y="1030"/>
            <a:chExt cx="5719" cy="1182"/>
          </a:xfrm>
        </p:grpSpPr>
        <p:grpSp>
          <p:nvGrpSpPr>
            <p:cNvPr id="11278" name="Group 46"/>
            <p:cNvGrpSpPr>
              <a:grpSpLocks/>
            </p:cNvGrpSpPr>
            <p:nvPr/>
          </p:nvGrpSpPr>
          <p:grpSpPr bwMode="auto">
            <a:xfrm>
              <a:off x="20" y="1030"/>
              <a:ext cx="5719" cy="1182"/>
              <a:chOff x="20" y="1030"/>
              <a:chExt cx="5719" cy="1182"/>
            </a:xfrm>
          </p:grpSpPr>
          <p:sp>
            <p:nvSpPr>
              <p:cNvPr id="11280" name="Text Box 12"/>
              <p:cNvSpPr txBox="1">
                <a:spLocks noChangeArrowheads="1"/>
              </p:cNvSpPr>
              <p:nvPr/>
            </p:nvSpPr>
            <p:spPr bwMode="auto">
              <a:xfrm>
                <a:off x="4364" y="1030"/>
                <a:ext cx="659" cy="523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</a:t>
                </a:r>
              </a:p>
            </p:txBody>
          </p:sp>
          <p:sp>
            <p:nvSpPr>
              <p:cNvPr id="11281" name="Text Box 21"/>
              <p:cNvSpPr txBox="1">
                <a:spLocks noChangeArrowheads="1"/>
              </p:cNvSpPr>
              <p:nvPr/>
            </p:nvSpPr>
            <p:spPr bwMode="auto">
              <a:xfrm>
                <a:off x="20" y="1921"/>
                <a:ext cx="5719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latin typeface="Gill Sans MT" pitchFamily="34" charset="0"/>
                  </a:rPr>
                  <a:t>Deterministic</a:t>
                </a:r>
                <a:r>
                  <a:rPr lang="en-US" dirty="0">
                    <a:latin typeface="Gill Sans MT" pitchFamily="34" charset="0"/>
                  </a:rPr>
                  <a:t> software–test </a:t>
                </a:r>
                <a:r>
                  <a:rPr lang="en-US" sz="2400" dirty="0">
                    <a:latin typeface="Gill Sans MT" pitchFamily="34" charset="0"/>
                  </a:rPr>
                  <a:t>always executes the same test path</a:t>
                </a:r>
              </a:p>
            </p:txBody>
          </p:sp>
        </p:grpSp>
        <p:sp>
          <p:nvSpPr>
            <p:cNvPr id="11279" name="Line 48"/>
            <p:cNvSpPr>
              <a:spLocks noChangeShapeType="1"/>
            </p:cNvSpPr>
            <p:nvPr/>
          </p:nvSpPr>
          <p:spPr bwMode="auto">
            <a:xfrm>
              <a:off x="20" y="2208"/>
              <a:ext cx="57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51CF3E-0E49-4644-8CB2-173B6991A5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" y="96838"/>
            <a:ext cx="9005888" cy="925512"/>
          </a:xfrm>
        </p:spPr>
        <p:txBody>
          <a:bodyPr/>
          <a:lstStyle/>
          <a:p>
            <a:r>
              <a:rPr lang="en-US" dirty="0"/>
              <a:t>Testing and Covering Graphs </a:t>
            </a:r>
            <a:r>
              <a:rPr lang="en-US" sz="3200" dirty="0"/>
              <a:t>(7.2)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276350"/>
          </a:xfrm>
        </p:spPr>
        <p:txBody>
          <a:bodyPr/>
          <a:lstStyle/>
          <a:p>
            <a:r>
              <a:rPr lang="en-US" dirty="0"/>
              <a:t>We use graphs in testing as follows :</a:t>
            </a:r>
          </a:p>
          <a:p>
            <a:pPr lvl="1"/>
            <a:r>
              <a:rPr lang="en-US" dirty="0"/>
              <a:t>Develop a model of the software as a graph</a:t>
            </a:r>
          </a:p>
          <a:p>
            <a:pPr lvl="1"/>
            <a:r>
              <a:rPr lang="en-US" dirty="0"/>
              <a:t>Require tests to visit or tour specific sets of nodes, edges or </a:t>
            </a:r>
            <a:r>
              <a:rPr lang="en-US" dirty="0" err="1"/>
              <a:t>subpaths</a:t>
            </a:r>
            <a:endParaRPr lang="en-US" dirty="0"/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138113" y="2747727"/>
            <a:ext cx="88677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Test Requirements (TR)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Describe properties of test paths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Test Criterion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Rules that define test requirements</a:t>
            </a:r>
          </a:p>
          <a:p>
            <a:pPr marL="285750" indent="-285750" algn="just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Satisfaction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400" b="0" i="1" dirty="0">
                <a:solidFill>
                  <a:schemeClr val="tx1"/>
                </a:solidFill>
                <a:latin typeface="Gill Sans MT" pitchFamily="34" charset="0"/>
              </a:rPr>
              <a:t>Given a set TR of test requirements for a criterion C, a set of tests T satisfies C on a graph if and only if for every test requirement in TR, there is a test path in path(T) that meets the test requirement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tr</a:t>
            </a:r>
            <a:endParaRPr lang="en-US" sz="24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138113" y="4686300"/>
            <a:ext cx="8867775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Structural Coverage Criteria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Defined on a graph just in terms of nodes and edges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Data Flow Coverage Criteria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Requires a graph to be annotated with references to variables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  <p:bldP spid="1607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202B98-B982-4E8A-8301-3A3838CE7E2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266825"/>
            <a:ext cx="8867775" cy="766763"/>
          </a:xfrm>
        </p:spPr>
        <p:txBody>
          <a:bodyPr/>
          <a:lstStyle/>
          <a:p>
            <a:r>
              <a:rPr lang="en-US" dirty="0"/>
              <a:t>The first (and simplest) two criteria require that each node and edge in a graph be executed </a:t>
            </a: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441325" y="2511425"/>
            <a:ext cx="8262938" cy="12065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Test set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satisfies node coverage on graph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iff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for every syntactically reachable node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there is some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path(T)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such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visits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439738" y="5390660"/>
            <a:ext cx="8262937" cy="83099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node in G.</a:t>
            </a:r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138113" y="421163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This statement is a bit cumbersome, so we abbreviate it in terms of the set of test requirements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nimBg="1" autoUpdateAnimBg="0"/>
      <p:bldP spid="169989" grpId="0" animBg="1" autoUpdateAnimBg="0"/>
      <p:bldP spid="16999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D2ACFA-D953-4088-AB01-C9EEF9441D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35050"/>
            <a:ext cx="8867775" cy="471488"/>
          </a:xfrm>
        </p:spPr>
        <p:txBody>
          <a:bodyPr/>
          <a:lstStyle/>
          <a:p>
            <a:r>
              <a:rPr lang="en-US" dirty="0"/>
              <a:t>Edge coverage is slightly stronger than node coverage </a:t>
            </a:r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460375" y="1645986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 Coverage (EC)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length up to 1, inclusive, in G.</a:t>
            </a: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138113" y="261477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phrase “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length up to 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” allows for graphs with one node and no edges</a:t>
            </a: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153988" y="3509876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NC and EC are only different when there is an edge and another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between a pair of nodes (as in an “if-else” statement)</a:t>
            </a:r>
          </a:p>
        </p:txBody>
      </p:sp>
      <p:sp>
        <p:nvSpPr>
          <p:cNvPr id="169003" name="Text Box 43"/>
          <p:cNvSpPr txBox="1">
            <a:spLocks noChangeArrowheads="1"/>
          </p:cNvSpPr>
          <p:nvPr/>
        </p:nvSpPr>
        <p:spPr bwMode="auto">
          <a:xfrm>
            <a:off x="3643313" y="4560888"/>
            <a:ext cx="5289672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 TR = { 1, 2, 3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Test Path = [ 1, 2, 3 ]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TR = { (1, 2), (1, 3), (2, 3)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Test Paths = [ 1, 2, 3 ]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                      [ 1, 3 ]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847937" y="4633583"/>
            <a:ext cx="1436687" cy="1749425"/>
            <a:chOff x="979" y="2843"/>
            <a:chExt cx="905" cy="1102"/>
          </a:xfrm>
        </p:grpSpPr>
        <p:grpSp>
          <p:nvGrpSpPr>
            <p:cNvPr id="14348" name="Group 11"/>
            <p:cNvGrpSpPr>
              <a:grpSpLocks/>
            </p:cNvGrpSpPr>
            <p:nvPr/>
          </p:nvGrpSpPr>
          <p:grpSpPr bwMode="auto">
            <a:xfrm>
              <a:off x="979" y="3344"/>
              <a:ext cx="350" cy="296"/>
              <a:chOff x="4288" y="1746"/>
              <a:chExt cx="350" cy="296"/>
            </a:xfrm>
          </p:grpSpPr>
          <p:sp>
            <p:nvSpPr>
              <p:cNvPr id="14360" name="Oval 1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4361" name="Text Box 13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14349" name="Group 14"/>
            <p:cNvGrpSpPr>
              <a:grpSpLocks/>
            </p:cNvGrpSpPr>
            <p:nvPr/>
          </p:nvGrpSpPr>
          <p:grpSpPr bwMode="auto">
            <a:xfrm>
              <a:off x="1504" y="3037"/>
              <a:ext cx="380" cy="908"/>
              <a:chOff x="1346" y="2965"/>
              <a:chExt cx="380" cy="908"/>
            </a:xfrm>
          </p:grpSpPr>
          <p:grpSp>
            <p:nvGrpSpPr>
              <p:cNvPr id="14354" name="Group 15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14358" name="Oval 1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1435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14355" name="Group 18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14356" name="Oval 1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1435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</p:grpSp>
        <p:sp>
          <p:nvSpPr>
            <p:cNvPr id="14350" name="Line 24"/>
            <p:cNvSpPr>
              <a:spLocks noChangeShapeType="1"/>
            </p:cNvSpPr>
            <p:nvPr/>
          </p:nvSpPr>
          <p:spPr bwMode="auto">
            <a:xfrm flipV="1">
              <a:off x="1324" y="3264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1" name="Line 39"/>
            <p:cNvSpPr>
              <a:spLocks noChangeShapeType="1"/>
            </p:cNvSpPr>
            <p:nvPr/>
          </p:nvSpPr>
          <p:spPr bwMode="auto">
            <a:xfrm>
              <a:off x="1304" y="358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2" name="Line 44"/>
            <p:cNvSpPr>
              <a:spLocks noChangeShapeType="1"/>
            </p:cNvSpPr>
            <p:nvPr/>
          </p:nvSpPr>
          <p:spPr bwMode="auto">
            <a:xfrm>
              <a:off x="1694" y="3335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3" name="Line 45"/>
            <p:cNvSpPr>
              <a:spLocks noChangeShapeType="1"/>
            </p:cNvSpPr>
            <p:nvPr/>
          </p:nvSpPr>
          <p:spPr bwMode="auto">
            <a:xfrm>
              <a:off x="1694" y="284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nimBg="1" autoUpdateAnimBg="0"/>
      <p:bldP spid="168968" grpId="0" autoUpdateAnimBg="0"/>
      <p:bldP spid="168969" grpId="0" autoUpdateAnimBg="0"/>
      <p:bldP spid="16900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D8EB9E-4E24-4E8F-80BB-A6521719AB4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Paths of Length 1 and 0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86989"/>
            <a:ext cx="8867775" cy="766763"/>
          </a:xfrm>
        </p:spPr>
        <p:txBody>
          <a:bodyPr/>
          <a:lstStyle/>
          <a:p>
            <a:r>
              <a:rPr lang="en-US" dirty="0"/>
              <a:t>A graph with </a:t>
            </a:r>
            <a:r>
              <a:rPr lang="en-US" dirty="0">
                <a:solidFill>
                  <a:schemeClr val="tx2"/>
                </a:solidFill>
              </a:rPr>
              <a:t>only one node</a:t>
            </a:r>
            <a:r>
              <a:rPr lang="en-US" dirty="0"/>
              <a:t> will not have any edges 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138113" y="2301452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may seem trivial, but formally, Edge Coverage needs to require Node Coverage on this graph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513138" y="1425152"/>
            <a:ext cx="555625" cy="777875"/>
            <a:chOff x="1068" y="1209"/>
            <a:chExt cx="350" cy="490"/>
          </a:xfrm>
        </p:grpSpPr>
        <p:grpSp>
          <p:nvGrpSpPr>
            <p:cNvPr id="15380" name="Group 15"/>
            <p:cNvGrpSpPr>
              <a:grpSpLocks/>
            </p:cNvGrpSpPr>
            <p:nvPr/>
          </p:nvGrpSpPr>
          <p:grpSpPr bwMode="auto">
            <a:xfrm>
              <a:off x="1068" y="1403"/>
              <a:ext cx="350" cy="296"/>
              <a:chOff x="3838" y="2684"/>
              <a:chExt cx="350" cy="296"/>
            </a:xfrm>
          </p:grpSpPr>
          <p:sp>
            <p:nvSpPr>
              <p:cNvPr id="15382" name="Oval 16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Text Box 17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81" name="Line 21"/>
            <p:cNvSpPr>
              <a:spLocks noChangeShapeType="1"/>
            </p:cNvSpPr>
            <p:nvPr/>
          </p:nvSpPr>
          <p:spPr bwMode="auto">
            <a:xfrm>
              <a:off x="1243" y="1209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583" name="Rectangle 23"/>
          <p:cNvSpPr>
            <a:spLocks noChangeArrowheads="1"/>
          </p:cNvSpPr>
          <p:nvPr/>
        </p:nvSpPr>
        <p:spPr bwMode="auto">
          <a:xfrm>
            <a:off x="138113" y="311742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Otherwise, Edge Coverage will not subsume Node Coverage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So we define “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length up to 1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” instead of simply “length 1”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6943725" y="4449849"/>
            <a:ext cx="555625" cy="1749425"/>
            <a:chOff x="1637" y="2541"/>
            <a:chExt cx="350" cy="1102"/>
          </a:xfrm>
        </p:grpSpPr>
        <p:grpSp>
          <p:nvGrpSpPr>
            <p:cNvPr id="15372" name="Group 29"/>
            <p:cNvGrpSpPr>
              <a:grpSpLocks/>
            </p:cNvGrpSpPr>
            <p:nvPr/>
          </p:nvGrpSpPr>
          <p:grpSpPr bwMode="auto">
            <a:xfrm>
              <a:off x="1637" y="3347"/>
              <a:ext cx="350" cy="296"/>
              <a:chOff x="4738" y="2684"/>
              <a:chExt cx="350" cy="296"/>
            </a:xfrm>
          </p:grpSpPr>
          <p:sp>
            <p:nvSpPr>
              <p:cNvPr id="15378" name="Oval 3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9" name="Text Box 3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15373" name="Group 32"/>
            <p:cNvGrpSpPr>
              <a:grpSpLocks/>
            </p:cNvGrpSpPr>
            <p:nvPr/>
          </p:nvGrpSpPr>
          <p:grpSpPr bwMode="auto">
            <a:xfrm>
              <a:off x="1637" y="2735"/>
              <a:ext cx="350" cy="296"/>
              <a:chOff x="3838" y="2684"/>
              <a:chExt cx="350" cy="296"/>
            </a:xfrm>
          </p:grpSpPr>
          <p:sp>
            <p:nvSpPr>
              <p:cNvPr id="15376" name="Oval 3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7" name="Text Box 3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74" name="Line 37"/>
            <p:cNvSpPr>
              <a:spLocks noChangeShapeType="1"/>
            </p:cNvSpPr>
            <p:nvPr/>
          </p:nvSpPr>
          <p:spPr bwMode="auto">
            <a:xfrm>
              <a:off x="1812" y="3033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38"/>
            <p:cNvSpPr>
              <a:spLocks noChangeShapeType="1"/>
            </p:cNvSpPr>
            <p:nvPr/>
          </p:nvSpPr>
          <p:spPr bwMode="auto">
            <a:xfrm>
              <a:off x="1812" y="2541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00" name="Rectangle 40"/>
          <p:cNvSpPr>
            <a:spLocks noChangeArrowheads="1"/>
          </p:cNvSpPr>
          <p:nvPr/>
        </p:nvSpPr>
        <p:spPr bwMode="auto">
          <a:xfrm>
            <a:off x="138113" y="4524324"/>
            <a:ext cx="6421437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We have the same issue with graphs that only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one edge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– for Edge-Pair Coverage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6" grpId="0" autoUpdateAnimBg="0"/>
      <p:bldP spid="194583" grpId="0" autoUpdateAnimBg="0"/>
      <p:bldP spid="19460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38113" y="892089"/>
            <a:ext cx="8867775" cy="663575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Edge-pair coverage requires </a:t>
            </a:r>
            <a:r>
              <a:rPr lang="en-US" dirty="0">
                <a:solidFill>
                  <a:schemeClr val="tx2"/>
                </a:solidFill>
              </a:rPr>
              <a:t>pairs of edges</a:t>
            </a:r>
            <a:r>
              <a:rPr lang="en-US" dirty="0"/>
              <a:t>, or </a:t>
            </a:r>
            <a:r>
              <a:rPr lang="en-US" dirty="0" err="1"/>
              <a:t>subpaths</a:t>
            </a:r>
            <a:r>
              <a:rPr lang="en-US" dirty="0"/>
              <a:t> of length 2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441325" y="1701403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Edge-Pair Coverage (EPC)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length up to 2, inclusive, in G.</a:t>
            </a:r>
          </a:p>
        </p:txBody>
      </p:sp>
      <p:sp>
        <p:nvSpPr>
          <p:cNvPr id="164870" name="Rectangle 6"/>
          <p:cNvSpPr>
            <a:spLocks noChangeArrowheads="1"/>
          </p:cNvSpPr>
          <p:nvPr/>
        </p:nvSpPr>
        <p:spPr bwMode="auto">
          <a:xfrm>
            <a:off x="138113" y="268851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endParaRPr lang="en-US" sz="2800" b="0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138113" y="5787006"/>
            <a:ext cx="8867775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logical extension is to require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 paths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…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262660" y="3786534"/>
            <a:ext cx="2953785" cy="1819448"/>
            <a:chOff x="1262660" y="4345334"/>
            <a:chExt cx="2953785" cy="1819448"/>
          </a:xfrm>
        </p:grpSpPr>
        <p:sp>
          <p:nvSpPr>
            <p:cNvPr id="16" name="Line 37"/>
            <p:cNvSpPr>
              <a:spLocks noChangeShapeType="1"/>
            </p:cNvSpPr>
            <p:nvPr/>
          </p:nvSpPr>
          <p:spPr bwMode="auto">
            <a:xfrm>
              <a:off x="1818285" y="5261408"/>
              <a:ext cx="6392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33"/>
            <p:cNvSpPr>
              <a:spLocks noChangeArrowheads="1"/>
            </p:cNvSpPr>
            <p:nvPr/>
          </p:nvSpPr>
          <p:spPr bwMode="auto">
            <a:xfrm>
              <a:off x="1262660" y="5013758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Oval 33"/>
            <p:cNvSpPr>
              <a:spLocks noChangeArrowheads="1"/>
            </p:cNvSpPr>
            <p:nvPr/>
          </p:nvSpPr>
          <p:spPr bwMode="auto">
            <a:xfrm>
              <a:off x="1262660" y="56821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3660820" y="43580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3660820" y="56948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1724337" y="4727921"/>
              <a:ext cx="81187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2910606" y="5423276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33"/>
            <p:cNvSpPr>
              <a:spLocks noChangeArrowheads="1"/>
            </p:cNvSpPr>
            <p:nvPr/>
          </p:nvSpPr>
          <p:spPr bwMode="auto">
            <a:xfrm>
              <a:off x="1262660" y="43453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V="1">
              <a:off x="1785997" y="5423275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V="1">
              <a:off x="2961891" y="4727922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30"/>
            <p:cNvSpPr>
              <a:spLocks noChangeArrowheads="1"/>
            </p:cNvSpPr>
            <p:nvPr/>
          </p:nvSpPr>
          <p:spPr bwMode="auto">
            <a:xfrm>
              <a:off x="2457551" y="503572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6" name="Text Box 43"/>
          <p:cNvSpPr txBox="1">
            <a:spLocks noChangeArrowheads="1"/>
          </p:cNvSpPr>
          <p:nvPr/>
        </p:nvSpPr>
        <p:spPr bwMode="auto">
          <a:xfrm>
            <a:off x="4852988" y="4034539"/>
            <a:ext cx="41529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37" name="Text Box 43"/>
          <p:cNvSpPr txBox="1">
            <a:spLocks noChangeArrowheads="1"/>
          </p:cNvSpPr>
          <p:nvPr/>
        </p:nvSpPr>
        <p:spPr bwMode="auto">
          <a:xfrm>
            <a:off x="5020574" y="4423208"/>
            <a:ext cx="3683689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[1,4,5], [1,4,6], [2,4,5], [2,4,6], [3,4,5], [3,4,6] }</a:t>
            </a:r>
          </a:p>
        </p:txBody>
      </p:sp>
    </p:spTree>
    <p:extLst>
      <p:ext uri="{BB962C8B-B14F-4D97-AF65-F5344CB8AC3E}">
        <p14:creationId xmlns:p14="http://schemas.microsoft.com/office/powerpoint/2010/main" val="39080334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 autoUpdateAnimBg="0"/>
      <p:bldP spid="164870" grpId="0" autoUpdateAnimBg="0"/>
      <p:bldP spid="164873" grpId="0" autoUpdateAnimBg="0"/>
      <p:bldP spid="36" grpId="0" animBg="1" autoUpdateAnimBg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232904" y="1618828"/>
            <a:ext cx="8681035" cy="46166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Complete Path Coverage (CPC)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all paths in G.</a:t>
            </a: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439738" y="4523232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Specified Path Coverage (SPC)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 set S of test paths, where S is supplied as a parameter.</a:t>
            </a:r>
          </a:p>
        </p:txBody>
      </p:sp>
      <p:sp>
        <p:nvSpPr>
          <p:cNvPr id="164874" name="Rectangle 10"/>
          <p:cNvSpPr>
            <a:spLocks noChangeArrowheads="1"/>
          </p:cNvSpPr>
          <p:nvPr/>
        </p:nvSpPr>
        <p:spPr bwMode="auto">
          <a:xfrm>
            <a:off x="138113" y="3009956"/>
            <a:ext cx="8867775" cy="908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Unfortunately, this is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impossible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if the graph has a loop, so a weak compromise makes the tester decide which paths:</a:t>
            </a:r>
          </a:p>
        </p:txBody>
      </p:sp>
    </p:spTree>
    <p:extLst>
      <p:ext uri="{BB962C8B-B14F-4D97-AF65-F5344CB8AC3E}">
        <p14:creationId xmlns:p14="http://schemas.microsoft.com/office/powerpoint/2010/main" val="41754700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 autoUpdateAnimBg="0"/>
      <p:bldP spid="164872" grpId="0" animBg="1" autoUpdateAnimBg="0"/>
      <p:bldP spid="16487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485C38-656B-499D-8844-B48F3229521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Structural Coverage Example</a:t>
            </a:r>
          </a:p>
        </p:txBody>
      </p:sp>
      <p:sp>
        <p:nvSpPr>
          <p:cNvPr id="173092" name="Text Box 36"/>
          <p:cNvSpPr txBox="1">
            <a:spLocks noChangeArrowheads="1"/>
          </p:cNvSpPr>
          <p:nvPr/>
        </p:nvSpPr>
        <p:spPr bwMode="auto">
          <a:xfrm>
            <a:off x="2459038" y="942975"/>
            <a:ext cx="651510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1, 2, 3, 4, 5, 6, 7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2, 3, 5, 6, 5, 7 ]</a:t>
            </a:r>
          </a:p>
        </p:txBody>
      </p:sp>
      <p:grpSp>
        <p:nvGrpSpPr>
          <p:cNvPr id="17415" name="Group 14"/>
          <p:cNvGrpSpPr>
            <a:grpSpLocks/>
          </p:cNvGrpSpPr>
          <p:nvPr/>
        </p:nvGrpSpPr>
        <p:grpSpPr bwMode="auto">
          <a:xfrm>
            <a:off x="901700" y="5116513"/>
            <a:ext cx="555625" cy="469900"/>
            <a:chOff x="4288" y="3622"/>
            <a:chExt cx="350" cy="296"/>
          </a:xfrm>
        </p:grpSpPr>
        <p:sp>
          <p:nvSpPr>
            <p:cNvPr id="17447" name="Oval 15"/>
            <p:cNvSpPr>
              <a:spLocks noChangeArrowheads="1"/>
            </p:cNvSpPr>
            <p:nvPr/>
          </p:nvSpPr>
          <p:spPr bwMode="auto">
            <a:xfrm>
              <a:off x="4288" y="3622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8" name="Text Box 16"/>
            <p:cNvSpPr txBox="1">
              <a:spLocks noChangeArrowheads="1"/>
            </p:cNvSpPr>
            <p:nvPr/>
          </p:nvSpPr>
          <p:spPr bwMode="auto">
            <a:xfrm>
              <a:off x="4365" y="3645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7</a:t>
              </a:r>
            </a:p>
          </p:txBody>
        </p:sp>
      </p:grpSp>
      <p:grpSp>
        <p:nvGrpSpPr>
          <p:cNvPr id="17416" name="Group 4"/>
          <p:cNvGrpSpPr>
            <a:grpSpLocks/>
          </p:cNvGrpSpPr>
          <p:nvPr/>
        </p:nvGrpSpPr>
        <p:grpSpPr bwMode="auto">
          <a:xfrm>
            <a:off x="901700" y="1936750"/>
            <a:ext cx="555625" cy="469900"/>
            <a:chOff x="4288" y="1746"/>
            <a:chExt cx="350" cy="296"/>
          </a:xfrm>
        </p:grpSpPr>
        <p:sp>
          <p:nvSpPr>
            <p:cNvPr id="17445" name="Oval 5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6" name="Text Box 6"/>
            <p:cNvSpPr txBox="1">
              <a:spLocks noChangeArrowheads="1"/>
            </p:cNvSpPr>
            <p:nvPr/>
          </p:nvSpPr>
          <p:spPr bwMode="auto">
            <a:xfrm>
              <a:off x="4356" y="1769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17417" name="Group 8"/>
          <p:cNvGrpSpPr>
            <a:grpSpLocks/>
          </p:cNvGrpSpPr>
          <p:nvPr/>
        </p:nvGrpSpPr>
        <p:grpSpPr bwMode="auto">
          <a:xfrm>
            <a:off x="901700" y="3357563"/>
            <a:ext cx="555625" cy="469900"/>
            <a:chOff x="4738" y="2684"/>
            <a:chExt cx="350" cy="296"/>
          </a:xfrm>
        </p:grpSpPr>
        <p:sp>
          <p:nvSpPr>
            <p:cNvPr id="17443" name="Oval 9"/>
            <p:cNvSpPr>
              <a:spLocks noChangeArrowheads="1"/>
            </p:cNvSpPr>
            <p:nvPr/>
          </p:nvSpPr>
          <p:spPr bwMode="auto">
            <a:xfrm>
              <a:off x="47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4" name="Text Box 10"/>
            <p:cNvSpPr txBox="1">
              <a:spLocks noChangeArrowheads="1"/>
            </p:cNvSpPr>
            <p:nvPr/>
          </p:nvSpPr>
          <p:spPr bwMode="auto">
            <a:xfrm>
              <a:off x="48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17418" name="Group 11"/>
          <p:cNvGrpSpPr>
            <a:grpSpLocks/>
          </p:cNvGrpSpPr>
          <p:nvPr/>
        </p:nvGrpSpPr>
        <p:grpSpPr bwMode="auto">
          <a:xfrm>
            <a:off x="271463" y="2646363"/>
            <a:ext cx="555625" cy="469900"/>
            <a:chOff x="3838" y="2684"/>
            <a:chExt cx="350" cy="296"/>
          </a:xfrm>
        </p:grpSpPr>
        <p:sp>
          <p:nvSpPr>
            <p:cNvPr id="17441" name="Oval 12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2" name="Text Box 13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2</a:t>
              </a:r>
            </a:p>
          </p:txBody>
        </p:sp>
      </p:grpSp>
      <p:sp>
        <p:nvSpPr>
          <p:cNvPr id="17419" name="Line 17"/>
          <p:cNvSpPr>
            <a:spLocks noChangeShapeType="1"/>
          </p:cNvSpPr>
          <p:nvPr/>
        </p:nvSpPr>
        <p:spPr bwMode="auto">
          <a:xfrm flipH="1">
            <a:off x="723900" y="3806825"/>
            <a:ext cx="3365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0" name="Line 18"/>
          <p:cNvSpPr>
            <a:spLocks noChangeShapeType="1"/>
          </p:cNvSpPr>
          <p:nvPr/>
        </p:nvSpPr>
        <p:spPr bwMode="auto">
          <a:xfrm flipH="1">
            <a:off x="1179513" y="1612900"/>
            <a:ext cx="1587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grpSp>
        <p:nvGrpSpPr>
          <p:cNvPr id="17421" name="Group 19"/>
          <p:cNvGrpSpPr>
            <a:grpSpLocks/>
          </p:cNvGrpSpPr>
          <p:nvPr/>
        </p:nvGrpSpPr>
        <p:grpSpPr bwMode="auto">
          <a:xfrm>
            <a:off x="271463" y="4068763"/>
            <a:ext cx="555625" cy="469900"/>
            <a:chOff x="4288" y="1746"/>
            <a:chExt cx="350" cy="296"/>
          </a:xfrm>
        </p:grpSpPr>
        <p:sp>
          <p:nvSpPr>
            <p:cNvPr id="17439" name="Oval 20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0" name="Text Box 21"/>
            <p:cNvSpPr txBox="1">
              <a:spLocks noChangeArrowheads="1"/>
            </p:cNvSpPr>
            <p:nvPr/>
          </p:nvSpPr>
          <p:spPr bwMode="auto">
            <a:xfrm>
              <a:off x="4356" y="1769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17422" name="Group 26"/>
          <p:cNvGrpSpPr>
            <a:grpSpLocks/>
          </p:cNvGrpSpPr>
          <p:nvPr/>
        </p:nvGrpSpPr>
        <p:grpSpPr bwMode="auto">
          <a:xfrm>
            <a:off x="1487488" y="4068763"/>
            <a:ext cx="555625" cy="469900"/>
            <a:chOff x="3838" y="2684"/>
            <a:chExt cx="350" cy="296"/>
          </a:xfrm>
        </p:grpSpPr>
        <p:sp>
          <p:nvSpPr>
            <p:cNvPr id="17437" name="Oval 2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38" name="Text Box 28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5</a:t>
              </a:r>
            </a:p>
          </p:txBody>
        </p:sp>
      </p:grpSp>
      <p:sp>
        <p:nvSpPr>
          <p:cNvPr id="17423" name="Line 30"/>
          <p:cNvSpPr>
            <a:spLocks noChangeShapeType="1"/>
          </p:cNvSpPr>
          <p:nvPr/>
        </p:nvSpPr>
        <p:spPr bwMode="auto">
          <a:xfrm>
            <a:off x="1306513" y="3810000"/>
            <a:ext cx="28575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4" name="Line 31"/>
          <p:cNvSpPr>
            <a:spLocks noChangeShapeType="1"/>
          </p:cNvSpPr>
          <p:nvPr/>
        </p:nvSpPr>
        <p:spPr bwMode="auto">
          <a:xfrm flipH="1">
            <a:off x="1295400" y="4508500"/>
            <a:ext cx="309563" cy="623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5" name="Line 32"/>
          <p:cNvSpPr>
            <a:spLocks noChangeShapeType="1"/>
          </p:cNvSpPr>
          <p:nvPr/>
        </p:nvSpPr>
        <p:spPr bwMode="auto">
          <a:xfrm>
            <a:off x="723900" y="3090863"/>
            <a:ext cx="317500" cy="28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6" name="Line 33"/>
          <p:cNvSpPr>
            <a:spLocks noChangeShapeType="1"/>
          </p:cNvSpPr>
          <p:nvPr/>
        </p:nvSpPr>
        <p:spPr bwMode="auto">
          <a:xfrm flipH="1">
            <a:off x="733425" y="2374900"/>
            <a:ext cx="30321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7" name="Line 34"/>
          <p:cNvSpPr>
            <a:spLocks noChangeShapeType="1"/>
          </p:cNvSpPr>
          <p:nvPr/>
        </p:nvSpPr>
        <p:spPr bwMode="auto">
          <a:xfrm>
            <a:off x="733425" y="4503738"/>
            <a:ext cx="350838" cy="619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8" name="Line 37"/>
          <p:cNvSpPr>
            <a:spLocks noChangeShapeType="1"/>
          </p:cNvSpPr>
          <p:nvPr/>
        </p:nvSpPr>
        <p:spPr bwMode="auto">
          <a:xfrm flipH="1">
            <a:off x="1176338" y="2414588"/>
            <a:ext cx="4762" cy="93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9" name="Line 40"/>
          <p:cNvSpPr>
            <a:spLocks noChangeShapeType="1"/>
          </p:cNvSpPr>
          <p:nvPr/>
        </p:nvSpPr>
        <p:spPr bwMode="auto">
          <a:xfrm flipH="1" flipV="1">
            <a:off x="1912938" y="4522788"/>
            <a:ext cx="166687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3098" name="Text Box 42"/>
          <p:cNvSpPr txBox="1">
            <a:spLocks noChangeArrowheads="1"/>
          </p:cNvSpPr>
          <p:nvPr/>
        </p:nvSpPr>
        <p:spPr bwMode="auto">
          <a:xfrm>
            <a:off x="2459038" y="2111375"/>
            <a:ext cx="6545262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(1,2), (1, 3), (2, 3), (3, 4), (3, 5), (4, 7), (5, 6), (5, 7), (6, 5)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[1, 3, 5, 6, 5, 7 ]</a:t>
            </a:r>
          </a:p>
        </p:txBody>
      </p:sp>
      <p:sp>
        <p:nvSpPr>
          <p:cNvPr id="173099" name="Text Box 43"/>
          <p:cNvSpPr txBox="1">
            <a:spLocks noChangeArrowheads="1"/>
          </p:cNvSpPr>
          <p:nvPr/>
        </p:nvSpPr>
        <p:spPr bwMode="auto">
          <a:xfrm>
            <a:off x="2459038" y="3548655"/>
            <a:ext cx="6545262" cy="1631216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{[1,2,3], [1,3,4], [1,3,5], [2,3,4], [2,3,5], [3,4,7],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[3,5,6], [3,5,7], [5,6,5], [6,5,6], [6,5,7]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2, 3, 5, 7 ] [ 1, 3, 4, 7 ] 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[ 1, 3, 5, 6, 5, 6, 5, 7 ]</a:t>
            </a:r>
          </a:p>
        </p:txBody>
      </p:sp>
      <p:sp>
        <p:nvSpPr>
          <p:cNvPr id="173101" name="Text Box 45"/>
          <p:cNvSpPr txBox="1">
            <a:spLocks noChangeArrowheads="1"/>
          </p:cNvSpPr>
          <p:nvPr/>
        </p:nvSpPr>
        <p:spPr bwMode="auto">
          <a:xfrm>
            <a:off x="2459038" y="5328242"/>
            <a:ext cx="6534150" cy="1019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Complete Path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2, 3, 5, 7 ] [ 1, 2, 3, 5, 6, 5, 6 ] [ 1, 2, 3, 5, 6, 5, 6, 5, 7 ] [ 1, 2, 3, 5, 6, 5, 6, 5, 6, 5, 7 ] …</a:t>
            </a:r>
          </a:p>
        </p:txBody>
      </p:sp>
      <p:grpSp>
        <p:nvGrpSpPr>
          <p:cNvPr id="17433" name="Group 46"/>
          <p:cNvGrpSpPr>
            <a:grpSpLocks/>
          </p:cNvGrpSpPr>
          <p:nvPr/>
        </p:nvGrpSpPr>
        <p:grpSpPr bwMode="auto">
          <a:xfrm>
            <a:off x="1711325" y="4868863"/>
            <a:ext cx="555625" cy="469900"/>
            <a:chOff x="3838" y="2684"/>
            <a:chExt cx="350" cy="296"/>
          </a:xfrm>
        </p:grpSpPr>
        <p:sp>
          <p:nvSpPr>
            <p:cNvPr id="17435" name="Oval 4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36" name="Text Box 48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6</a:t>
              </a:r>
            </a:p>
          </p:txBody>
        </p:sp>
      </p:grpSp>
      <p:sp>
        <p:nvSpPr>
          <p:cNvPr id="17434" name="Line 49"/>
          <p:cNvSpPr>
            <a:spLocks noChangeShapeType="1"/>
          </p:cNvSpPr>
          <p:nvPr/>
        </p:nvSpPr>
        <p:spPr bwMode="auto">
          <a:xfrm flipH="1" flipV="1">
            <a:off x="1719263" y="4557713"/>
            <a:ext cx="166687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92" grpId="0" animBg="1" autoUpdateAnimBg="0"/>
      <p:bldP spid="173098" grpId="0" animBg="1" autoUpdateAnimBg="0"/>
      <p:bldP spid="173099" grpId="0" animBg="1" autoUpdateAnimBg="0"/>
      <p:bldP spid="17310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AEF4D9-64A0-481B-8507-475880F8B6E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Loops in Graphs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graph contains a loop, it has an </a:t>
            </a:r>
            <a:r>
              <a:rPr lang="en-US" dirty="0">
                <a:solidFill>
                  <a:schemeClr val="tx2"/>
                </a:solidFill>
              </a:rPr>
              <a:t>infinite</a:t>
            </a:r>
            <a:r>
              <a:rPr lang="en-US" dirty="0"/>
              <a:t> number of paths</a:t>
            </a:r>
          </a:p>
          <a:p>
            <a:pPr lvl="1"/>
            <a:endParaRPr lang="en-US" sz="1800" dirty="0"/>
          </a:p>
          <a:p>
            <a:r>
              <a:rPr lang="en-US" dirty="0"/>
              <a:t>Thus, CPC is </a:t>
            </a:r>
            <a:r>
              <a:rPr lang="en-US" dirty="0">
                <a:solidFill>
                  <a:schemeClr val="tx2"/>
                </a:solidFill>
              </a:rPr>
              <a:t>not feasible</a:t>
            </a:r>
          </a:p>
          <a:p>
            <a:pPr lvl="1"/>
            <a:endParaRPr lang="en-US" sz="1800" dirty="0"/>
          </a:p>
          <a:p>
            <a:r>
              <a:rPr lang="en-US" dirty="0"/>
              <a:t>SPC is not satisfactory because the results are </a:t>
            </a:r>
            <a:r>
              <a:rPr lang="en-US" dirty="0">
                <a:solidFill>
                  <a:schemeClr val="tx2"/>
                </a:solidFill>
              </a:rPr>
              <a:t>subjective</a:t>
            </a:r>
            <a:r>
              <a:rPr lang="en-US" dirty="0"/>
              <a:t> and vary with the tester</a:t>
            </a:r>
          </a:p>
          <a:p>
            <a:pPr lvl="1"/>
            <a:endParaRPr lang="en-US" sz="1800" dirty="0"/>
          </a:p>
          <a:p>
            <a:r>
              <a:rPr lang="en-US" dirty="0"/>
              <a:t>Attempts to “deal with”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1970s</a:t>
            </a:r>
            <a:r>
              <a:rPr lang="en-US" sz="2000" dirty="0"/>
              <a:t> : Execute cycles once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1980s</a:t>
            </a:r>
            <a:r>
              <a:rPr lang="en-US" sz="2000" dirty="0"/>
              <a:t> : Execute each loop, exactly once (formalized)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1990s</a:t>
            </a:r>
            <a:r>
              <a:rPr lang="en-US" sz="2000" dirty="0"/>
              <a:t> : Execute loops 0 times, once, more than once (informal description)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2000s</a:t>
            </a:r>
            <a:r>
              <a:rPr lang="en-US" sz="2000" dirty="0"/>
              <a:t> : Prime paths (touring, </a:t>
            </a:r>
            <a:r>
              <a:rPr lang="en-US" sz="2000" dirty="0" err="1"/>
              <a:t>sidetrips</a:t>
            </a:r>
            <a:r>
              <a:rPr lang="en-US" sz="2000" dirty="0"/>
              <a:t>, and detours)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DE6BAB-2752-411B-A839-7712480633A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Paths and Prime Paths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99042"/>
            <a:ext cx="8867775" cy="29686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Simple Path</a:t>
            </a:r>
            <a:r>
              <a:rPr lang="en-US" dirty="0"/>
              <a:t> :</a:t>
            </a:r>
            <a:r>
              <a:rPr lang="en-US" i="1" dirty="0"/>
              <a:t> A path from node </a:t>
            </a:r>
            <a:r>
              <a:rPr lang="en-US" i="1" dirty="0" err="1"/>
              <a:t>ni</a:t>
            </a:r>
            <a:r>
              <a:rPr lang="en-US" i="1" dirty="0"/>
              <a:t> to </a:t>
            </a:r>
            <a:r>
              <a:rPr lang="en-US" i="1" dirty="0" err="1"/>
              <a:t>nj</a:t>
            </a:r>
            <a:r>
              <a:rPr lang="en-US" i="1" dirty="0"/>
              <a:t> is simple if no node appears more than once, except possibly the first and last nodes are the same</a:t>
            </a:r>
            <a:endParaRPr lang="en-US" dirty="0"/>
          </a:p>
          <a:p>
            <a:pPr lvl="1"/>
            <a:r>
              <a:rPr lang="en-US" dirty="0"/>
              <a:t>No internal loops</a:t>
            </a:r>
          </a:p>
          <a:p>
            <a:pPr lvl="1"/>
            <a:r>
              <a:rPr lang="en-US" dirty="0"/>
              <a:t>A loop is a simple path</a:t>
            </a:r>
          </a:p>
          <a:p>
            <a:r>
              <a:rPr lang="en-US" dirty="0">
                <a:solidFill>
                  <a:schemeClr val="tx2"/>
                </a:solidFill>
              </a:rPr>
              <a:t>Prime Path</a:t>
            </a:r>
            <a:r>
              <a:rPr lang="en-US" dirty="0"/>
              <a:t> : </a:t>
            </a:r>
            <a:r>
              <a:rPr lang="en-US" i="1" dirty="0"/>
              <a:t>A simple path that does not appear as a proper </a:t>
            </a:r>
            <a:r>
              <a:rPr lang="en-US" i="1" dirty="0" err="1"/>
              <a:t>subpath</a:t>
            </a:r>
            <a:r>
              <a:rPr lang="en-US" i="1" dirty="0"/>
              <a:t> of any other simple path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2881313" y="4056771"/>
            <a:ext cx="6218237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Simple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[1,2,4,1], [1,3,4,1], [2,4,1,2], [2,4,1,3], [3,4,1,2], [3,4,1,3], [4,1,2,4], [4,1,3,4], [1,2,4], [1,3,4], [2,4,1], [3,4,1], [4,1,2], [4,1,3], [1,2], [1,3], [2,4], [3,4], [4,1], [1], [2], [3], [4]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Prime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[2,4,1,2], [2,4,1,3], [1,3,4,1], [1,2,4,1], [3,4,1,2], [4,1,3,4], [4,1,2,4], [3,4,1,3]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61963" y="4052888"/>
            <a:ext cx="2301875" cy="1744662"/>
            <a:chOff x="772" y="2720"/>
            <a:chExt cx="1450" cy="1099"/>
          </a:xfrm>
        </p:grpSpPr>
        <p:grpSp>
          <p:nvGrpSpPr>
            <p:cNvPr id="19465" name="Group 22"/>
            <p:cNvGrpSpPr>
              <a:grpSpLocks/>
            </p:cNvGrpSpPr>
            <p:nvPr/>
          </p:nvGrpSpPr>
          <p:grpSpPr bwMode="auto">
            <a:xfrm>
              <a:off x="772" y="3216"/>
              <a:ext cx="350" cy="296"/>
              <a:chOff x="772" y="3221"/>
              <a:chExt cx="350" cy="296"/>
            </a:xfrm>
          </p:grpSpPr>
          <p:sp>
            <p:nvSpPr>
              <p:cNvPr id="19481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82" name="Text Box 10"/>
              <p:cNvSpPr txBox="1">
                <a:spLocks noChangeArrowheads="1"/>
              </p:cNvSpPr>
              <p:nvPr/>
            </p:nvSpPr>
            <p:spPr bwMode="auto">
              <a:xfrm>
                <a:off x="840" y="3244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19466" name="Group 24"/>
            <p:cNvGrpSpPr>
              <a:grpSpLocks/>
            </p:cNvGrpSpPr>
            <p:nvPr/>
          </p:nvGrpSpPr>
          <p:grpSpPr bwMode="auto">
            <a:xfrm>
              <a:off x="1872" y="3216"/>
              <a:ext cx="350" cy="296"/>
              <a:chOff x="1297" y="3526"/>
              <a:chExt cx="350" cy="296"/>
            </a:xfrm>
          </p:grpSpPr>
          <p:sp>
            <p:nvSpPr>
              <p:cNvPr id="19479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80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9467" name="Group 23"/>
            <p:cNvGrpSpPr>
              <a:grpSpLocks/>
            </p:cNvGrpSpPr>
            <p:nvPr/>
          </p:nvGrpSpPr>
          <p:grpSpPr bwMode="auto">
            <a:xfrm>
              <a:off x="1321" y="2914"/>
              <a:ext cx="350" cy="296"/>
              <a:chOff x="1327" y="2914"/>
              <a:chExt cx="350" cy="296"/>
            </a:xfrm>
          </p:grpSpPr>
          <p:sp>
            <p:nvSpPr>
              <p:cNvPr id="19477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78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1</a:t>
                </a:r>
              </a:p>
            </p:txBody>
          </p:sp>
        </p:grpSp>
        <p:sp>
          <p:nvSpPr>
            <p:cNvPr id="19468" name="Line 18"/>
            <p:cNvSpPr>
              <a:spLocks noChangeShapeType="1"/>
            </p:cNvSpPr>
            <p:nvPr/>
          </p:nvSpPr>
          <p:spPr bwMode="auto">
            <a:xfrm flipV="1">
              <a:off x="1109" y="3145"/>
              <a:ext cx="234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69" name="Line 19"/>
            <p:cNvSpPr>
              <a:spLocks noChangeShapeType="1"/>
            </p:cNvSpPr>
            <p:nvPr/>
          </p:nvSpPr>
          <p:spPr bwMode="auto">
            <a:xfrm>
              <a:off x="1089" y="3461"/>
              <a:ext cx="238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70" name="Line 21"/>
            <p:cNvSpPr>
              <a:spLocks noChangeShapeType="1"/>
            </p:cNvSpPr>
            <p:nvPr/>
          </p:nvSpPr>
          <p:spPr bwMode="auto">
            <a:xfrm>
              <a:off x="1495" y="272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grpSp>
          <p:nvGrpSpPr>
            <p:cNvPr id="19471" name="Group 25"/>
            <p:cNvGrpSpPr>
              <a:grpSpLocks/>
            </p:cNvGrpSpPr>
            <p:nvPr/>
          </p:nvGrpSpPr>
          <p:grpSpPr bwMode="auto">
            <a:xfrm>
              <a:off x="1320" y="3517"/>
              <a:ext cx="350" cy="296"/>
              <a:chOff x="1297" y="3526"/>
              <a:chExt cx="350" cy="296"/>
            </a:xfrm>
          </p:grpSpPr>
          <p:sp>
            <p:nvSpPr>
              <p:cNvPr id="19475" name="Oval 26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76" name="Text Box 27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sp>
          <p:nvSpPr>
            <p:cNvPr id="19472" name="Line 32"/>
            <p:cNvSpPr>
              <a:spLocks noChangeShapeType="1"/>
            </p:cNvSpPr>
            <p:nvPr/>
          </p:nvSpPr>
          <p:spPr bwMode="auto">
            <a:xfrm flipH="1" flipV="1">
              <a:off x="1647" y="3149"/>
              <a:ext cx="242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73" name="Line 33"/>
            <p:cNvSpPr>
              <a:spLocks noChangeShapeType="1"/>
            </p:cNvSpPr>
            <p:nvPr/>
          </p:nvSpPr>
          <p:spPr bwMode="auto">
            <a:xfrm flipH="1">
              <a:off x="1663" y="3457"/>
              <a:ext cx="246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cxnSp>
          <p:nvCxnSpPr>
            <p:cNvPr id="19474" name="AutoShape 34"/>
            <p:cNvCxnSpPr>
              <a:cxnSpLocks noChangeShapeType="1"/>
              <a:stCxn id="19475" idx="4"/>
              <a:endCxn id="19477" idx="1"/>
            </p:cNvCxnSpPr>
            <p:nvPr/>
          </p:nvCxnSpPr>
          <p:spPr bwMode="auto">
            <a:xfrm rot="16200000" flipV="1">
              <a:off x="1000" y="3323"/>
              <a:ext cx="868" cy="123"/>
            </a:xfrm>
            <a:prstGeom prst="curvedConnector5">
              <a:avLst>
                <a:gd name="adj1" fmla="val -15898"/>
                <a:gd name="adj2" fmla="val 754468"/>
                <a:gd name="adj3" fmla="val 1235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D05EA3-8E5B-4CB7-AD95-8A46886A9D7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Prime Path Coverage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84250"/>
            <a:ext cx="8867775" cy="1185863"/>
          </a:xfrm>
        </p:spPr>
        <p:txBody>
          <a:bodyPr/>
          <a:lstStyle/>
          <a:p>
            <a:r>
              <a:rPr lang="en-US" dirty="0"/>
              <a:t>A simple, elegant and finite criterion that requires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 to be executed as well as skipped</a:t>
            </a:r>
            <a:endParaRPr lang="en-US" sz="1600" dirty="0"/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220663" y="2175424"/>
            <a:ext cx="8704262" cy="830997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Prime Path Coverage (PPC)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prime path in G.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38113" y="3441033"/>
            <a:ext cx="8867775" cy="234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Will tour all paths of length 0, </a:t>
            </a:r>
            <a:r>
              <a:rPr lang="en-US" sz="2800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…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That is, it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subsumes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node and edge coverage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PPC almost, but </a:t>
            </a:r>
            <a:r>
              <a:rPr lang="en-US" sz="2800" b="0" dirty="0">
                <a:solidFill>
                  <a:srgbClr val="FFFF00"/>
                </a:solidFill>
                <a:latin typeface="Gill Sans MT" pitchFamily="34" charset="0"/>
              </a:rPr>
              <a:t>not quite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subsumes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EPC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4514727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 autoUpdateAnimBg="0"/>
      <p:bldP spid="16691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PPC Does Not Subsume EPC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Software Testing, Edition 2  (</a:t>
            </a:r>
            <a:r>
              <a:rPr lang="en-US" dirty="0" err="1"/>
              <a:t>Ch</a:t>
            </a:r>
            <a:r>
              <a:rPr lang="en-US" dirty="0"/>
              <a:t> 07)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7B84-9F6B-4375-98C9-19E41DF1CA6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2244429" y="3697808"/>
            <a:ext cx="555625" cy="2592486"/>
            <a:chOff x="3854742" y="1350149"/>
            <a:chExt cx="555625" cy="2592486"/>
          </a:xfrm>
        </p:grpSpPr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3854742" y="2565429"/>
              <a:ext cx="555625" cy="469900"/>
              <a:chOff x="772" y="3221"/>
              <a:chExt cx="350" cy="296"/>
            </a:xfrm>
          </p:grpSpPr>
          <p:sp>
            <p:nvSpPr>
              <p:cNvPr id="23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848" y="3244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2</a:t>
                </a:r>
              </a:p>
            </p:txBody>
          </p:sp>
        </p:grpSp>
        <p:grpSp>
          <p:nvGrpSpPr>
            <p:cNvPr id="8" name="Group 24"/>
            <p:cNvGrpSpPr>
              <a:grpSpLocks/>
            </p:cNvGrpSpPr>
            <p:nvPr/>
          </p:nvGrpSpPr>
          <p:grpSpPr bwMode="auto">
            <a:xfrm>
              <a:off x="3854742" y="3472735"/>
              <a:ext cx="555625" cy="469900"/>
              <a:chOff x="1297" y="3526"/>
              <a:chExt cx="350" cy="296"/>
            </a:xfrm>
          </p:grpSpPr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2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3</a:t>
                </a:r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854742" y="1658124"/>
              <a:ext cx="555625" cy="469900"/>
              <a:chOff x="1327" y="2914"/>
              <a:chExt cx="350" cy="296"/>
            </a:xfrm>
          </p:grpSpPr>
          <p:sp>
            <p:nvSpPr>
              <p:cNvPr id="19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 flipV="1">
              <a:off x="4131761" y="2128023"/>
              <a:ext cx="1588" cy="437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>
              <a:off x="4132554" y="1350149"/>
              <a:ext cx="0" cy="295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cxnSp>
          <p:nvCxnSpPr>
            <p:cNvPr id="16" name="AutoShape 34"/>
            <p:cNvCxnSpPr>
              <a:cxnSpLocks noChangeShapeType="1"/>
              <a:stCxn id="23" idx="3"/>
              <a:endCxn id="23" idx="1"/>
            </p:cNvCxnSpPr>
            <p:nvPr/>
          </p:nvCxnSpPr>
          <p:spPr bwMode="auto">
            <a:xfrm rot="5400000" flipH="1">
              <a:off x="3769976" y="2800379"/>
              <a:ext cx="332270" cy="12700"/>
            </a:xfrm>
            <a:prstGeom prst="curvedConnector5">
              <a:avLst>
                <a:gd name="adj1" fmla="val -20091"/>
                <a:gd name="adj2" fmla="val 3559079"/>
                <a:gd name="adj3" fmla="val 103044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7" name="Straight Arrow Connector 26"/>
            <p:cNvCxnSpPr>
              <a:stCxn id="23" idx="4"/>
              <a:endCxn id="21" idx="0"/>
            </p:cNvCxnSpPr>
            <p:nvPr/>
          </p:nvCxnSpPr>
          <p:spPr bwMode="auto">
            <a:xfrm>
              <a:off x="4132555" y="3035329"/>
              <a:ext cx="0" cy="43740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43" name="Content Placeholder 2"/>
          <p:cNvSpPr txBox="1">
            <a:spLocks/>
          </p:cNvSpPr>
          <p:nvPr/>
        </p:nvSpPr>
        <p:spPr>
          <a:xfrm>
            <a:off x="1" y="1085850"/>
            <a:ext cx="9005888" cy="5392738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85000"/>
              <a:buChar char="•"/>
              <a:defRPr sz="2800" b="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342900"/>
            <a:r>
              <a:rPr lang="en-US" sz="3200" kern="0" dirty="0"/>
              <a:t>If a node </a:t>
            </a:r>
            <a:r>
              <a:rPr lang="en-US" sz="3200" i="1" kern="0" dirty="0">
                <a:solidFill>
                  <a:schemeClr val="tx2"/>
                </a:solidFill>
              </a:rPr>
              <a:t>n</a:t>
            </a:r>
            <a:r>
              <a:rPr lang="en-US" sz="3200" kern="0" dirty="0"/>
              <a:t> has an edge to itself (</a:t>
            </a:r>
            <a:r>
              <a:rPr lang="en-US" sz="3200" i="1" kern="0" dirty="0"/>
              <a:t>self edge</a:t>
            </a:r>
            <a:r>
              <a:rPr lang="en-US" sz="3200" kern="0" dirty="0"/>
              <a:t>), </a:t>
            </a:r>
            <a:r>
              <a:rPr lang="en-US" sz="3200" kern="0" dirty="0">
                <a:solidFill>
                  <a:schemeClr val="tx2"/>
                </a:solidFill>
              </a:rPr>
              <a:t>EPC</a:t>
            </a:r>
            <a:r>
              <a:rPr lang="en-US" sz="3200" kern="0" dirty="0"/>
              <a:t> requires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and</a:t>
            </a:r>
            <a:r>
              <a:rPr lang="en-US" sz="3200" kern="0" dirty="0">
                <a:solidFill>
                  <a:schemeClr val="tx2"/>
                </a:solidFill>
              </a:rPr>
              <a:t> 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</a:p>
          <a:p>
            <a:pPr marL="342900"/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is not prime</a:t>
            </a:r>
          </a:p>
          <a:p>
            <a:pPr marL="342900"/>
            <a:r>
              <a:rPr lang="en-US" sz="3200" kern="0" dirty="0"/>
              <a:t>Neither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nor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are simple paths (not prime)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3002354" y="3697808"/>
            <a:ext cx="424811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EPC Requirements : 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3048559" y="4094569"/>
            <a:ext cx="428282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[1,2,2], [2,2,3], [2,2,2]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4158166" y="5041269"/>
            <a:ext cx="2889997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PPC Requirements :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4204373" y="5438030"/>
            <a:ext cx="257675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44885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8" grpId="0" animBg="1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78BAE8-DF39-4130-9BCF-637E4193C82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Prime Path Example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90600"/>
            <a:ext cx="8867775" cy="5178425"/>
          </a:xfrm>
        </p:spPr>
        <p:txBody>
          <a:bodyPr/>
          <a:lstStyle/>
          <a:p>
            <a:r>
              <a:rPr lang="en-US"/>
              <a:t>The previous example has 38 </a:t>
            </a:r>
            <a:r>
              <a:rPr lang="en-US">
                <a:solidFill>
                  <a:schemeClr val="tx2"/>
                </a:solidFill>
              </a:rPr>
              <a:t>simple</a:t>
            </a:r>
            <a:r>
              <a:rPr lang="en-US"/>
              <a:t> paths</a:t>
            </a:r>
            <a:endParaRPr lang="en-US" i="1"/>
          </a:p>
          <a:p>
            <a:r>
              <a:rPr lang="en-US"/>
              <a:t>Only </a:t>
            </a:r>
            <a:r>
              <a:rPr lang="en-US">
                <a:solidFill>
                  <a:schemeClr val="tx2"/>
                </a:solidFill>
              </a:rPr>
              <a:t>nine</a:t>
            </a:r>
            <a:r>
              <a:rPr lang="en-US"/>
              <a:t> </a:t>
            </a:r>
            <a:r>
              <a:rPr lang="en-US" i="1"/>
              <a:t>prime paths</a:t>
            </a:r>
          </a:p>
        </p:txBody>
      </p:sp>
      <p:sp>
        <p:nvSpPr>
          <p:cNvPr id="167968" name="Text Box 32"/>
          <p:cNvSpPr txBox="1">
            <a:spLocks noChangeArrowheads="1"/>
          </p:cNvSpPr>
          <p:nvPr/>
        </p:nvSpPr>
        <p:spPr bwMode="auto">
          <a:xfrm>
            <a:off x="3306763" y="2855913"/>
            <a:ext cx="3303587" cy="3152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Prime Paths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2, 3, 4,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2, 3,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2, 3,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4,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[1, 3,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[6, 5, 7]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[6, 5, 6]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[5, 6, 5]</a:t>
            </a:r>
          </a:p>
        </p:txBody>
      </p:sp>
      <p:sp>
        <p:nvSpPr>
          <p:cNvPr id="167969" name="AutoShape 33"/>
          <p:cNvSpPr>
            <a:spLocks/>
          </p:cNvSpPr>
          <p:nvPr/>
        </p:nvSpPr>
        <p:spPr bwMode="auto">
          <a:xfrm>
            <a:off x="7138988" y="4427538"/>
            <a:ext cx="1554162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5343"/>
              <a:gd name="adj5" fmla="val 66822"/>
              <a:gd name="adj6" fmla="val -100842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once</a:t>
            </a:r>
          </a:p>
        </p:txBody>
      </p:sp>
      <p:sp>
        <p:nvSpPr>
          <p:cNvPr id="167970" name="AutoShape 34"/>
          <p:cNvSpPr>
            <a:spLocks/>
          </p:cNvSpPr>
          <p:nvPr/>
        </p:nvSpPr>
        <p:spPr bwMode="auto">
          <a:xfrm>
            <a:off x="6870700" y="5268913"/>
            <a:ext cx="1971675" cy="722312"/>
          </a:xfrm>
          <a:prstGeom prst="borderCallout2">
            <a:avLst>
              <a:gd name="adj1" fmla="val 15824"/>
              <a:gd name="adj2" fmla="val -3866"/>
              <a:gd name="adj3" fmla="val 15824"/>
              <a:gd name="adj4" fmla="val -32769"/>
              <a:gd name="adj5" fmla="val 27905"/>
              <a:gd name="adj6" fmla="val -72413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more than once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455613" y="2395538"/>
            <a:ext cx="2120900" cy="3635375"/>
            <a:chOff x="287" y="1509"/>
            <a:chExt cx="1336" cy="2290"/>
          </a:xfrm>
        </p:grpSpPr>
        <p:grpSp>
          <p:nvGrpSpPr>
            <p:cNvPr id="22540" name="Group 39"/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</p:grpSpPr>
          <p:sp>
            <p:nvSpPr>
              <p:cNvPr id="22569" name="Oval 6"/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70" name="Text Box 7"/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22541" name="Group 8"/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</p:grpSpPr>
          <p:sp>
            <p:nvSpPr>
              <p:cNvPr id="22567" name="Oval 9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8" name="Text Box 10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2542" name="Group 11"/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</p:grpSpPr>
          <p:sp>
            <p:nvSpPr>
              <p:cNvPr id="22565" name="Oval 12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6" name="Text Box 13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2543" name="Group 14"/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</p:grpSpPr>
          <p:sp>
            <p:nvSpPr>
              <p:cNvPr id="22563" name="Oval 15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Text Box 16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2544" name="Line 17"/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Line 18"/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46" name="Group 19"/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</p:grpSpPr>
          <p:sp>
            <p:nvSpPr>
              <p:cNvPr id="22561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2" name="Text Box 2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2547" name="Group 22"/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</p:grpSpPr>
          <p:sp>
            <p:nvSpPr>
              <p:cNvPr id="22559" name="Oval 2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0" name="Text Box 2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2548" name="Line 25"/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Line 26"/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Line 27"/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28"/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29"/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Line 30"/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Line 31"/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55" name="Group 35"/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</p:grpSpPr>
          <p:sp>
            <p:nvSpPr>
              <p:cNvPr id="22557" name="Oval 36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8" name="Text Box 37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22556" name="Line 38"/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7978" name="AutoShape 42"/>
          <p:cNvSpPr>
            <a:spLocks/>
          </p:cNvSpPr>
          <p:nvPr/>
        </p:nvSpPr>
        <p:spPr bwMode="auto">
          <a:xfrm>
            <a:off x="7048500" y="3582988"/>
            <a:ext cx="1554163" cy="690562"/>
          </a:xfrm>
          <a:prstGeom prst="borderCallout2">
            <a:avLst>
              <a:gd name="adj1" fmla="val 16551"/>
              <a:gd name="adj2" fmla="val -4903"/>
              <a:gd name="adj3" fmla="val 16551"/>
              <a:gd name="adj4" fmla="val -31972"/>
              <a:gd name="adj5" fmla="val 141994"/>
              <a:gd name="adj6" fmla="val -95199"/>
            </a:avLst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chemeClr val="tx1"/>
                </a:solidFill>
              </a:rPr>
              <a:t>Execute loop 0 times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8" grpId="0" animBg="1" autoUpdateAnimBg="0"/>
      <p:bldP spid="167969" grpId="0" animBg="1" autoUpdateAnimBg="0"/>
      <p:bldP spid="167970" grpId="0" animBg="1" autoUpdateAnimBg="0"/>
      <p:bldP spid="16797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3E78A9-DB5B-4B24-9CC0-2F52591DF37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Touring, </a:t>
            </a:r>
            <a:r>
              <a:rPr lang="en-US" dirty="0" err="1"/>
              <a:t>Sidetrips</a:t>
            </a:r>
            <a:r>
              <a:rPr lang="en-US"/>
              <a:t>, and Detours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482600"/>
          </a:xfrm>
        </p:spPr>
        <p:txBody>
          <a:bodyPr/>
          <a:lstStyle/>
          <a:p>
            <a:r>
              <a:rPr lang="en-US" dirty="0"/>
              <a:t>Prime paths do not have </a:t>
            </a:r>
            <a:r>
              <a:rPr lang="en-US" dirty="0">
                <a:solidFill>
                  <a:schemeClr val="tx2"/>
                </a:solidFill>
              </a:rPr>
              <a:t>internal loops</a:t>
            </a:r>
            <a:r>
              <a:rPr lang="en-US" dirty="0"/>
              <a:t> … test paths </a:t>
            </a:r>
            <a:r>
              <a:rPr lang="en-US" u="sng" dirty="0"/>
              <a:t>might</a:t>
            </a:r>
            <a:endParaRPr lang="en-US" dirty="0"/>
          </a:p>
        </p:txBody>
      </p:sp>
      <p:sp>
        <p:nvSpPr>
          <p:cNvPr id="23559" name="Rectangle 4"/>
          <p:cNvSpPr>
            <a:spLocks noChangeArrowheads="1"/>
          </p:cNvSpPr>
          <p:nvPr/>
        </p:nvSpPr>
        <p:spPr bwMode="auto">
          <a:xfrm>
            <a:off x="138113" y="2016707"/>
            <a:ext cx="8867775" cy="403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if q is a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of p</a:t>
            </a:r>
            <a:endParaRPr lang="en-US" sz="2800" b="0" dirty="0">
              <a:solidFill>
                <a:schemeClr val="tx1"/>
              </a:solidFill>
              <a:latin typeface="Gill Sans MT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edge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</a:t>
            </a:r>
            <a:r>
              <a:rPr lang="en-US" sz="2400" b="0" dirty="0" err="1">
                <a:solidFill>
                  <a:schemeClr val="tx1"/>
                </a:solidFill>
                <a:latin typeface="Gill Sans MT" pitchFamily="34" charset="0"/>
              </a:rPr>
              <a:t>sidetrip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same node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Detours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detours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node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detour from node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prime path at a successor of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endParaRPr lang="en-US" sz="24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5CC19D-469D-457C-BFE6-48F8FEAE0FB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Sidetrips and Detours Example</a:t>
            </a:r>
          </a:p>
        </p:txBody>
      </p:sp>
      <p:grpSp>
        <p:nvGrpSpPr>
          <p:cNvPr id="24582" name="Group 42"/>
          <p:cNvGrpSpPr>
            <a:grpSpLocks/>
          </p:cNvGrpSpPr>
          <p:nvPr/>
        </p:nvGrpSpPr>
        <p:grpSpPr bwMode="auto">
          <a:xfrm>
            <a:off x="1881188" y="1066800"/>
            <a:ext cx="5381625" cy="1381125"/>
            <a:chOff x="842" y="988"/>
            <a:chExt cx="3390" cy="870"/>
          </a:xfrm>
        </p:grpSpPr>
        <p:grpSp>
          <p:nvGrpSpPr>
            <p:cNvPr id="24687" name="Group 5"/>
            <p:cNvGrpSpPr>
              <a:grpSpLocks/>
            </p:cNvGrpSpPr>
            <p:nvPr/>
          </p:nvGrpSpPr>
          <p:grpSpPr bwMode="auto">
            <a:xfrm>
              <a:off x="1050" y="989"/>
              <a:ext cx="350" cy="296"/>
              <a:chOff x="4288" y="1746"/>
              <a:chExt cx="350" cy="296"/>
            </a:xfrm>
          </p:grpSpPr>
          <p:sp>
            <p:nvSpPr>
              <p:cNvPr id="24711" name="Oval 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2" name="Text Box 7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1</a:t>
                </a:r>
              </a:p>
            </p:txBody>
          </p:sp>
        </p:grpSp>
        <p:grpSp>
          <p:nvGrpSpPr>
            <p:cNvPr id="24688" name="Group 9"/>
            <p:cNvGrpSpPr>
              <a:grpSpLocks/>
            </p:cNvGrpSpPr>
            <p:nvPr/>
          </p:nvGrpSpPr>
          <p:grpSpPr bwMode="auto">
            <a:xfrm>
              <a:off x="2457" y="988"/>
              <a:ext cx="350" cy="296"/>
              <a:chOff x="4738" y="2684"/>
              <a:chExt cx="350" cy="296"/>
            </a:xfrm>
          </p:grpSpPr>
          <p:sp>
            <p:nvSpPr>
              <p:cNvPr id="24709" name="Oval 1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0" name="Text Box 1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24689" name="Group 12"/>
            <p:cNvGrpSpPr>
              <a:grpSpLocks/>
            </p:cNvGrpSpPr>
            <p:nvPr/>
          </p:nvGrpSpPr>
          <p:grpSpPr bwMode="auto">
            <a:xfrm>
              <a:off x="1753" y="989"/>
              <a:ext cx="350" cy="296"/>
              <a:chOff x="3838" y="2684"/>
              <a:chExt cx="350" cy="296"/>
            </a:xfrm>
          </p:grpSpPr>
          <p:sp>
            <p:nvSpPr>
              <p:cNvPr id="24707" name="Oval 1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8" name="Text Box 1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24690" name="Group 15"/>
            <p:cNvGrpSpPr>
              <a:grpSpLocks/>
            </p:cNvGrpSpPr>
            <p:nvPr/>
          </p:nvGrpSpPr>
          <p:grpSpPr bwMode="auto">
            <a:xfrm>
              <a:off x="3882" y="988"/>
              <a:ext cx="350" cy="296"/>
              <a:chOff x="4288" y="3622"/>
              <a:chExt cx="350" cy="296"/>
            </a:xfrm>
          </p:grpSpPr>
          <p:sp>
            <p:nvSpPr>
              <p:cNvPr id="24705" name="Oval 16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6" name="Text Box 17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6</a:t>
                </a:r>
              </a:p>
            </p:txBody>
          </p:sp>
        </p:grpSp>
        <p:sp>
          <p:nvSpPr>
            <p:cNvPr id="24691" name="Line 18"/>
            <p:cNvSpPr>
              <a:spLocks noChangeShapeType="1"/>
            </p:cNvSpPr>
            <p:nvPr/>
          </p:nvSpPr>
          <p:spPr bwMode="auto">
            <a:xfrm flipV="1">
              <a:off x="2809" y="1286"/>
              <a:ext cx="448" cy="3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2" name="Line 19"/>
            <p:cNvSpPr>
              <a:spLocks noChangeShapeType="1"/>
            </p:cNvSpPr>
            <p:nvPr/>
          </p:nvSpPr>
          <p:spPr bwMode="auto">
            <a:xfrm>
              <a:off x="842" y="113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grpSp>
          <p:nvGrpSpPr>
            <p:cNvPr id="24693" name="Group 20"/>
            <p:cNvGrpSpPr>
              <a:grpSpLocks/>
            </p:cNvGrpSpPr>
            <p:nvPr/>
          </p:nvGrpSpPr>
          <p:grpSpPr bwMode="auto">
            <a:xfrm>
              <a:off x="2457" y="1562"/>
              <a:ext cx="350" cy="296"/>
              <a:chOff x="4288" y="1746"/>
              <a:chExt cx="350" cy="296"/>
            </a:xfrm>
          </p:grpSpPr>
          <p:sp>
            <p:nvSpPr>
              <p:cNvPr id="24703" name="Oval 2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4" name="Text Box 22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grpSp>
          <p:nvGrpSpPr>
            <p:cNvPr id="24694" name="Group 27"/>
            <p:cNvGrpSpPr>
              <a:grpSpLocks/>
            </p:cNvGrpSpPr>
            <p:nvPr/>
          </p:nvGrpSpPr>
          <p:grpSpPr bwMode="auto">
            <a:xfrm>
              <a:off x="3171" y="989"/>
              <a:ext cx="350" cy="296"/>
              <a:chOff x="3838" y="2684"/>
              <a:chExt cx="350" cy="296"/>
            </a:xfrm>
          </p:grpSpPr>
          <p:sp>
            <p:nvSpPr>
              <p:cNvPr id="24701" name="Oval 28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2" name="Text Box 29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5</a:t>
                </a:r>
              </a:p>
            </p:txBody>
          </p:sp>
        </p:grpSp>
        <p:sp>
          <p:nvSpPr>
            <p:cNvPr id="24695" name="Line 34"/>
            <p:cNvSpPr>
              <a:spLocks noChangeShapeType="1"/>
            </p:cNvSpPr>
            <p:nvPr/>
          </p:nvSpPr>
          <p:spPr bwMode="auto">
            <a:xfrm flipH="1">
              <a:off x="2563" y="1283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6" name="Line 37"/>
            <p:cNvSpPr>
              <a:spLocks noChangeShapeType="1"/>
            </p:cNvSpPr>
            <p:nvPr/>
          </p:nvSpPr>
          <p:spPr bwMode="auto">
            <a:xfrm>
              <a:off x="1400" y="1137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7" name="Line 38"/>
            <p:cNvSpPr>
              <a:spLocks noChangeShapeType="1"/>
            </p:cNvSpPr>
            <p:nvPr/>
          </p:nvSpPr>
          <p:spPr bwMode="auto">
            <a:xfrm>
              <a:off x="3532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8" name="Line 39"/>
            <p:cNvSpPr>
              <a:spLocks noChangeShapeType="1"/>
            </p:cNvSpPr>
            <p:nvPr/>
          </p:nvSpPr>
          <p:spPr bwMode="auto">
            <a:xfrm>
              <a:off x="2814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9" name="Line 40"/>
            <p:cNvSpPr>
              <a:spLocks noChangeShapeType="1"/>
            </p:cNvSpPr>
            <p:nvPr/>
          </p:nvSpPr>
          <p:spPr bwMode="auto">
            <a:xfrm>
              <a:off x="2111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700" name="Line 41"/>
            <p:cNvSpPr>
              <a:spLocks noChangeShapeType="1"/>
            </p:cNvSpPr>
            <p:nvPr/>
          </p:nvSpPr>
          <p:spPr bwMode="auto">
            <a:xfrm flipH="1">
              <a:off x="2704" y="1282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9" name="Group 117"/>
          <p:cNvGrpSpPr>
            <a:grpSpLocks/>
          </p:cNvGrpSpPr>
          <p:nvPr/>
        </p:nvGrpSpPr>
        <p:grpSpPr bwMode="auto">
          <a:xfrm>
            <a:off x="1485900" y="2808288"/>
            <a:ext cx="5776913" cy="1381125"/>
            <a:chOff x="936" y="1769"/>
            <a:chExt cx="3639" cy="870"/>
          </a:xfrm>
        </p:grpSpPr>
        <p:grpSp>
          <p:nvGrpSpPr>
            <p:cNvPr id="2" name="Group 61"/>
            <p:cNvGrpSpPr>
              <a:grpSpLocks/>
            </p:cNvGrpSpPr>
            <p:nvPr/>
          </p:nvGrpSpPr>
          <p:grpSpPr bwMode="auto">
            <a:xfrm>
              <a:off x="1185" y="1769"/>
              <a:ext cx="3390" cy="870"/>
              <a:chOff x="842" y="988"/>
              <a:chExt cx="3390" cy="870"/>
            </a:xfrm>
          </p:grpSpPr>
          <p:grpSp>
            <p:nvGrpSpPr>
              <p:cNvPr id="3" name="Group 62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85" name="Oval 63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4" name="Group 65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83" name="Oval 6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4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5" name="Group 68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81" name="Oval 6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6" name="Group 71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79" name="Oval 72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0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65" name="Line 74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66" name="Line 75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7" name="Group 76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77" name="Oval 77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8" name="Group 79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75" name="Oval 8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6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69" name="Line 82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0" name="Line 83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1" name="Line 84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2" name="Line 85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3" name="Line 86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4" name="Line 87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60" name="Text Box 115"/>
            <p:cNvSpPr txBox="1">
              <a:spLocks noChangeArrowheads="1"/>
            </p:cNvSpPr>
            <p:nvPr/>
          </p:nvSpPr>
          <p:spPr bwMode="auto">
            <a:xfrm>
              <a:off x="936" y="2189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sidetrip</a:t>
              </a:r>
            </a:p>
          </p:txBody>
        </p:sp>
      </p:grpSp>
      <p:grpSp>
        <p:nvGrpSpPr>
          <p:cNvPr id="17" name="Group 118"/>
          <p:cNvGrpSpPr>
            <a:grpSpLocks/>
          </p:cNvGrpSpPr>
          <p:nvPr/>
        </p:nvGrpSpPr>
        <p:grpSpPr bwMode="auto">
          <a:xfrm>
            <a:off x="1525588" y="4551363"/>
            <a:ext cx="5737225" cy="1503362"/>
            <a:chOff x="961" y="2867"/>
            <a:chExt cx="3614" cy="947"/>
          </a:xfrm>
        </p:grpSpPr>
        <p:grpSp>
          <p:nvGrpSpPr>
            <p:cNvPr id="24631" name="Group 88"/>
            <p:cNvGrpSpPr>
              <a:grpSpLocks/>
            </p:cNvGrpSpPr>
            <p:nvPr/>
          </p:nvGrpSpPr>
          <p:grpSpPr bwMode="auto">
            <a:xfrm>
              <a:off x="1185" y="2867"/>
              <a:ext cx="3390" cy="870"/>
              <a:chOff x="842" y="988"/>
              <a:chExt cx="3390" cy="870"/>
            </a:xfrm>
          </p:grpSpPr>
          <p:grpSp>
            <p:nvGrpSpPr>
              <p:cNvPr id="24633" name="Group 89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57" name="Oval 9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8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4634" name="Group 92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55" name="Oval 93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4635" name="Group 95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53" name="Oval 96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4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24636" name="Group 98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51" name="Oval 99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37" name="Line 101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38" name="Line 102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24639" name="Group 103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49" name="Oval 104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0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0" name="Group 106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47" name="Oval 107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4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41" name="Line 109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2" name="Line 110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3" name="Line 111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4" name="Line 112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5" name="Line 113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6" name="Line 114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32" name="Text Box 116"/>
            <p:cNvSpPr txBox="1">
              <a:spLocks noChangeArrowheads="1"/>
            </p:cNvSpPr>
            <p:nvPr/>
          </p:nvSpPr>
          <p:spPr bwMode="auto">
            <a:xfrm>
              <a:off x="961" y="3372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detour</a:t>
              </a:r>
            </a:p>
          </p:txBody>
        </p:sp>
      </p:grpSp>
      <p:grpSp>
        <p:nvGrpSpPr>
          <p:cNvPr id="25" name="Group 121"/>
          <p:cNvGrpSpPr>
            <a:grpSpLocks/>
          </p:cNvGrpSpPr>
          <p:nvPr/>
        </p:nvGrpSpPr>
        <p:grpSpPr bwMode="auto">
          <a:xfrm>
            <a:off x="2805113" y="2555875"/>
            <a:ext cx="477837" cy="396875"/>
            <a:chOff x="1767" y="1612"/>
            <a:chExt cx="301" cy="250"/>
          </a:xfrm>
        </p:grpSpPr>
        <p:sp>
          <p:nvSpPr>
            <p:cNvPr id="24629" name="Line 11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30" name="Text Box 12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26" name="Group 122"/>
          <p:cNvGrpSpPr>
            <a:grpSpLocks/>
          </p:cNvGrpSpPr>
          <p:nvPr/>
        </p:nvGrpSpPr>
        <p:grpSpPr bwMode="auto">
          <a:xfrm>
            <a:off x="3910013" y="2555875"/>
            <a:ext cx="477837" cy="396875"/>
            <a:chOff x="1767" y="1612"/>
            <a:chExt cx="301" cy="250"/>
          </a:xfrm>
        </p:grpSpPr>
        <p:sp>
          <p:nvSpPr>
            <p:cNvPr id="24627" name="Line 12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8" name="Text Box 12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7" name="Group 125"/>
          <p:cNvGrpSpPr>
            <a:grpSpLocks/>
          </p:cNvGrpSpPr>
          <p:nvPr/>
        </p:nvGrpSpPr>
        <p:grpSpPr bwMode="auto">
          <a:xfrm>
            <a:off x="5029200" y="2555875"/>
            <a:ext cx="477838" cy="396875"/>
            <a:chOff x="1767" y="1612"/>
            <a:chExt cx="301" cy="250"/>
          </a:xfrm>
        </p:grpSpPr>
        <p:sp>
          <p:nvSpPr>
            <p:cNvPr id="24625" name="Line 12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6" name="Text Box 12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8" name="Group 128"/>
          <p:cNvGrpSpPr>
            <a:grpSpLocks/>
          </p:cNvGrpSpPr>
          <p:nvPr/>
        </p:nvGrpSpPr>
        <p:grpSpPr bwMode="auto">
          <a:xfrm>
            <a:off x="6157913" y="2555875"/>
            <a:ext cx="477837" cy="396875"/>
            <a:chOff x="1767" y="1612"/>
            <a:chExt cx="301" cy="250"/>
          </a:xfrm>
        </p:grpSpPr>
        <p:sp>
          <p:nvSpPr>
            <p:cNvPr id="24623" name="Line 12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4" name="Text Box 13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6</a:t>
              </a:r>
            </a:p>
          </p:txBody>
        </p:sp>
      </p:grpSp>
      <p:grpSp>
        <p:nvGrpSpPr>
          <p:cNvPr id="29" name="Group 136"/>
          <p:cNvGrpSpPr>
            <a:grpSpLocks/>
          </p:cNvGrpSpPr>
          <p:nvPr/>
        </p:nvGrpSpPr>
        <p:grpSpPr bwMode="auto">
          <a:xfrm>
            <a:off x="4157663" y="3225800"/>
            <a:ext cx="355600" cy="477838"/>
            <a:chOff x="4922" y="2173"/>
            <a:chExt cx="224" cy="301"/>
          </a:xfrm>
        </p:grpSpPr>
        <p:sp>
          <p:nvSpPr>
            <p:cNvPr id="24621" name="Line 132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2" name="Text Box 133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30" name="Group 137"/>
          <p:cNvGrpSpPr>
            <a:grpSpLocks/>
          </p:cNvGrpSpPr>
          <p:nvPr/>
        </p:nvGrpSpPr>
        <p:grpSpPr bwMode="auto">
          <a:xfrm>
            <a:off x="4805363" y="3227388"/>
            <a:ext cx="355600" cy="477837"/>
            <a:chOff x="5204" y="2698"/>
            <a:chExt cx="224" cy="301"/>
          </a:xfrm>
        </p:grpSpPr>
        <p:sp>
          <p:nvSpPr>
            <p:cNvPr id="24619" name="Line 134"/>
            <p:cNvSpPr>
              <a:spLocks noChangeShapeType="1"/>
            </p:cNvSpPr>
            <p:nvPr/>
          </p:nvSpPr>
          <p:spPr bwMode="auto">
            <a:xfrm rot="5286189">
              <a:off x="5251" y="2846"/>
              <a:ext cx="301" cy="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0" name="Text Box 135"/>
            <p:cNvSpPr txBox="1">
              <a:spLocks noChangeArrowheads="1"/>
            </p:cNvSpPr>
            <p:nvPr/>
          </p:nvSpPr>
          <p:spPr bwMode="auto">
            <a:xfrm>
              <a:off x="5204" y="272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31" name="Group 138"/>
          <p:cNvGrpSpPr>
            <a:grpSpLocks/>
          </p:cNvGrpSpPr>
          <p:nvPr/>
        </p:nvGrpSpPr>
        <p:grpSpPr bwMode="auto">
          <a:xfrm>
            <a:off x="2782888" y="4305300"/>
            <a:ext cx="477837" cy="396875"/>
            <a:chOff x="1767" y="1612"/>
            <a:chExt cx="301" cy="250"/>
          </a:xfrm>
        </p:grpSpPr>
        <p:sp>
          <p:nvSpPr>
            <p:cNvPr id="24617" name="Line 13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8" name="Text Box 14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24640" name="Group 141"/>
          <p:cNvGrpSpPr>
            <a:grpSpLocks/>
          </p:cNvGrpSpPr>
          <p:nvPr/>
        </p:nvGrpSpPr>
        <p:grpSpPr bwMode="auto">
          <a:xfrm>
            <a:off x="3887788" y="4305300"/>
            <a:ext cx="477837" cy="396875"/>
            <a:chOff x="1767" y="1612"/>
            <a:chExt cx="301" cy="250"/>
          </a:xfrm>
        </p:grpSpPr>
        <p:sp>
          <p:nvSpPr>
            <p:cNvPr id="24615" name="Line 142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6" name="Text Box 143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4659" name="Group 147"/>
          <p:cNvGrpSpPr>
            <a:grpSpLocks/>
          </p:cNvGrpSpPr>
          <p:nvPr/>
        </p:nvGrpSpPr>
        <p:grpSpPr bwMode="auto">
          <a:xfrm>
            <a:off x="6135688" y="4305300"/>
            <a:ext cx="477837" cy="396875"/>
            <a:chOff x="1767" y="1612"/>
            <a:chExt cx="301" cy="250"/>
          </a:xfrm>
        </p:grpSpPr>
        <p:sp>
          <p:nvSpPr>
            <p:cNvPr id="24613" name="Line 148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4" name="Text Box 149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4661" name="Group 150"/>
          <p:cNvGrpSpPr>
            <a:grpSpLocks/>
          </p:cNvGrpSpPr>
          <p:nvPr/>
        </p:nvGrpSpPr>
        <p:grpSpPr bwMode="auto">
          <a:xfrm>
            <a:off x="4167188" y="4973638"/>
            <a:ext cx="355600" cy="477837"/>
            <a:chOff x="4922" y="2173"/>
            <a:chExt cx="224" cy="301"/>
          </a:xfrm>
        </p:grpSpPr>
        <p:sp>
          <p:nvSpPr>
            <p:cNvPr id="24611" name="Line 151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2" name="Text Box 152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24662" name="Group 156"/>
          <p:cNvGrpSpPr>
            <a:grpSpLocks/>
          </p:cNvGrpSpPr>
          <p:nvPr/>
        </p:nvGrpSpPr>
        <p:grpSpPr bwMode="auto">
          <a:xfrm>
            <a:off x="5232400" y="5262563"/>
            <a:ext cx="473075" cy="450850"/>
            <a:chOff x="3296" y="3315"/>
            <a:chExt cx="298" cy="284"/>
          </a:xfrm>
        </p:grpSpPr>
        <p:sp>
          <p:nvSpPr>
            <p:cNvPr id="24609" name="Line 154"/>
            <p:cNvSpPr>
              <a:spLocks noChangeShapeType="1"/>
            </p:cNvSpPr>
            <p:nvPr/>
          </p:nvSpPr>
          <p:spPr bwMode="auto">
            <a:xfrm rot="5286189">
              <a:off x="3309" y="3302"/>
              <a:ext cx="228" cy="25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0" name="Text Box 155"/>
            <p:cNvSpPr txBox="1">
              <a:spLocks noChangeArrowheads="1"/>
            </p:cNvSpPr>
            <p:nvPr/>
          </p:nvSpPr>
          <p:spPr bwMode="auto">
            <a:xfrm>
              <a:off x="3370" y="3349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24663" name="Group 169"/>
          <p:cNvGrpSpPr>
            <a:grpSpLocks/>
          </p:cNvGrpSpPr>
          <p:nvPr/>
        </p:nvGrpSpPr>
        <p:grpSpPr bwMode="auto">
          <a:xfrm>
            <a:off x="2786063" y="835025"/>
            <a:ext cx="477837" cy="396875"/>
            <a:chOff x="1767" y="1612"/>
            <a:chExt cx="301" cy="250"/>
          </a:xfrm>
        </p:grpSpPr>
        <p:sp>
          <p:nvSpPr>
            <p:cNvPr id="24607" name="Line 170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Text Box 171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4664" name="Group 172"/>
          <p:cNvGrpSpPr>
            <a:grpSpLocks/>
          </p:cNvGrpSpPr>
          <p:nvPr/>
        </p:nvGrpSpPr>
        <p:grpSpPr bwMode="auto">
          <a:xfrm>
            <a:off x="3890963" y="835025"/>
            <a:ext cx="477837" cy="396875"/>
            <a:chOff x="1767" y="1612"/>
            <a:chExt cx="301" cy="250"/>
          </a:xfrm>
        </p:grpSpPr>
        <p:sp>
          <p:nvSpPr>
            <p:cNvPr id="24605" name="Line 17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Text Box 17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4667" name="Group 175"/>
          <p:cNvGrpSpPr>
            <a:grpSpLocks/>
          </p:cNvGrpSpPr>
          <p:nvPr/>
        </p:nvGrpSpPr>
        <p:grpSpPr bwMode="auto">
          <a:xfrm>
            <a:off x="5010150" y="835025"/>
            <a:ext cx="477838" cy="396875"/>
            <a:chOff x="1767" y="1612"/>
            <a:chExt cx="301" cy="250"/>
          </a:xfrm>
        </p:grpSpPr>
        <p:sp>
          <p:nvSpPr>
            <p:cNvPr id="24603" name="Line 17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Text Box 17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24668" name="Group 178"/>
          <p:cNvGrpSpPr>
            <a:grpSpLocks/>
          </p:cNvGrpSpPr>
          <p:nvPr/>
        </p:nvGrpSpPr>
        <p:grpSpPr bwMode="auto">
          <a:xfrm>
            <a:off x="6138863" y="835025"/>
            <a:ext cx="477837" cy="396875"/>
            <a:chOff x="1767" y="1612"/>
            <a:chExt cx="301" cy="250"/>
          </a:xfrm>
        </p:grpSpPr>
        <p:sp>
          <p:nvSpPr>
            <p:cNvPr id="24601" name="Line 17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Text Box 18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sp>
        <p:nvSpPr>
          <p:cNvPr id="24600" name="Text Box 181"/>
          <p:cNvSpPr txBox="1">
            <a:spLocks noChangeArrowheads="1"/>
          </p:cNvSpPr>
          <p:nvPr/>
        </p:nvSpPr>
        <p:spPr bwMode="auto">
          <a:xfrm>
            <a:off x="1450975" y="1641475"/>
            <a:ext cx="2855913" cy="1015663"/>
          </a:xfrm>
          <a:prstGeom prst="rect">
            <a:avLst/>
          </a:prstGeom>
          <a:solidFill>
            <a:srgbClr val="0066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Touring the prime path [1, 2, 3, 5, 6] without </a:t>
            </a:r>
            <a:r>
              <a:rPr lang="en-US" b="0" u="sng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b="0" u="sng" dirty="0">
                <a:solidFill>
                  <a:schemeClr val="tx1"/>
                </a:solidFill>
                <a:latin typeface="Gill Sans MT" pitchFamily="34" charset="0"/>
              </a:rPr>
              <a:t> or detours</a:t>
            </a:r>
            <a:endParaRPr lang="en-US" b="0" dirty="0"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4E9D78-CC74-4039-A216-297B5B132F4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Infeasible Test Requirements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30010"/>
            <a:ext cx="8867775" cy="120332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infeasible</a:t>
            </a:r>
            <a:r>
              <a:rPr lang="en-US" dirty="0"/>
              <a:t> test requirement </a:t>
            </a:r>
            <a:r>
              <a:rPr lang="en-US" u="sng" dirty="0"/>
              <a:t>cannot be satisfied</a:t>
            </a:r>
          </a:p>
          <a:p>
            <a:pPr lvl="1"/>
            <a:r>
              <a:rPr lang="en-US" sz="2000" dirty="0"/>
              <a:t>Unreachable statement (dead code)</a:t>
            </a:r>
          </a:p>
          <a:p>
            <a:pPr lvl="1"/>
            <a:r>
              <a:rPr lang="en-US" sz="2000" dirty="0" err="1"/>
              <a:t>Subpath</a:t>
            </a:r>
            <a:r>
              <a:rPr lang="en-US" sz="2000" dirty="0"/>
              <a:t> that can only be executed with a contradiction (</a:t>
            </a:r>
            <a:r>
              <a:rPr lang="en-US" sz="2000" i="1" dirty="0"/>
              <a:t>X &gt; 0</a:t>
            </a:r>
            <a:r>
              <a:rPr lang="en-US" sz="2000" dirty="0"/>
              <a:t> and </a:t>
            </a:r>
            <a:r>
              <a:rPr lang="en-US" sz="2000" i="1" dirty="0"/>
              <a:t>X &lt; 0</a:t>
            </a:r>
            <a:r>
              <a:rPr lang="en-US" sz="2000" dirty="0"/>
              <a:t>)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889000" y="5125726"/>
            <a:ext cx="7366000" cy="133882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400" u="sng" dirty="0">
                <a:solidFill>
                  <a:schemeClr val="tx1"/>
                </a:solidFill>
                <a:latin typeface="Gill Sans MT" pitchFamily="34" charset="0"/>
              </a:rPr>
              <a:t>Practical recommendation—</a:t>
            </a:r>
            <a:r>
              <a:rPr lang="en-US" sz="2400" u="sng" dirty="0">
                <a:solidFill>
                  <a:schemeClr val="tx2"/>
                </a:solidFill>
                <a:latin typeface="Gill Sans MT" pitchFamily="34" charset="0"/>
              </a:rPr>
              <a:t>Best Effort Touring</a:t>
            </a:r>
            <a:endParaRPr lang="en-US" sz="2400" dirty="0">
              <a:solidFill>
                <a:schemeClr val="tx2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Satisfy as many test requirements as possible without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endParaRPr lang="en-US" sz="1800" dirty="0">
              <a:solidFill>
                <a:schemeClr val="tx1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Allow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to try to satisfy remaining test requirements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138113" y="1985211"/>
            <a:ext cx="8867775" cy="2969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Most test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criteria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have some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is usually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undecidable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whether all test requirements are feasible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When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are not allowed, many structural criteria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more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However, always allowing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 weakens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the test criteria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 autoUpdateAnimBg="0"/>
      <p:bldP spid="17613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241231-13AF-4EF6-964A-14E04AAFC1A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&amp; Prime Path Example</a:t>
            </a:r>
          </a:p>
        </p:txBody>
      </p:sp>
      <p:grpSp>
        <p:nvGrpSpPr>
          <p:cNvPr id="26630" name="Group 1028"/>
          <p:cNvGrpSpPr>
            <a:grpSpLocks/>
          </p:cNvGrpSpPr>
          <p:nvPr/>
        </p:nvGrpSpPr>
        <p:grpSpPr bwMode="auto">
          <a:xfrm>
            <a:off x="130175" y="1857375"/>
            <a:ext cx="2120900" cy="3635375"/>
            <a:chOff x="287" y="1509"/>
            <a:chExt cx="1336" cy="2290"/>
          </a:xfrm>
        </p:grpSpPr>
        <p:grpSp>
          <p:nvGrpSpPr>
            <p:cNvPr id="26647" name="Group 1029"/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</p:grpSpPr>
          <p:sp>
            <p:nvSpPr>
              <p:cNvPr id="26676" name="Oval 1030"/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Text Box 1031"/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26648" name="Group 1032"/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</p:grpSpPr>
          <p:sp>
            <p:nvSpPr>
              <p:cNvPr id="26674" name="Oval 103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5" name="Text Box 103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6649" name="Group 1035"/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</p:grpSpPr>
          <p:sp>
            <p:nvSpPr>
              <p:cNvPr id="26672" name="Oval 1036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3" name="Text Box 1037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6650" name="Group 1038"/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</p:grpSpPr>
          <p:sp>
            <p:nvSpPr>
              <p:cNvPr id="26670" name="Oval 1039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1" name="Text Box 1040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6651" name="Line 1041"/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Line 1042"/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53" name="Group 1043"/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</p:grpSpPr>
          <p:sp>
            <p:nvSpPr>
              <p:cNvPr id="26668" name="Oval 10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9" name="Text Box 10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6654" name="Group 1046"/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</p:grpSpPr>
          <p:sp>
            <p:nvSpPr>
              <p:cNvPr id="26666" name="Oval 104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7" name="Text Box 104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6655" name="Line 1049"/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Line 1050"/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Line 1051"/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Line 1052"/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Line 1053"/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Line 1054"/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Line 1055"/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62" name="Group 1056"/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</p:grpSpPr>
          <p:sp>
            <p:nvSpPr>
              <p:cNvPr id="26664" name="Oval 1057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5" name="Text Box 1058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26663" name="Line 1059"/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7188" name="Text Box 1060"/>
          <p:cNvSpPr txBox="1">
            <a:spLocks noChangeArrowheads="1"/>
          </p:cNvSpPr>
          <p:nvPr/>
        </p:nvSpPr>
        <p:spPr bwMode="auto">
          <a:xfrm>
            <a:off x="2740025" y="1139825"/>
            <a:ext cx="833438" cy="255454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0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[1]</a:t>
            </a:r>
          </a:p>
          <a:p>
            <a:r>
              <a:rPr lang="en-US" dirty="0">
                <a:solidFill>
                  <a:schemeClr val="tx1"/>
                </a:solidFill>
              </a:rPr>
              <a:t>[2]</a:t>
            </a:r>
          </a:p>
          <a:p>
            <a:r>
              <a:rPr lang="en-US" dirty="0">
                <a:solidFill>
                  <a:schemeClr val="tx1"/>
                </a:solidFill>
              </a:rPr>
              <a:t>[3]</a:t>
            </a:r>
          </a:p>
          <a:p>
            <a:r>
              <a:rPr lang="en-US" dirty="0">
                <a:solidFill>
                  <a:schemeClr val="tx1"/>
                </a:solidFill>
              </a:rPr>
              <a:t>[4]</a:t>
            </a:r>
          </a:p>
          <a:p>
            <a:r>
              <a:rPr lang="en-US" dirty="0">
                <a:solidFill>
                  <a:schemeClr val="tx1"/>
                </a:solidFill>
              </a:rPr>
              <a:t>[5]</a:t>
            </a:r>
          </a:p>
          <a:p>
            <a:r>
              <a:rPr lang="en-US" dirty="0">
                <a:solidFill>
                  <a:schemeClr val="tx1"/>
                </a:solidFill>
              </a:rPr>
              <a:t>[6] </a:t>
            </a:r>
          </a:p>
          <a:p>
            <a:r>
              <a:rPr lang="en-US" dirty="0">
                <a:solidFill>
                  <a:schemeClr val="tx1"/>
                </a:solidFill>
              </a:rPr>
              <a:t>[7] !</a:t>
            </a:r>
          </a:p>
        </p:txBody>
      </p:sp>
      <p:sp>
        <p:nvSpPr>
          <p:cNvPr id="177190" name="AutoShape 1062"/>
          <p:cNvSpPr>
            <a:spLocks/>
          </p:cNvSpPr>
          <p:nvPr/>
        </p:nvSpPr>
        <p:spPr bwMode="auto">
          <a:xfrm>
            <a:off x="5084763" y="931863"/>
            <a:ext cx="1778000" cy="671512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51606"/>
              <a:gd name="adj5" fmla="val 371157"/>
              <a:gd name="adj6" fmla="val -100806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</a:rPr>
              <a:t>‘!’ means path terminates</a:t>
            </a:r>
          </a:p>
        </p:txBody>
      </p:sp>
      <p:sp>
        <p:nvSpPr>
          <p:cNvPr id="177191" name="Text Box 1063"/>
          <p:cNvSpPr txBox="1">
            <a:spLocks noChangeArrowheads="1"/>
          </p:cNvSpPr>
          <p:nvPr/>
        </p:nvSpPr>
        <p:spPr bwMode="auto">
          <a:xfrm>
            <a:off x="3884613" y="1139825"/>
            <a:ext cx="935037" cy="3152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1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2]</a:t>
            </a:r>
          </a:p>
          <a:p>
            <a:r>
              <a:rPr lang="en-US" dirty="0">
                <a:solidFill>
                  <a:schemeClr val="tx1"/>
                </a:solidFill>
              </a:rPr>
              <a:t>[1, 3]</a:t>
            </a:r>
          </a:p>
          <a:p>
            <a:r>
              <a:rPr lang="en-US" dirty="0">
                <a:solidFill>
                  <a:schemeClr val="tx1"/>
                </a:solidFill>
              </a:rPr>
              <a:t>[2, 3]</a:t>
            </a:r>
          </a:p>
          <a:p>
            <a:r>
              <a:rPr lang="en-US" dirty="0">
                <a:solidFill>
                  <a:schemeClr val="tx1"/>
                </a:solidFill>
              </a:rPr>
              <a:t>[3, 4]</a:t>
            </a:r>
          </a:p>
          <a:p>
            <a:r>
              <a:rPr lang="en-US" dirty="0">
                <a:solidFill>
                  <a:schemeClr val="tx1"/>
                </a:solidFill>
              </a:rPr>
              <a:t>[3, 5]</a:t>
            </a:r>
          </a:p>
          <a:p>
            <a:r>
              <a:rPr lang="en-US" dirty="0">
                <a:solidFill>
                  <a:schemeClr val="tx1"/>
                </a:solidFill>
              </a:rPr>
              <a:t>[4, 7] !</a:t>
            </a:r>
          </a:p>
          <a:p>
            <a:r>
              <a:rPr lang="en-US" dirty="0">
                <a:solidFill>
                  <a:schemeClr val="tx1"/>
                </a:solidFill>
              </a:rPr>
              <a:t>[5, 7] !</a:t>
            </a:r>
          </a:p>
          <a:p>
            <a:r>
              <a:rPr lang="en-US" dirty="0">
                <a:solidFill>
                  <a:schemeClr val="tx1"/>
                </a:solidFill>
              </a:rPr>
              <a:t>[5, 6]</a:t>
            </a:r>
          </a:p>
          <a:p>
            <a:r>
              <a:rPr lang="en-US" dirty="0">
                <a:solidFill>
                  <a:schemeClr val="tx1"/>
                </a:solidFill>
              </a:rPr>
              <a:t>[6, 5]</a:t>
            </a:r>
          </a:p>
        </p:txBody>
      </p:sp>
      <p:sp>
        <p:nvSpPr>
          <p:cNvPr id="177192" name="Text Box 1064"/>
          <p:cNvSpPr txBox="1">
            <a:spLocks noChangeArrowheads="1"/>
          </p:cNvSpPr>
          <p:nvPr/>
        </p:nvSpPr>
        <p:spPr bwMode="auto">
          <a:xfrm>
            <a:off x="5130800" y="1139825"/>
            <a:ext cx="1230313" cy="37623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2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3]</a:t>
            </a:r>
          </a:p>
          <a:p>
            <a:r>
              <a:rPr lang="en-US" dirty="0">
                <a:solidFill>
                  <a:schemeClr val="tx1"/>
                </a:solidFill>
              </a:rPr>
              <a:t>[1, 3, 4]</a:t>
            </a:r>
          </a:p>
          <a:p>
            <a:r>
              <a:rPr lang="en-US" dirty="0">
                <a:solidFill>
                  <a:schemeClr val="tx1"/>
                </a:solidFill>
              </a:rPr>
              <a:t>[1, 3, 5]</a:t>
            </a:r>
          </a:p>
          <a:p>
            <a:r>
              <a:rPr lang="en-US" dirty="0">
                <a:solidFill>
                  <a:schemeClr val="tx1"/>
                </a:solidFill>
              </a:rPr>
              <a:t>[2, 3, 4]</a:t>
            </a:r>
          </a:p>
          <a:p>
            <a:r>
              <a:rPr lang="en-US" dirty="0">
                <a:solidFill>
                  <a:schemeClr val="tx1"/>
                </a:solidFill>
              </a:rPr>
              <a:t>[2, 3, 5]</a:t>
            </a:r>
          </a:p>
          <a:p>
            <a:r>
              <a:rPr lang="en-US" dirty="0">
                <a:solidFill>
                  <a:schemeClr val="tx1"/>
                </a:solidFill>
              </a:rPr>
              <a:t>[3, 4,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6] !</a:t>
            </a:r>
          </a:p>
          <a:p>
            <a:r>
              <a:rPr lang="en-US" dirty="0">
                <a:solidFill>
                  <a:schemeClr val="tx1"/>
                </a:solidFill>
              </a:rPr>
              <a:t>[5, 6, 5] *</a:t>
            </a:r>
          </a:p>
          <a:p>
            <a:r>
              <a:rPr lang="en-US" dirty="0">
                <a:solidFill>
                  <a:schemeClr val="tx1"/>
                </a:solidFill>
              </a:rPr>
              <a:t>[6, 5, 7] !</a:t>
            </a:r>
          </a:p>
          <a:p>
            <a:r>
              <a:rPr lang="en-US" dirty="0">
                <a:solidFill>
                  <a:schemeClr val="tx1"/>
                </a:solidFill>
              </a:rPr>
              <a:t>[6, 5, 6] *</a:t>
            </a:r>
          </a:p>
        </p:txBody>
      </p:sp>
      <p:sp>
        <p:nvSpPr>
          <p:cNvPr id="177193" name="AutoShape 1065"/>
          <p:cNvSpPr>
            <a:spLocks/>
          </p:cNvSpPr>
          <p:nvPr/>
        </p:nvSpPr>
        <p:spPr bwMode="auto">
          <a:xfrm>
            <a:off x="7146925" y="1530350"/>
            <a:ext cx="1778000" cy="671513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22319"/>
              <a:gd name="adj5" fmla="val 365250"/>
              <a:gd name="adj6" fmla="val -50444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</a:rPr>
              <a:t>‘*’ means path cycles</a:t>
            </a:r>
          </a:p>
        </p:txBody>
      </p:sp>
      <p:sp>
        <p:nvSpPr>
          <p:cNvPr id="177194" name="Text Box 1066"/>
          <p:cNvSpPr txBox="1">
            <a:spLocks noChangeArrowheads="1"/>
          </p:cNvSpPr>
          <p:nvPr/>
        </p:nvSpPr>
        <p:spPr bwMode="auto">
          <a:xfrm>
            <a:off x="6672263" y="1139825"/>
            <a:ext cx="1443037" cy="2847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3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3, 4]</a:t>
            </a:r>
          </a:p>
          <a:p>
            <a:r>
              <a:rPr lang="en-US" dirty="0">
                <a:solidFill>
                  <a:schemeClr val="tx1"/>
                </a:solidFill>
              </a:rPr>
              <a:t>[1, 2, 3, 5]</a:t>
            </a:r>
          </a:p>
          <a:p>
            <a:r>
              <a:rPr lang="en-US" dirty="0">
                <a:solidFill>
                  <a:schemeClr val="tx1"/>
                </a:solidFill>
              </a:rPr>
              <a:t>[1,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7] !</a:t>
            </a:r>
          </a:p>
        </p:txBody>
      </p:sp>
      <p:sp>
        <p:nvSpPr>
          <p:cNvPr id="177195" name="Text Box 1067"/>
          <p:cNvSpPr txBox="1">
            <a:spLocks noChangeArrowheads="1"/>
          </p:cNvSpPr>
          <p:nvPr/>
        </p:nvSpPr>
        <p:spPr bwMode="auto">
          <a:xfrm>
            <a:off x="2740025" y="4999038"/>
            <a:ext cx="19812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4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6] !</a:t>
            </a:r>
          </a:p>
        </p:txBody>
      </p:sp>
      <p:grpSp>
        <p:nvGrpSpPr>
          <p:cNvPr id="10" name="Group 1076"/>
          <p:cNvGrpSpPr>
            <a:grpSpLocks/>
          </p:cNvGrpSpPr>
          <p:nvPr/>
        </p:nvGrpSpPr>
        <p:grpSpPr bwMode="auto">
          <a:xfrm>
            <a:off x="2460625" y="2106613"/>
            <a:ext cx="5889625" cy="4217987"/>
            <a:chOff x="1550" y="1327"/>
            <a:chExt cx="3710" cy="2657"/>
          </a:xfrm>
        </p:grpSpPr>
        <p:sp>
          <p:nvSpPr>
            <p:cNvPr id="26640" name="Oval 1069"/>
            <p:cNvSpPr>
              <a:spLocks noChangeArrowheads="1"/>
            </p:cNvSpPr>
            <p:nvPr/>
          </p:nvSpPr>
          <p:spPr bwMode="auto">
            <a:xfrm>
              <a:off x="1550" y="3363"/>
              <a:ext cx="1390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1" name="Oval 1070"/>
            <p:cNvSpPr>
              <a:spLocks noChangeArrowheads="1"/>
            </p:cNvSpPr>
            <p:nvPr/>
          </p:nvSpPr>
          <p:spPr bwMode="auto">
            <a:xfrm>
              <a:off x="4083" y="1327"/>
              <a:ext cx="1063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2" name="Oval 1071"/>
            <p:cNvSpPr>
              <a:spLocks noChangeArrowheads="1"/>
            </p:cNvSpPr>
            <p:nvPr/>
          </p:nvSpPr>
          <p:spPr bwMode="auto">
            <a:xfrm>
              <a:off x="3161" y="2472"/>
              <a:ext cx="827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3" name="Text Box 1072"/>
            <p:cNvSpPr txBox="1">
              <a:spLocks noChangeArrowheads="1"/>
            </p:cNvSpPr>
            <p:nvPr/>
          </p:nvSpPr>
          <p:spPr bwMode="auto">
            <a:xfrm>
              <a:off x="3628" y="3542"/>
              <a:ext cx="1632" cy="262"/>
            </a:xfrm>
            <a:prstGeom prst="rect">
              <a:avLst/>
            </a:prstGeom>
            <a:solidFill>
              <a:srgbClr val="0033CC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Prime Paths</a:t>
              </a:r>
            </a:p>
          </p:txBody>
        </p:sp>
        <p:sp>
          <p:nvSpPr>
            <p:cNvPr id="26644" name="Line 1073"/>
            <p:cNvSpPr>
              <a:spLocks noChangeShapeType="1"/>
            </p:cNvSpPr>
            <p:nvPr/>
          </p:nvSpPr>
          <p:spPr bwMode="auto">
            <a:xfrm>
              <a:off x="4621" y="1946"/>
              <a:ext cx="0" cy="15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1074"/>
            <p:cNvSpPr>
              <a:spLocks noChangeShapeType="1"/>
            </p:cNvSpPr>
            <p:nvPr/>
          </p:nvSpPr>
          <p:spPr bwMode="auto">
            <a:xfrm>
              <a:off x="3859" y="3008"/>
              <a:ext cx="563" cy="5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Line 1075"/>
            <p:cNvSpPr>
              <a:spLocks noChangeShapeType="1"/>
            </p:cNvSpPr>
            <p:nvPr/>
          </p:nvSpPr>
          <p:spPr bwMode="auto">
            <a:xfrm>
              <a:off x="2938" y="3674"/>
              <a:ext cx="6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7205" name="Text Box 1077"/>
          <p:cNvSpPr txBox="1">
            <a:spLocks noChangeArrowheads="1"/>
          </p:cNvSpPr>
          <p:nvPr/>
        </p:nvSpPr>
        <p:spPr bwMode="auto">
          <a:xfrm>
            <a:off x="1620838" y="1120775"/>
            <a:ext cx="1016000" cy="7143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Simple paths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8" grpId="0" animBg="1" autoUpdateAnimBg="0"/>
      <p:bldP spid="177190" grpId="0" animBg="1" autoUpdateAnimBg="0"/>
      <p:bldP spid="177191" grpId="0" animBg="1" autoUpdateAnimBg="0"/>
      <p:bldP spid="177192" grpId="0" animBg="1" autoUpdateAnimBg="0"/>
      <p:bldP spid="177193" grpId="0" animBg="1" autoUpdateAnimBg="0"/>
      <p:bldP spid="177194" grpId="0" animBg="1" autoUpdateAnimBg="0"/>
      <p:bldP spid="177195" grpId="0" animBg="1" autoUpdateAnimBg="0"/>
      <p:bldP spid="17720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263327-8E01-405E-8BE7-C08128D9F89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Trips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93503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Round-Trip Path</a:t>
            </a:r>
            <a:r>
              <a:rPr lang="en-US" dirty="0"/>
              <a:t> : </a:t>
            </a:r>
            <a:r>
              <a:rPr lang="en-US" i="1" dirty="0"/>
              <a:t>A prime path that starts and ends at the same node</a:t>
            </a:r>
          </a:p>
        </p:txBody>
      </p:sp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439738" y="2159995"/>
            <a:ext cx="8262937" cy="1206500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Simple Round Trip Coverage (SRTC)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at least one round-trip path for each reachable node in G that begins and ends a round-trip path.</a:t>
            </a: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439738" y="3672883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Complete Round Trip Coverage (CRTC)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all round-trip paths for each reachable node in G.</a:t>
            </a:r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138113" y="4622546"/>
            <a:ext cx="8867775" cy="1790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These criteria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omit nodes and edges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that are not in round trips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Thus, they do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not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subsume edge-pair, edge, or node coverage</a:t>
            </a:r>
            <a:endParaRPr lang="en-US" sz="28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nimBg="1" autoUpdateAnimBg="0"/>
      <p:bldP spid="200709" grpId="0" animBg="1" autoUpdateAnimBg="0"/>
      <p:bldP spid="2007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0900-41A2-AA2D-752B-6961ED2E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B0153-E752-A34E-638F-4E7D33091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sz="3200" dirty="0"/>
              <a:t>The slide is adapted from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sz="3200" dirty="0"/>
              <a:t>Introduction to Software Testing</a:t>
            </a:r>
            <a:br>
              <a:rPr lang="en-US" sz="3200" dirty="0"/>
            </a:br>
            <a:r>
              <a:rPr lang="en-US" sz="2400" i="1" dirty="0"/>
              <a:t>(2nd edition)</a:t>
            </a:r>
            <a:br>
              <a:rPr lang="en-US" sz="2400" i="1" dirty="0"/>
            </a:br>
            <a:r>
              <a:rPr lang="en-US" sz="3200" dirty="0"/>
              <a:t>Chapter 7.1, 7.2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Overview Graph Coverage Criteria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sz="3200" dirty="0"/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sz="3200" dirty="0"/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sz="3200" dirty="0"/>
              <a:t>Paul Ammann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dirty="0"/>
          </a:p>
          <a:p>
            <a:r>
              <a:rPr lang="en-US" dirty="0">
                <a:hlinkClick r:id="rId2"/>
              </a:rPr>
              <a:t>http://www.cs.gmu.edu/~offutt/softwaretest/</a:t>
            </a:r>
            <a:endParaRPr lang="en-US" dirty="0"/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6F92D-75A5-0013-2FD3-EA975C97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BABF3-219A-6BF2-DFAD-227ED80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289F-9006-E6AD-59B7-66496DF2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2289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6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1965</TotalTime>
  <Pages>49</Pages>
  <Words>3379</Words>
  <Application>Microsoft Office PowerPoint</Application>
  <PresentationFormat>On-screen Show (4:3)</PresentationFormat>
  <Paragraphs>478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Gill Sans MT</vt:lpstr>
      <vt:lpstr>Times New Roman</vt:lpstr>
      <vt:lpstr>Verdana</vt:lpstr>
      <vt:lpstr>Wingdings</vt:lpstr>
      <vt:lpstr>intro</vt:lpstr>
      <vt:lpstr>  Overview Graph Coverage Criteria</vt:lpstr>
      <vt:lpstr>Covering Graphs  (7.1)</vt:lpstr>
      <vt:lpstr>Definition of a Graph</vt:lpstr>
      <vt:lpstr>Example Graphs</vt:lpstr>
      <vt:lpstr>Paths in Graphs</vt:lpstr>
      <vt:lpstr>Test Paths and SESEs</vt:lpstr>
      <vt:lpstr>Visiting and Touring</vt:lpstr>
      <vt:lpstr>Tests and Test Paths</vt:lpstr>
      <vt:lpstr>Tests and Test Paths</vt:lpstr>
      <vt:lpstr>Testing and Covering Graphs (7.2)</vt:lpstr>
      <vt:lpstr>Node and Edge Coverage</vt:lpstr>
      <vt:lpstr>Node and Edge Coverage</vt:lpstr>
      <vt:lpstr>Paths of Length 1 and 0</vt:lpstr>
      <vt:lpstr>Covering Multiple Edges</vt:lpstr>
      <vt:lpstr>Covering Multiple Edges</vt:lpstr>
      <vt:lpstr>Structural Coverage Example</vt:lpstr>
      <vt:lpstr>Handling Loops in Graphs</vt:lpstr>
      <vt:lpstr>Simple Paths and Prime Paths</vt:lpstr>
      <vt:lpstr>Prime Path Coverage</vt:lpstr>
      <vt:lpstr>PPC Does Not Subsume EPC</vt:lpstr>
      <vt:lpstr>Prime Path Example</vt:lpstr>
      <vt:lpstr>Touring, Sidetrips, and Detours</vt:lpstr>
      <vt:lpstr>Sidetrips and Detours Example</vt:lpstr>
      <vt:lpstr>Infeasible Test Requirements</vt:lpstr>
      <vt:lpstr>Simple &amp; Prime Path Example</vt:lpstr>
      <vt:lpstr>Round Trips</vt:lpstr>
      <vt:lpstr>Reference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creator>Jeff Offutt</dc:creator>
  <cp:lastModifiedBy>Abdus Satter</cp:lastModifiedBy>
  <cp:revision>238</cp:revision>
  <cp:lastPrinted>2013-09-24T13:18:52Z</cp:lastPrinted>
  <dcterms:created xsi:type="dcterms:W3CDTF">1996-06-15T03:21:08Z</dcterms:created>
  <dcterms:modified xsi:type="dcterms:W3CDTF">2026-01-22T22:12:10Z</dcterms:modified>
</cp:coreProperties>
</file>